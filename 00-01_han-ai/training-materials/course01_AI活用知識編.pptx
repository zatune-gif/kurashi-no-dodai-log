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ざつね屋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FDBFE"/>
                </a:solidFill>
              </a:rPr>
              <a:t>コース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AI活用知識編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</a:rPr>
              <a:t>「何から始めればいいかわからない」を解消する 90分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所要時間：90分　｜　成果物：自社 AI活用マップ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本日のアジェンダ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31520"/>
          <a:ext cx="82296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"/>
                <a:gridCol w="5925312"/>
                <a:gridCol w="1810512"/>
              </a:tblGrid>
              <a:tr h="47244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セクション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AIの種類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できること / できないこと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業務別活用シーン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10分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4軸 AI活用マップ ＋ ツール別表（持ち帰り）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セキュリティと社内ルール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10分 ＋ 休憩5分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プロンプトの基本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10分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実践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30分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まとめ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AIの種類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AIにはどんな種類があるか、全体を掴みましょう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AIの種類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3291840"/>
                <a:gridCol w="271576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種類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何をするAIか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特徴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AIエージェント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指示を受けて自律的にタスクを実行する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「回答する」だけでなく「実際に動く」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動画生成AI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テキスト・画像から動画を作る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映像コンテンツを生成・編集する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画像生成AI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テキストから画像を作る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ビジュアルを生成する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会話型AI（チャットAI）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テキストを理解・生成する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文章を書く・答える・整理する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会話型AI と AIエージェントの違い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374136"/>
                <a:gridCol w="3374136"/>
              </a:tblGrid>
              <a:tr h="60960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会話型AI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AIエージェント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できること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答える・作る・整理する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実行する・自動化する・連続で動く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イメージ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優秀な相談相手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自分で動いて仕事を片付ける部下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443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💡 このコースで扱うのは主に「会話型AI」です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できること / できないこと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期待値を正しく調整することが、AI活用の第一歩です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AIにできること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6007608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カテゴリ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具体例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文章を作る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メール・報告書・SNS投稿・提案書のたたき台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文章を整える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要約・翻訳・校正・言い換え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アイデアを出す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企画案・キャッチコピー・改善案のブレスト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情報を整理する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議事録・調査まとめ・比較表の作成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画像・動画を作る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SNS画像・チラシ・ショート動画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業務を自動化する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ファイル処理・定型作業・ワークフローの自動実行（AIエージェント）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AIにできないこと（注意が必要なこと）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5925312"/>
              </a:tblGrid>
              <a:tr h="52578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できないこと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理由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最新情報の提供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学習データに期限がある（ツールによっては検索連携で補える）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事実の100%保証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自信満々に間違える → ハルシネーション（幻覚）と呼ぶ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感情・空気を読む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文脈の裏にある意図は人間が補う必要がある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27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756"/>
                </a:solidFill>
              </a:rPr>
              <a:t>⚠ AIは「下書き・補助ツール」。最終判断は必ず人間が行う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業務別活用シーン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10分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「自分の仕事に使えそう」を自分ごと化する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業務別 AI活用シーン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3785616"/>
                <a:gridCol w="2468880"/>
              </a:tblGrid>
              <a:tr h="46228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業務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具体的な活用例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向いているツール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社内外コミュニケーション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メール文案・議事録・報告書・マニュアル・顧客対応文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ChatGPT / Gemini / Claude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広報・情報発信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SNS投稿文・チラシ文案・HPテキスト・プレスリリース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ChatGPT / Gemini / Claude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採用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求人票・会社紹介文・面接質問リスト・内定通知文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ChatGPT / Gemini / Claude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営業・提案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提案書たたき台・トークスクリプト・お礼メール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ChatGPT / Gemini / Claude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情報収集・調査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競合調査まとめ・業界トレンド整理・議事録要約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Gemini / ChatGPT / Claude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画像制作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SNS画像・バナー・チラシ・商品イメージ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Canva / ChatGPT / Firefly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動画・映像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SNSショート動画・採用動画・会社紹介動画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CapCut / Canva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業務自動化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CSV整理・ファイル処理・定型作業のスクリプト化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Claude Code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4軸 AI活用マップ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10分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AIをどの方向に使うかを地図で整理する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4軸 AI活用マップ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822960"/>
            <a:ext cx="36576" cy="41605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82296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77639" y="2468880"/>
            <a:ext cx="777240" cy="7772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777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40AF"/>
                </a:solidFill>
              </a:rPr>
              <a:t>【文書・テキスト】
メール／報告書／SNS投稿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【画像・ビジュアル】
SNS画像／チラシ／バナー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97763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【動画・映像】
SNS動画／採用動画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31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7756"/>
                </a:solidFill>
              </a:rPr>
              <a:t>【自動化・開発】
繰り返し作業の自動化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64748B"/>
                </a:solidFill>
              </a:rP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4軸 AI活用マップ — 領域別概要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2057400"/>
                <a:gridCol w="2551176"/>
                <a:gridCol w="1810512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対象スタッフ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主な用途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課金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文書・テキスト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全スタッフ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メール・報告書・広報文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無料で可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画像・ビジュアル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広報・営業・SNS担当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SNS画像・チラシ・バナー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無料で可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動画・映像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広報・採用・SNS担当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SNS動画・採用動画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無料で可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自動化・開発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経営者・業務改善担当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繰り返し作業の自動化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APIキー必要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→ 次のページ：ツール別詳細（持ち帰り資料）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ツール別詳細 ① 文書系（持ち帰り資料）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822960"/>
                <a:gridCol w="1069848"/>
                <a:gridCol w="1069848"/>
                <a:gridCol w="3456432"/>
              </a:tblGrid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ツール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手間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学習コスト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専門知識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課金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ChatGPT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無料あり／Plus 約3,000円/月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Gemini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無料あり／Advanced 2,900円/月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Microsoft Copilot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★★☆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M365契約前提／Copilot 約4,500円/ユーザー/月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無料あり／Pro 約3,000円/月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手間：★☆☆＝アカウントのみ　★★☆＝インストール・設定あり　★★★＝環境構築が必要</a:t>
            </a:r>
          </a:p>
          <a:p>
            <a:r>
              <a:rPr sz="1000" b="0" i="0">
                <a:solidFill>
                  <a:srgbClr val="64748B"/>
                </a:solidFill>
              </a:rPr>
              <a:t>学習：★☆☆＝数時間で実務に使える　★★☆＝数日の練習が必要　★★★＝継続的な学習が必要</a:t>
            </a:r>
          </a:p>
          <a:p>
            <a:r>
              <a:rPr sz="1000" b="0" i="0">
                <a:solidFill>
                  <a:srgbClr val="64748B"/>
                </a:solidFill>
              </a:rPr>
              <a:t>専門知識：★☆☆＝ITスキル不問　★★☆＝基本的なPC操作が必要　★★★＝プログラミングの概念理解が必要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ツール別詳細 ② 画像・動画・自動化（持ち帰り資料）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8"/>
                <a:gridCol w="822960"/>
                <a:gridCol w="822960"/>
                <a:gridCol w="1069848"/>
                <a:gridCol w="3621024"/>
              </a:tblGrid>
              <a:tr h="522514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ツール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領域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手間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学習コスト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課金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Canva（AI機能）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画像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無料あり／Pro 1,500円/月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Bing Image Creator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画像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完全無料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Adobe Firefly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画像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★★☆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無料あり（25クレジット/月）／CC 6,480円/月〜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CapCut（AI機能）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動画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★★☆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★★☆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無料あり／Pro 約1,200円/月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Canva（動画）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動画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★☆☆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無料あり／Pro 1,500円/月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Claude Code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自動化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★★★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APIキー従量課金（軽い使い方で月数百円〜）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セキュリティと社内ルール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10分 ＋ 休憩5分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安心して使えるルールを確認しましょう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入力してはいけない情報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6419088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カテゴリ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具体例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個人情報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顧客名・住所・電話番号・メールアドレス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機密情報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未発表の事業計画・契約内容・取引先との交渉内容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社内情報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従業員の給与・人事評価・内部トラブル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358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756"/>
                </a:solidFill>
              </a:rPr>
              <a:t>❗ 入力した情報がAIの学習に使われる可能性があります（ツールにより異なる）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ツール別 学習データ利用状況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481328"/>
                <a:gridCol w="4773168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ツール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学習利用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備考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ChatGPT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デフォルトON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設定でOFFにできる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Gemini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デフォルトON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設定でOFFにできる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Claude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デフォルトOFF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商用利用は学習に使わない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Microsoft Copilot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OFF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M365契約内は学習利用なし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Claude Code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API経由のため学習利用なし・社内情報を扱う業務自動化に向いている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977639"/>
            <a:ext cx="822960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0416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💡 社内の機密情報を扱う業務には、学習OFFのツールを選ぶのが安心です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社内ルールの作り方（最低限）＆ 出力を使う際の注意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社内ルール（最低限）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93B"/>
                </a:solidFill>
              </a:rPr>
              <a:t>① 使ってよいツールを決める</a:t>
            </a:r>
          </a:p>
          <a:p>
            <a:r>
              <a:t/>
            </a:r>
          </a:p>
          <a:p>
            <a:r>
              <a:rPr sz="1400">
                <a:solidFill>
                  <a:srgbClr val="1E293B"/>
                </a:solidFill>
              </a:rPr>
              <a:t>② 入力禁止情報のリストを共有する</a:t>
            </a:r>
          </a:p>
          <a:p>
            <a:r>
              <a:t/>
            </a:r>
          </a:p>
          <a:p>
            <a:r>
              <a:rPr sz="1400">
                <a:solidFill>
                  <a:srgbClr val="1E293B"/>
                </a:solidFill>
              </a:rPr>
              <a:t>③ AIの出力は必ず確認してから使う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749808"/>
            <a:ext cx="36576" cy="365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7498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756"/>
                </a:solidFill>
              </a:rPr>
              <a:t>出力を使うときの注意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</a:rPr>
              <a:t>ファクトチェック必須</a:t>
            </a:r>
          </a:p>
          <a:p>
            <a:r>
              <a:rPr sz="1200" b="0" i="0">
                <a:solidFill>
                  <a:srgbClr val="64748B"/>
                </a:solidFill>
              </a:rPr>
              <a:t>→ AIは自信満々に嘘をつく（ハルシネーション）</a:t>
            </a:r>
          </a:p>
          <a:p>
            <a:r>
              <a:t/>
            </a:r>
          </a:p>
          <a:p>
            <a:r>
              <a:rPr sz="1300" b="1">
                <a:solidFill>
                  <a:srgbClr val="1E293B"/>
                </a:solidFill>
              </a:rPr>
              <a:t>著作権の確認</a:t>
            </a:r>
          </a:p>
          <a:p>
            <a:r>
              <a:rPr sz="1200" b="0" i="0">
                <a:solidFill>
                  <a:srgbClr val="64748B"/>
                </a:solidFill>
              </a:rPr>
              <a:t>→ 生成画像・文章の商用利用は各ツールの規約を確認</a:t>
            </a:r>
          </a:p>
          <a:p>
            <a:r>
              <a:t/>
            </a:r>
          </a:p>
          <a:p>
            <a:r>
              <a:rPr sz="1300" b="1">
                <a:solidFill>
                  <a:srgbClr val="1E293B"/>
                </a:solidFill>
              </a:rPr>
              <a:t>最終判断は人間が行う</a:t>
            </a:r>
          </a:p>
          <a:p>
            <a:r>
              <a:rPr sz="1200" b="0" i="0">
                <a:solidFill>
                  <a:srgbClr val="64748B"/>
                </a:solidFill>
              </a:rPr>
              <a:t>→ AIはあくまで下書き・補助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プロンプトの基本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10分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指示の質がそのまま出力の質になります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良いプロンプトの4要素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3127248"/>
                <a:gridCol w="411480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要素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役割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AIにどの立場で考えるかを伝える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「あなたは中小企業向けの採用担当者です」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背景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状況・前提を伝える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「広島県の製造業・従業員30名」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指示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何をしてほしいか具体的に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「求人票を作成してください」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形式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出力の形を指定する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「箇条書きで・400字以内で」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673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💡 4要素がすべて揃うほど、期待通りの出力が得られやすくなります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Before / After — プロンプト改善例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❌ Before（悪い例）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8229600" cy="65836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「求人票を書いて」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</a:rPr>
              <a:t>↓  4要素を追加する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✅ After（良い例）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7772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5F46"/>
                </a:solidFill>
              </a:rPr>
              <a:t>「あなたは中小企業向けの採用担当者です。
広島県の製造業・従業員30名の会社で、未経験歓迎の溶接工を募集しています。
応募が集まりやすい求人票を箇条書きで作成してください」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ハルシネーション（AIの嘘）を減らす指示の出し方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76072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対策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プロンプトへの追記方法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わからないことを認めさせる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「不明な点は『わかりません』と答えてください」をプロンプトに加える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確信度を明示させる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「確信が持てない情報には【要確認】とつけてください」と指示する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推測を排除する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「推測や不確かな情報は含めないでください」と指示する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情報はこちらが提供する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「以下の情報をもとに整理してください」と事実を渡してから指示する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673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💡 ハルシネーションはAIの限界ではなく、指示の出し方で大幅に減らせます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実践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30分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体験して「できる」を感じて帰りましょう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実践（30分） — ツール：ChatGPT または Gemini（受講者アカウント優先）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777240"/>
          <a:ext cx="82296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/>
                <a:gridCol w="6007608"/>
                <a:gridCol w="1645920"/>
              </a:tblGrid>
              <a:tr h="497204"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時間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お題を選ぶ（社内向けお知らせ ／ SNS投稿文 ／ 求人票のたたき台）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2分</a:t>
                      </a:r>
                    </a:p>
                  </a:txBody>
                  <a:tcPr/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4要素を使ってプロンプトを自分で書く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AIに投げて結果を見る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3分</a:t>
                      </a:r>
                    </a:p>
                  </a:txBody>
                  <a:tcPr/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修正指示を出してみる（「もっと短く」「やわらかく」等）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全体シェア（1〜2人が披露）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/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意見交換（受講者同士でフィードバック）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7211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⭐ バッファ・Q&amp;A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</a:rPr>
                        <a:t>5分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1097280" cy="1097280"/>
          </a:xfrm>
          <a:prstGeom prst="rect">
            <a:avLst/>
          </a:prstGeom>
          <a:solidFill>
            <a:srgbClr val="DA7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9601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</a:rPr>
              <a:t>⏱ 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E"/>
                </a:solidFill>
              </a:rPr>
              <a:t>本日の学びとサービス案内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まとめ（5分）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</a:rPr>
              <a:t>本日の学び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✅ AIにできること・できないことがわかった</a:t>
            </a:r>
          </a:p>
          <a:p>
            <a:r>
              <a:rPr sz="1300">
                <a:solidFill>
                  <a:srgbClr val="1E293B"/>
                </a:solidFill>
              </a:rPr>
              <a:t>✅ 自社業務にどのツールが合うかがわかった</a:t>
            </a:r>
          </a:p>
          <a:p>
            <a:r>
              <a:rPr sz="1300">
                <a:solidFill>
                  <a:srgbClr val="1E293B"/>
                </a:solidFill>
              </a:rPr>
              <a:t>✅ 安心して使える範囲（セキュリティ）がわかった</a:t>
            </a:r>
          </a:p>
          <a:p>
            <a:r>
              <a:rPr sz="1300">
                <a:solidFill>
                  <a:srgbClr val="1E293B"/>
                </a:solidFill>
              </a:rPr>
              <a:t>✅ プロンプトの出し方の基本がわかった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7498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756"/>
                </a:solidFill>
              </a:rPr>
              <a:t>持ち帰り資料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1887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📋 ツール別詳細一覧（別表）</a:t>
            </a:r>
          </a:p>
          <a:p>
            <a:r>
              <a:rPr sz="1300">
                <a:solidFill>
                  <a:srgbClr val="1E293B"/>
                </a:solidFill>
              </a:rPr>
              <a:t>📋 プロンプト4要素メモ</a:t>
            </a:r>
          </a:p>
          <a:p>
            <a:r>
              <a:rPr sz="1300">
                <a:solidFill>
                  <a:srgbClr val="1E293B"/>
                </a:solidFill>
              </a:rPr>
              <a:t>📋 社内ルール作成チェックリスト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次のステップ | ざつね屋のサービス案内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22191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📚 実践編（文書・画像・動画・Claude Code）— 今日の知識を体験に変える</a:t>
            </a:r>
          </a:p>
          <a:p>
            <a:r>
              <a:rPr sz="1200" b="0" i="0">
                <a:solidFill>
                  <a:srgbClr val="1E293B"/>
                </a:solidFill>
              </a:rPr>
              <a:t>🛠 AI業務改善オーダーメイド・🤝 AI開発伴走 — 自社の課題を一緒に解決する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