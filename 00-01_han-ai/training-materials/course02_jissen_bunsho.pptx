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1C1C1C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1C1C1C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bg>
    <p:bgPr>
      <a:solidFill>
        <a:srgbClr val="1C1C1C"/>
      </a:solidFill>
      <a:effectLst/>
    </p:bgPr>
  </p:bg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bg>
    <p:bgPr>
      <a:solidFill>
        <a:srgbClr val="1C1C1C"/>
      </a:solidFill>
      <a:effectLst/>
    </p:bgPr>
  </p:bg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bg>
    <p:bgPr>
      <a:solidFill>
        <a:srgbClr val="1C1C1C"/>
      </a:solidFill>
      <a:effectLst/>
    </p:bgPr>
  </p:bg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1C1C1C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bg>
    <p:bgPr>
      <a:solidFill>
        <a:srgbClr val="1C1C1C"/>
      </a:solidFill>
      <a:effectLst/>
    </p:bgPr>
  </p:bg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bg>
    <p:bgPr>
      <a:solidFill>
        <a:srgbClr val="1C1C1C"/>
      </a:solidFill>
      <a:effectLst/>
    </p:bgPr>
  </p:bg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bg>
    <p:bgPr>
      <a:solidFill>
        <a:srgbClr val="1C1C1C"/>
      </a:solidFill>
      <a:effectLst/>
    </p:bgPr>
  </p:bg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bg>
    <p:bgPr>
      <a:solidFill>
        <a:srgbClr val="1C1C1C"/>
      </a:solidFill>
      <a:effectLst/>
    </p:bgPr>
  </p:bg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bg>
    <p:bgPr>
      <a:solidFill>
        <a:srgbClr val="1C1C1C"/>
      </a:solidFill>
      <a:effectLst/>
    </p:bgPr>
  </p:bg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ざつね屋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A99A"/>
                </a:solidFill>
              </a:rPr>
              <a:t>コース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実践編（文書系）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A99A"/>
                </a:solidFill>
              </a:rPr>
              <a:t>AIで文書作業を大幅効率化する 120分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ツール：Gemini（無料版）　｜　成果物：業務別プロンプトライブラリ10本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本日のアジェンダ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4206240"/>
        </p:xfrm>
        <a:graphic>
          <a:graphicData uri="http://schemas.openxmlformats.org/drawingml/2006/table">
            <a:tbl>
              <a:tblPr/>
              <a:tblGrid>
                <a:gridCol w="493776"/>
                <a:gridCol w="5925312"/>
                <a:gridCol w="1810512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セクション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イントロ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社内文書（議事録・クレーム対応メール）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文書→表データ変換（議事録→タスク表・アンケート→集計分類表）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休憩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表→文書一括生成（商品リスト→SNS投稿・顧客リスト→フォローメール）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30分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まとめ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8分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イントロ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Gemini確認 ＆ 今日のゴール説明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イントロ — 今日のゴール＆ツール確認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286000"/>
        </p:xfrm>
        <a:graphic>
          <a:graphicData uri="http://schemas.openxmlformats.org/drawingml/2006/table">
            <a:tbl>
              <a:tblPr/>
              <a:tblGrid>
                <a:gridCol w="2304288"/>
                <a:gridCol w="5925312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確認項目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Geminiログイン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Googleアカウントでgemini.google.comへアクセス（未作成の人はその場で作成）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コース①未受講の方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プロンプト4要素を3分でおさらい → 「役割・背景・指示・形式」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今日のゴール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文書系3カテゴリ（社内・広報・採用）でプロンプトを作り、10本ライブラリ化して持ち帰る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EEEEEE"/>
                </a:solidFill>
              </a:rPr>
              <a:t>ゴール：実践でプロンプトの感覚をつかむ。スライドのプロンプト例は [ ] を書き換えるだけで使えます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社内文書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議事録・メール・報告書・マニュアルを作る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社内文書 — 実践①（全員共通）：議事録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</a:rPr>
              <a:t>お題：「先週の会議の発言メモを渡すから議事録に整形して」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8229600" cy="2377440"/>
        </p:xfrm>
        <a:graphic>
          <a:graphicData uri="http://schemas.openxmlformats.org/drawingml/2006/table">
            <a:tbl>
              <a:tblPr/>
              <a:tblGrid>
                <a:gridCol w="576072"/>
                <a:gridCol w="6007608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発言メモを手元に準備（なければ架空で可）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ひな型を使ってプロンプトを入力 → 送信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出力を確認・修正指示で調整（「もっと箇条書きに」等）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見せ合い・感想共有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</a:rPr>
              <a:t>ポイント：AIへの入力は「コピペ」でOK。整形・要約は得意分野です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社内文書 — 実践②（全員共通）：クレーム対応メール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4748B"/>
                </a:solidFill>
              </a:rPr>
              <a:t>お題：「先週受けたクレームのメモを渡すから、丁寧なお詫びと対応策のメールを書いて」</a:t>
            </a:r>
          </a:p>
          <a:p>
            <a:r>
              <a:rPr sz="1300" b="0" i="0">
                <a:solidFill>
                  <a:srgbClr val="64748B"/>
                </a:solidFill>
              </a:rPr>
              <a:t>ポイント：クレーム内容の「事実」と「感情」を両方AIに伝えると、より適切な文面になります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5410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使い道・例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メール返信文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クレーム対応・お礼・依頼・問い合わせへの返信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報告書のたたき台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月次・週次・プロジェクト報告書の素材作り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社内マニュアル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業務手順・ルール説明をわかりやすくまとめる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社内向けお知らせ文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休業告知・システム変更・ルール変更のアナウンス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上司への相談文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困っていること・提案・改善要望を整理して伝える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文書→表データ変換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議事録→タスク表 ／ アンケート→集計表。スプレッドシートに貼り付けて完成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文書→表データ変換 — 実践①（全員共通）：議事録→タスク表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EEEEE"/>
                </a:solidFill>
              </a:rPr>
              <a:t>お題：「この議事録から担当者・タスク・期限の一覧表を作って、CSVで出力して」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8229600" cy="2377440"/>
        </p:xfrm>
        <a:graphic>
          <a:graphicData uri="http://schemas.openxmlformats.org/drawingml/2006/table">
            <a:tbl>
              <a:tblPr/>
              <a:tblGrid>
                <a:gridCol w="576072"/>
                <a:gridCol w="6007608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自社の投稿テーマを決める（商品紹介・イベント・お知らせ等）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プロンプト入力：「会社名・業種・投稿テーマ・ハッシュタグの有無」を指定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出力確認 → 「もっとカジュアルに」「絵文字を増やして」等で調整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見せ合い・感想共有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C1C1C"/>
                </a:solidFill>
              </a:rPr>
              <a:t>操作：スプレッドシートを全選択（Ctrl+A）→ コピー（Ctrl+C）→ Geminiに貼り付け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文書→表データ変換 — 実践②（全員共通）：アンケート→集計分類表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4748B"/>
                </a:solidFill>
              </a:rPr>
              <a:t>お題：「このアンケート回答をカテゴリ別に集計してまとめた表を作って」</a:t>
            </a:r>
          </a:p>
          <a:p>
            <a:r>
              <a:rPr sz="1300" b="0" i="0">
                <a:solidFill>
                  <a:srgbClr val="64748B"/>
                </a:solidFill>
              </a:rPr>
              <a:t>操作：スプレッドシートのアンケート結果を全選択 → Geminiに貼り付け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5410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使い道・例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チラシ・DM文案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イベント告知・セール・新商品紹介チラシのコピー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HP更新テキスト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会社紹介・サービス説明・ニュースページの文章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メルマガ・ニュースレター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定期配信の構成と文面をたたき台で作る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プレスリリース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新サービス・受賞・採用募集などの告知文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キャッチコピー案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商品・サービスの魅力を一言で伝えるフレーズを複数案出す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A99A"/>
                </a:solidFill>
              </a:rPr>
              <a:t>- 休憩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A7756"/>
                </a:solidFill>
              </a:rPr>
              <a:t>5〜10分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表→文書一括生成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[30分]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商品リスト・顧客リストをGeminiに貼り付けて文書を量産する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表→文書一括生成 — 実践①（全員共通）：商品リスト→SNS投稿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EEEEE"/>
                </a:solidFill>
              </a:rPr>
              <a:t>お題：「この商品リストの各商品についてInstagram投稿文を1本ずつ作って」</a:t>
            </a:r>
          </a:p>
          <a:p>
            <a:r>
              <a:rPr sz="1400" b="1" i="0">
                <a:solidFill>
                  <a:srgbClr val="EEEEEE"/>
                </a:solidFill>
              </a:rPr>
              <a:t>操作：スプレッドシートの商品リストを全選択 → Geminiに貼り付け → 一括生成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8229600" cy="2377440"/>
        </p:xfrm>
        <a:graphic>
          <a:graphicData uri="http://schemas.openxmlformats.org/drawingml/2006/table">
            <a:tbl>
              <a:tblPr/>
              <a:tblGrid>
                <a:gridCol w="576072"/>
                <a:gridCol w="6007608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募集職種と最低限の条件（給与・勤務地・仕事内容）を手元に用意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「未経験歓迎・自社の強み・応募しやすいポイント」も含めてプロンプト入力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出力確認 → 「もう少し求職者の不安を解消する言い方に」等で調整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見せ合い・感想共有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C1C1C"/>
                </a:solidFill>
              </a:rPr>
              <a:t>複数の投稿文が一度に生成されます。コピーして使うだけです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表→文書一括生成 — 実践②（全員共通）：顧客リスト→フォローメール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[実践15分]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4748B"/>
                </a:solidFill>
              </a:rPr>
              <a:t>お題：「この顧客リストの各社に向けた個別フォローメールをそれぞれ作って」</a:t>
            </a:r>
          </a:p>
          <a:p>
            <a:r>
              <a:rPr sz="1300" b="0" i="0">
                <a:solidFill>
                  <a:srgbClr val="64748B"/>
                </a:solidFill>
              </a:rPr>
              <a:t>操作：顧客リスト（社名・担当者名）をGeminiに貼り付け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5410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使い道・例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会社紹介文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採用ページ・合同説明会・会社案内の文章を作る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採用広報SNS投稿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社員の一日・職場環境・理念を発信する投稿文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面接でよく聞く質問リスト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職種別の想定質問と評価ポイントをまとめる</a:t>
                      </a:r>
                    </a:p>
                  </a:txBody>
                  <a:tcPr/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内定通知文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内定のご連絡メール・書面のたたき台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入社前案内文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初日の持ち物・手続き・注意事項をまとめた案内文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[8分]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00" name="_BG_DARK_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rgbClr val="1C1C1C"/>
          </a:lnRef>
          <a:fillRef idx="1">
            <a:srgbClr val="1C1C1C"/>
          </a:fillRef>
          <a:effectRef idx="0">
            <a:srgbClr val="1C1C1C"/>
          </a:effectRef>
          <a:fontRef idx="minor">
            <a:srgbClr val="EEEEEE"/>
          </a:fontRef>
        </p:style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16002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C1C1C"/>
                </a:solidFill>
              </a:rPr>
              <a:t>今日の3方向まとめ</a:t>
            </a:r>
          </a:p>
          <a:p>
            <a:r>
              <a:rPr sz="1300" b="1" i="0">
                <a:solidFill>
                  <a:srgbClr val="1C1C1C"/>
                </a:solidFill>
              </a:rPr>
              <a:t>① 文書生成（議事録・メール・SNS投稿）</a:t>
            </a:r>
          </a:p>
          <a:p>
            <a:r>
              <a:rPr sz="1300" b="1" i="0">
                <a:solidFill>
                  <a:srgbClr val="1C1C1C"/>
                </a:solidFill>
              </a:rPr>
              <a:t>② 文書→表（議事録→タスク表・アンケート→集計表）</a:t>
            </a:r>
          </a:p>
          <a:p>
            <a:r>
              <a:rPr sz="1300" b="1" i="0">
                <a:solidFill>
                  <a:srgbClr val="1C1C1C"/>
                </a:solidFill>
              </a:rPr>
              <a:t>③ 表→文書（商品リスト・顧客リスト→一括生成）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EEEE"/>
                </a:solidFill>
              </a:rPr>
              <a:t>スライドのプロンプト例は [ ] を書き換えるだけで使えます。明日から試してみてください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</a:rPr>
              <a:t>「わからないことはAIに聞いてみてください」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本日はありがとうございました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2525"/>
      </a:dk2>
      <a:lt2>
        <a:srgbClr val="EEECE1"/>
      </a:lt2>
      <a:accent1>
        <a:srgbClr val="DA775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