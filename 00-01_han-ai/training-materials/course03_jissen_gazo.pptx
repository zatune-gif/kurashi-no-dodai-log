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bg>
    <p:bgPr>
      <a:solidFill>
        <a:srgbClr val="1C1C1C"/>
      </a:solidFill>
      <a:effectLst/>
    </p:bgPr>
  </p:bg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bg>
    <p:bgPr>
      <a:solidFill>
        <a:srgbClr val="1C1C1C"/>
      </a:solidFill>
      <a:effectLst/>
    </p:bgPr>
  </p:bg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bg>
    <p:bgPr>
      <a:solidFill>
        <a:srgbClr val="1C1C1C"/>
      </a:solidFill>
      <a:effectLst/>
    </p:bgPr>
  </p:bg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bg>
    <p:bgPr>
      <a:solidFill>
        <a:srgbClr val="1C1C1C"/>
      </a:solidFill>
      <a:effectLst/>
    </p:bgPr>
  </p:bg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bg>
    <p:bgPr>
      <a:solidFill>
        <a:srgbClr val="1C1C1C"/>
      </a:solidFill>
      <a:effectLst/>
    </p:bgPr>
  </p:bg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bg>
    <p:bgPr>
      <a:solidFill>
        <a:srgbClr val="1C1C1C"/>
      </a:solidFill>
      <a:effectLst/>
    </p:bgPr>
  </p:bg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bg>
    <p:bgPr>
      <a:solidFill>
        <a:srgbClr val="1C1C1C"/>
      </a:solidFill>
      <a:effectLst/>
    </p:bgPr>
  </p:bg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bg>
    <p:bgPr>
      <a:solidFill>
        <a:srgbClr val="1C1C1C"/>
      </a:solidFill>
      <a:effectLst/>
    </p:bgPr>
  </p:bg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bg>
    <p:bgPr>
      <a:solidFill>
        <a:srgbClr val="1C1C1C"/>
      </a:solidFill>
      <a:effectLst/>
    </p:bgPr>
  </p:bg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bg>
    <p:bgPr>
      <a:solidFill>
        <a:srgbClr val="1C1C1C"/>
      </a:solidFill>
      <a:effectLst/>
    </p:bgPr>
  </p:bg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bg>
    <p:bgPr>
      <a:solidFill>
        <a:srgbClr val="1C1C1C"/>
      </a:solidFill>
      <a:effectLst/>
    </p:bgPr>
  </p:bg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3383280"/>
            <a:ext cx="9144000" cy="54864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7756"/>
                </a:solidFill>
              </a:rPr>
              <a:t>ざつね屋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A99A"/>
                </a:solidFill>
              </a:rPr>
              <a:t>コース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実践編（画像系）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99A"/>
                </a:solidFill>
              </a:rPr>
              <a:t>デザイナー不在でもSNS・チラシ・広報のビジュアルが作れる 120分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7756"/>
                </a:solidFill>
              </a:rPr>
              <a:t>ツール：Canva 無料版のみ　｜　成果物：SNS画像 + AI生成画像 + チラシ 各1点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本日のアジェンダ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8229600" cy="4160520"/>
        </p:xfrm>
        <a:graphic>
          <a:graphicData uri="http://schemas.openxmlformats.org/drawingml/2006/table">
            <a:tbl>
              <a:tblPr/>
              <a:tblGrid>
                <a:gridCol w="493776"/>
                <a:gridCol w="1810512"/>
                <a:gridCol w="4279392"/>
                <a:gridCol w="164592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セクション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イントロ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Canvaログイン確認・基本画面・「テンプレート」の意味の整理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13分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SNS投稿画像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Canvaテンプレートで編集実践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30分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AI画像生成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Magic Mediaでプロンプト入力→生成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30分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休憩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10分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チラシ作成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テンプレ＋AI画像を組み合わせて仕上げる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30分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まとめ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ダウンロード・共有・活用アドバイス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4分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イントロ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A7756"/>
                </a:solidFill>
              </a:rPr>
              <a:t>[10分]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99A"/>
                </a:solidFill>
              </a:rPr>
              <a:t>Canvaにログインして基本画面を確認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イントロ — Canva基本画面の説明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[10分]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8229600" cy="2560320"/>
        </p:xfrm>
        <a:graphic>
          <a:graphicData uri="http://schemas.openxmlformats.org/drawingml/2006/table">
            <a:tbl>
              <a:tblPr/>
              <a:tblGrid>
                <a:gridCol w="2057400"/>
                <a:gridCol w="617220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確認項目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Canvaログイン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canva.com でGoogleアカウント or メールアドレスで登録・ログイン（無料版）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新規デザイン作成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「デザインを作成」→ 用途を選ぶ（SNS投稿・チラシ等）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テンプレート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Canvaが用意している「使える雛形」を選んで文字・色・画像を差し替える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Magic Media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AIで画像生成できる機能（無料枠：月50回程度）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1C"/>
                </a:solidFill>
              </a:rPr>
              <a:t>今日の流れ：Canva操作を覚える → AI素材を作る → 両方を組み合わせて完成品を作る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「テンプレート」の意味の違い — 本日の重要ポイント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8229600" cy="210312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</a:tblGrid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セクション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「テンプレ」の意味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2・4（SNS画像・チラシ）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Canvaのデザインテンプレート ＝ Canvaが用意している雛形を選んで編集する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3（AI画像生成）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プロンプトのひな型 ＝ 「[スタイル]の[主題]、[用途]向け」のような[ ]を埋めてMagic Mediaに入力する形式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063240"/>
            <a:ext cx="8229600" cy="68580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127248"/>
            <a:ext cx="7955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7756"/>
                </a:solidFill>
              </a:rPr>
              <a:t>混乱しやすいポイントなので、都度「こちらはデザインの雛形です / こちらはAIへの指示文です」と明示してください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SNS投稿画像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A7756"/>
                </a:solidFill>
              </a:rPr>
              <a:t>[30分]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99A"/>
                </a:solidFill>
              </a:rPr>
              <a:t>Canvaのデザインテンプレートで実践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SNS投稿画像 — 実践①（全員共通）：Instagram投稿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[実践15分]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41248"/>
            <a:ext cx="7955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EEEE"/>
                </a:solidFill>
              </a:rPr>
              <a:t>お題：自社のサービス・商品紹介の Instagram 投稿画像を1枚作る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36192"/>
          <a:ext cx="8229600" cy="2194560"/>
        </p:xfrm>
        <a:graphic>
          <a:graphicData uri="http://schemas.openxmlformats.org/drawingml/2006/table">
            <a:tbl>
              <a:tblPr/>
              <a:tblGrid>
                <a:gridCol w="576072"/>
                <a:gridCol w="6007608"/>
                <a:gridCol w="164592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「デザインを作成」→「Instagramの投稿（正方形）」を選択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2分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テンプレートを検索・選択（業種・雰囲気で選ぶ）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テキストを自社の内容に書き換え・色やフォントを調整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7分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ダウンロード（PNG）して確認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</a:rPr>
              <a:t>ポイント：テンプレートのレイアウトはそのままでOK。テキストと色だけ変えるだけで「自社らしい」デザインになります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SNS投稿画像 — 実践②（自由テーマ）：想起リスト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[実践10分]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こんなビジュアルもCanvaで作れます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8229600" cy="352044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</a:tblGrid>
              <a:tr h="58674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テーマ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作り方・ポイント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Facebook投稿画像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横長（1200×628px）でテンプレートを選択</a:t>
                      </a:r>
                    </a:p>
                  </a:txBody>
                  <a:tcPr/>
                </a:tc>
              </a:tr>
              <a:tr h="5867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キャンペーン・セール告知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「セール」「SALE」で検索するとバナー向きテンプレが出る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季節のご挨拶画像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「年末年始」「春」「夏」等で検索・差し替えるだけでOK</a:t>
                      </a:r>
                    </a:p>
                  </a:txBody>
                  <a:tcPr/>
                </a:tc>
              </a:tr>
              <a:tr h="5867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お客様の声・事例紹介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引用デザインのテンプレートを選んでテキスト差し替え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LINE公式アカウント用バナー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1200×600pxで作成・ダウンロードしてLINE管理画面でアップ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AI画像生成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A7756"/>
                </a:solidFill>
              </a:rPr>
              <a:t>[30分]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99A"/>
                </a:solidFill>
              </a:rPr>
              <a:t>Magic Mediaでテキストから画像を生成する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AI画像生成 — Canva Magic Media の使い方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[実践25分]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8229600" cy="3108960"/>
        </p:xfrm>
        <a:graphic>
          <a:graphicData uri="http://schemas.openxmlformats.org/drawingml/2006/table">
            <a:tbl>
              <a:tblPr/>
              <a:tblGrid>
                <a:gridCol w="2304288"/>
                <a:gridCol w="5925312"/>
              </a:tblGrid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操作手順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 Magic Mediaを開く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Canvaエディタ左パネル「アプリ」→「Magic Media」を選択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2 プロンプトを入力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テキスト欄にひな型を使って指示を入力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 スタイルを選ぶ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写真風・イラスト・水彩・3D等から選択（または「なし」でも可）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4 生成 → 選択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4枚生成される → 気に入ったものを選んでデザインに追加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5 組み合わせ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CanvaのテンプレートレイアウトにAI生成画像を貼り付けて仕上げる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050791"/>
            <a:ext cx="8229600" cy="54864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114799"/>
            <a:ext cx="7955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A7756"/>
                </a:solidFill>
              </a:rPr>
              <a:t>無料枠：月50回程度（目安）。生成が「上限」と表示されたら講師に相談してください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AI画像生成 — プロンプトひな型＆想起リスト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7955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EEEE"/>
                </a:solidFill>
              </a:rPr>
              <a:t>ひな型：「[スタイル]で[主題・テーマ]の画像、[用途]向け、[雰囲気]な印象で」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4748B"/>
                </a:solidFill>
              </a:rPr>
              <a:t>例①：「水彩画風で春の桜と笑顔のスタッフの画像、SNS投稿向け、明るく温かみのある印象で」</a:t>
            </a:r>
          </a:p>
          <a:p>
            <a:r>
              <a:rPr sz="1300" b="0" i="1">
                <a:solidFill>
                  <a:srgbClr val="64748B"/>
                </a:solidFill>
              </a:rPr>
              <a:t>例②：「シンプルなイラスト風で夏のキャンペーン商品の画像、チラシ向け、爽やかで目を引く印象で」</a:t>
            </a:r>
          </a:p>
          <a:p>
            <a:r>
              <a:rPr sz="1300" b="0" i="1">
                <a:solidFill>
                  <a:srgbClr val="64748B"/>
                </a:solidFill>
              </a:rPr>
              <a:t>例③：「写真リアル調で清潔感のあるオフィス環境の画像、会社HP向け、信頼感があり落ち着いた印象で」</a:t>
            </a:r>
          </a:p>
          <a:p>
            <a:r>
              <a:rPr sz="1300" b="0" i="1">
                <a:solidFill>
                  <a:srgbClr val="64748B"/>
                </a:solidFill>
              </a:rPr>
              <a:t>例④：「和風テイストで旬の野菜と木のテーブルの画像、SNS投稿向け、手作り感のある温かみのある印象で」</a:t>
            </a:r>
          </a:p>
          <a:p>
            <a:r>
              <a:rPr sz="1300" b="0" i="1">
                <a:solidFill>
                  <a:srgbClr val="64748B"/>
                </a:solidFill>
              </a:rPr>
              <a:t/>
            </a:r>
          </a:p>
          <a:p>
            <a:r>
              <a:rPr sz="1300" b="0" i="1">
                <a:solidFill>
                  <a:srgbClr val="64748B"/>
                </a:solidFill>
              </a:rPr>
              <a:t>【ダウンロード手順】 画像を選択 → 右上の共有ボタン → ダウンロード → PNG → ダウンロード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103120"/>
          <a:ext cx="8229600" cy="2606040"/>
        </p:xfrm>
        <a:graphic>
          <a:graphicData uri="http://schemas.openxmlformats.org/drawingml/2006/table">
            <a:tbl>
              <a:tblPr/>
              <a:tblGrid>
                <a:gridCol w="2880360"/>
                <a:gridCol w="5349240"/>
              </a:tblGrid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生成したいもの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プロンプトのポイント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会社・店舗の雰囲気画像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業種・場所・雰囲気（清潔感・温かみ・プロフェッショナル等）を指定</a:t>
                      </a:r>
                    </a:p>
                  </a:txBody>
                  <a:tcPr/>
                </a:tc>
              </a:tr>
              <a:tr h="52120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商品・サービスのイメージ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商品の特徴・使用シーン・ターゲット感を伝える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SNS用の背景・素材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「シンプル背景」「テキスト入りやすい余白あり」等を指定</a:t>
                      </a:r>
                    </a:p>
                  </a:txBody>
                  <a:tcPr/>
                </a:tc>
              </a:tr>
              <a:tr h="52120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採用広報用のシーン画像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「職場で働くスタッフ」「チームワーク」等・人物は指定しにくい場合あり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8A99A"/>
                </a:solidFill>
              </a:rPr>
              <a:t>- 休憩 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A7756"/>
                </a:solidFill>
              </a:rPr>
              <a:t>5〜10分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チラシ作成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A7756"/>
                </a:solidFill>
              </a:rPr>
              <a:t>[30分]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99A"/>
                </a:solidFill>
              </a:rPr>
              <a:t>Magic Designでレイアウト自動生成 → AI画像差し込み → チェックリストで仕上げ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チラシ作成 — Magic Design → AI画像差し込み → 完成度チェック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[30分]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8229600" cy="3337560"/>
        </p:xfrm>
        <a:graphic>
          <a:graphicData uri="http://schemas.openxmlformats.org/drawingml/2006/table">
            <a:tbl>
              <a:tblPr/>
              <a:tblGrid>
                <a:gridCol w="576072"/>
                <a:gridCol w="6007608"/>
                <a:gridCol w="1645920"/>
              </a:tblGrid>
              <a:tr h="55626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「デザインを作成」→「A4チラシ」（または任意のサイズ）を選択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3分</a:t>
                      </a:r>
                    </a:p>
                  </a:txBody>
                  <a:tcPr/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テンプレートを選択（業種・用途で絞り込み）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5分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セクション3で生成したAI画像をアップロード or 再生成して挿入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7分</a:t>
                      </a:r>
                    </a:p>
                  </a:txBody>
                  <a:tcPr/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テキスト（キャッチコピー・住所・電話番号等）を自社の内容に差し替え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10分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PDF または PNG でダウンロード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5分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4748B"/>
                </a:solidFill>
              </a:rPr>
              <a:t>【Magic Design手順】</a:t>
            </a:r>
          </a:p>
          <a:p>
            <a:r>
              <a:rPr sz="1300" b="0" i="1">
                <a:solidFill>
                  <a:srgbClr val="64748B"/>
                </a:solidFill>
              </a:rPr>
              <a:t>Canvaトップ →「チラシ」と検索 → Magic Designを使う → 業種・雰囲気を日本語で入力</a:t>
            </a:r>
          </a:p>
          <a:p>
            <a:r>
              <a:rPr sz="1300" b="0" i="1">
                <a:solidFill>
                  <a:srgbClr val="64748B"/>
                </a:solidFill>
              </a:rPr>
              <a:t>入力例：整体院の春キャンペーン ／ 洋食ランチメニュー ／ 農家の野菜直売 ／ 美容室の新メニュー ／ 税理士の確定申告案内</a:t>
            </a:r>
          </a:p>
          <a:p>
            <a:r>
              <a:rPr sz="1300" b="0" i="1">
                <a:solidFill>
                  <a:srgbClr val="64748B"/>
                </a:solidFill>
              </a:rPr>
              <a:t/>
            </a:r>
          </a:p>
          <a:p>
            <a:r>
              <a:rPr sz="1300" b="0" i="1">
                <a:solidFill>
                  <a:srgbClr val="64748B"/>
                </a:solidFill>
              </a:rPr>
              <a:t>【AI画像の差し込み】</a:t>
            </a:r>
          </a:p>
          <a:p>
            <a:r>
              <a:rPr sz="1300" b="0" i="1">
                <a:solidFill>
                  <a:srgbClr val="64748B"/>
                </a:solidFill>
              </a:rPr>
              <a:t>左パネル → アップロード → ダウンロード済みのAI画像を選択 → ドラッグして配置</a:t>
            </a:r>
          </a:p>
          <a:p>
            <a:r>
              <a:rPr sz="1300" b="0" i="1">
                <a:solidFill>
                  <a:srgbClr val="64748B"/>
                </a:solidFill>
              </a:rPr>
              <a:t/>
            </a:r>
          </a:p>
          <a:p>
            <a:r>
              <a:rPr sz="1300" b="0" i="1">
                <a:solidFill>
                  <a:srgbClr val="64748B"/>
                </a:solidFill>
              </a:rPr>
              <a:t>【完成度チェック ▼ まずやること】</a:t>
            </a:r>
          </a:p>
          <a:p>
            <a:r>
              <a:rPr sz="1300" b="0" i="1">
                <a:solidFill>
                  <a:srgbClr val="64748B"/>
                </a:solidFill>
              </a:rPr>
              <a:t>□ テキストを全て自社の情報に書き換えた</a:t>
            </a:r>
          </a:p>
          <a:p>
            <a:r>
              <a:rPr sz="1300" b="0" i="1">
                <a:solidFill>
                  <a:srgbClr val="64748B"/>
                </a:solidFill>
              </a:rPr>
              <a:t>□ キャッチコピーを自社らしい言葉に変えた</a:t>
            </a:r>
          </a:p>
          <a:p>
            <a:r>
              <a:rPr sz="1300" b="0" i="1">
                <a:solidFill>
                  <a:srgbClr val="64748B"/>
                </a:solidFill>
              </a:rPr>
              <a:t>□ 住所・電話番号・営業時間を入れた</a:t>
            </a:r>
          </a:p>
          <a:p>
            <a:r>
              <a:rPr sz="1300" b="0" i="1">
                <a:solidFill>
                  <a:srgbClr val="64748B"/>
                </a:solidFill>
              </a:rPr>
              <a:t>□ 不要な要素・余分な文字を削除した</a:t>
            </a:r>
          </a:p>
          <a:p>
            <a:r>
              <a:rPr sz="1300" b="0" i="1">
                <a:solidFill>
                  <a:srgbClr val="64748B"/>
                </a:solidFill>
              </a:rPr>
              <a:t/>
            </a:r>
          </a:p>
          <a:p>
            <a:r>
              <a:rPr sz="1300" b="0" i="1">
                <a:solidFill>
                  <a:srgbClr val="64748B"/>
                </a:solidFill>
              </a:rPr>
              <a:t>【完成度チェック ▼ 余裕があれば】</a:t>
            </a:r>
          </a:p>
          <a:p>
            <a:r>
              <a:rPr sz="1300" b="0" i="1">
                <a:solidFill>
                  <a:srgbClr val="64748B"/>
                </a:solidFill>
              </a:rPr>
              <a:t>□ 問い合わせ導線を入れた（LINE・電話・URL など）</a:t>
            </a:r>
          </a:p>
          <a:p>
            <a:r>
              <a:rPr sz="1300" b="0" i="1">
                <a:solidFill>
                  <a:srgbClr val="64748B"/>
                </a:solidFill>
              </a:rPr>
              <a:t>□ QRコードを追加した（左パネル → 要素 → QRコード）</a:t>
            </a:r>
          </a:p>
          <a:p>
            <a:r>
              <a:rPr sz="1300" b="0" i="1">
                <a:solidFill>
                  <a:srgbClr val="64748B"/>
                </a:solidFill>
              </a:rPr>
              <a:t>□ フォントを2種類以内に統一した</a:t>
            </a:r>
          </a:p>
          <a:p>
            <a:r>
              <a:rPr sz="1300" b="0" i="1">
                <a:solidFill>
                  <a:srgbClr val="64748B"/>
                </a:solidFill>
              </a:rPr>
              <a:t>□ 余白を確認した（詰め込みすぎていないか）</a:t>
            </a:r>
          </a:p>
          <a:p>
            <a:r>
              <a:rPr sz="1300" b="0" i="1">
                <a:solidFill>
                  <a:srgbClr val="64748B"/>
                </a:solidFill>
              </a:rPr>
              <a:t/>
            </a:r>
          </a:p>
          <a:p>
            <a:r>
              <a:rPr sz="1300" b="0" i="1">
                <a:solidFill>
                  <a:srgbClr val="64748B"/>
                </a:solidFill>
              </a:rPr>
              <a:t>完成しなくても大丈夫。続きはCanvaアカウントにログインすれば、いつでも再開できます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A7756"/>
                </a:solidFill>
              </a:rPr>
              <a:t>[10分]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99A"/>
                </a:solidFill>
              </a:rPr>
              <a:t>ダウンロード・共有・活用アドバイス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まとめ — 活用アドバイス＆サービス案内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[10分]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8229600" cy="3017520"/>
        </p:xfrm>
        <a:graphic>
          <a:graphicData uri="http://schemas.openxmlformats.org/drawingml/2006/table">
            <a:tbl>
              <a:tblPr/>
              <a:tblGrid>
                <a:gridCol w="2057400"/>
                <a:gridCol w="617220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活用ポイント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ダウンロード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PNG（SNS・メール用）・PDF（印刷用）どちらでも書き出せる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後から編集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Canvaアカウントにログインすれば続きから編集・複製して使い回せる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社内共有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共有リンクを送るだけで他のメンバーも閲覧・編集できる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ブランドの統一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ブランドカラー・フォントを「ブランド設定」に登録して毎回使う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テンプレとして使い回す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一度作ったデザインを複製して内容だけ変えれば量産可能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977639"/>
            <a:ext cx="8229600" cy="59436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0416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</a:rPr>
              <a:t>次のステップ：実践編（動画系）でCanvaの動画機能、または実践編（文書系）でテキスト発信の質も上げましょう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2525"/>
      </a:dk2>
      <a:lt2>
        <a:srgbClr val="EEECE1"/>
      </a:lt2>
      <a:accent1>
        <a:srgbClr val="DA7756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