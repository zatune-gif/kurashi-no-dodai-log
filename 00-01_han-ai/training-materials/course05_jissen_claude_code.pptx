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bg>
    <p:bgPr>
      <a:solidFill>
        <a:srgbClr val="1C1C1C"/>
      </a:solidFill>
      <a:effectLst/>
    </p:bgPr>
  </p:bg>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bg>
    <p:bgPr>
      <a:solidFill>
        <a:srgbClr val="1C1C1C"/>
      </a:solidFill>
      <a:effectLst/>
    </p:bgPr>
  </p:bg>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bg>
    <p:bgPr>
      <a:solidFill>
        <a:srgbClr val="1C1C1C"/>
      </a:solidFill>
      <a:effectLst/>
    </p:bgPr>
  </p:bg>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bg>
    <p:bgPr>
      <a:solidFill>
        <a:srgbClr val="1C1C1C"/>
      </a:solidFill>
      <a:effectLst/>
    </p:bgPr>
  </p:bg>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bg>
    <p:bgPr>
      <a:solidFill>
        <a:srgbClr val="1C1C1C"/>
      </a:solidFill>
      <a:effectLst/>
    </p:bgPr>
  </p:bg>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bg>
    <p:bgPr>
      <a:solidFill>
        <a:srgbClr val="1C1C1C"/>
      </a:solidFill>
      <a:effectLst/>
    </p:bgPr>
  </p:bg>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bg>
    <p:bgPr>
      <a:solidFill>
        <a:srgbClr val="1C1C1C"/>
      </a:solidFill>
      <a:effectLst/>
    </p:bgPr>
  </p:bg>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bg>
    <p:bgPr>
      <a:solidFill>
        <a:srgbClr val="1C1C1C"/>
      </a:solidFill>
      <a:effectLst/>
    </p:bgPr>
  </p:bg>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bg>
    <p:bgPr>
      <a:solidFill>
        <a:srgbClr val="1C1C1C"/>
      </a:solidFill>
      <a:effectLst/>
    </p:bgPr>
  </p:bg>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bg>
    <p:bgPr>
      <a:solidFill>
        <a:srgbClr val="1C1C1C"/>
      </a:solidFill>
      <a:effectLst/>
    </p:bgPr>
  </p:bg>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bg>
    <p:bgPr>
      <a:solidFill>
        <a:srgbClr val="1C1C1C"/>
      </a:solidFill>
      <a:effectLst/>
    </p:bgPr>
  </p:bg>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DA7756"/>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8A99A"/>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8A99A"/>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DA7756"/>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a:tblGrid>
                <a:gridCol w="493776"/>
                <a:gridCol w="1810512"/>
                <a:gridCol w="4279392"/>
                <a:gridCol w="1645920"/>
              </a:tblGrid>
              <a:tr h="594360">
                <a:tc>
                  <a:txBody>
                    <a:bodyPr wrap="square"/>
                    <a:lstStyle/>
                    <a:p>
                      <a:pPr algn="ctr"/>
                      <a:r>
                        <a:rPr b="1" sz="1200">
                          <a:solidFill>
                            <a:srgbClr val="FFFFFF"/>
                          </a:solidFill>
                        </a:rPr>
                        <a:t>#</a:t>
                      </a:r>
                    </a:p>
                  </a:txBody>
                  <a:tcPr>
                    <a:solidFill>
                      <a:srgbClr val="1C1C1C"/>
                    </a:solidFill>
                  </a:tcPr>
                </a:tc>
                <a:tc>
                  <a:txBody>
                    <a:bodyPr wrap="square"/>
                    <a:lstStyle/>
                    <a:p>
                      <a:pPr algn="ctr"/>
                      <a:r>
                        <a:rPr b="1" sz="1200">
                          <a:solidFill>
                            <a:srgbClr val="FFFFFF"/>
                          </a:solidFill>
                        </a:rPr>
                        <a:t>セクション</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時間</a:t>
                      </a:r>
                    </a:p>
                  </a:txBody>
                  <a:tcPr>
                    <a:solidFill>
                      <a:srgbClr val="1C1C1C"/>
                    </a:solidFill>
                  </a:tcPr>
                </a:tc>
              </a:tr>
              <a:tr h="594360">
                <a:tc>
                  <a:txBody>
                    <a:bodyPr wrap="square"/>
                    <a:lstStyle/>
                    <a:p>
                      <a:pPr algn="l"/>
                      <a:r>
                        <a:rPr sz="1100">
                          <a:solidFill>
                            <a:srgbClr val="EEEEEE"/>
                          </a:solidFill>
                        </a:rPr>
                        <a:t>1</a:t>
                      </a:r>
                    </a:p>
                  </a:txBody>
                  <a:tcPr/>
                </a:tc>
                <a:tc>
                  <a:txBody>
                    <a:bodyPr wrap="square"/>
                    <a:lstStyle/>
                    <a:p>
                      <a:pPr algn="l"/>
                      <a:r>
                        <a:rPr sz="1100">
                          <a:solidFill>
                            <a:srgbClr val="EEEEEE"/>
                          </a:solidFill>
                        </a:rPr>
                        <a:t>Claude Codeとは</a:t>
                      </a:r>
                    </a:p>
                  </a:txBody>
                  <a:tcPr/>
                </a:tc>
                <a:tc>
                  <a:txBody>
                    <a:bodyPr wrap="square"/>
                    <a:lstStyle/>
                    <a:p>
                      <a:pPr algn="l"/>
                      <a:r>
                        <a:rPr sz="1100">
                          <a:solidFill>
                            <a:srgbClr val="EEEEEE"/>
                          </a:solidFill>
                        </a:rPr>
                        <a:t>4軸マップ・他AIとの違い・できること/できないこと</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2</a:t>
                      </a:r>
                    </a:p>
                  </a:txBody>
                  <a:tcPr>
                    <a:solidFill>
                      <a:srgbClr val="F8FAFC"/>
                    </a:solidFill>
                  </a:tcPr>
                </a:tc>
                <a:tc>
                  <a:txBody>
                    <a:bodyPr wrap="square"/>
                    <a:lstStyle/>
                    <a:p>
                      <a:pPr algn="l"/>
                      <a:r>
                        <a:rPr sz="1100">
                          <a:solidFill>
                            <a:srgbClr val="EEEEEE"/>
                          </a:solidFill>
                        </a:rPr>
                        <a:t>セットアップ確認</a:t>
                      </a:r>
                    </a:p>
                  </a:txBody>
                  <a:tcPr>
                    <a:solidFill>
                      <a:srgbClr val="F8FAFC"/>
                    </a:solidFill>
                  </a:tcPr>
                </a:tc>
                <a:tc>
                  <a:txBody>
                    <a:bodyPr wrap="square"/>
                    <a:lstStyle/>
                    <a:p>
                      <a:pPr algn="l"/>
                      <a:r>
                        <a:rPr sz="1100">
                          <a:solidFill>
                            <a:srgbClr val="EEEEEE"/>
                          </a:solidFill>
                        </a:rPr>
                        <a:t>デスクトップ版起動・サインイン・動作確認</a:t>
                      </a:r>
                    </a:p>
                  </a:txBody>
                  <a:tcPr>
                    <a:solidFill>
                      <a:srgbClr val="F8FAFC"/>
                    </a:solidFill>
                  </a:tcPr>
                </a:tc>
                <a:tc>
                  <a:txBody>
                    <a:bodyPr wrap="square"/>
                    <a:lstStyle/>
                    <a:p>
                      <a:pPr algn="l"/>
                      <a:r>
                        <a:rPr sz="1100">
                          <a:solidFill>
                            <a:srgbClr val="EEEEEE"/>
                          </a:solidFill>
                        </a:rPr>
                        <a:t>30分</a:t>
                      </a:r>
                    </a:p>
                  </a:txBody>
                  <a:tcPr>
                    <a:solidFill>
                      <a:srgbClr val="F8FAFC"/>
                    </a:solidFill>
                  </a:tcPr>
                </a:tc>
              </a:tr>
              <a:tr h="594360">
                <a:tc>
                  <a:txBody>
                    <a:bodyPr wrap="square"/>
                    <a:lstStyle/>
                    <a:p>
                      <a:pPr algn="l"/>
                      <a:r>
                        <a:rPr sz="1100">
                          <a:solidFill>
                            <a:srgbClr val="EEEEEE"/>
                          </a:solidFill>
                        </a:rPr>
                        <a:t>3</a:t>
                      </a:r>
                    </a:p>
                  </a:txBody>
                  <a:tcPr/>
                </a:tc>
                <a:tc>
                  <a:txBody>
                    <a:bodyPr wrap="square"/>
                    <a:lstStyle/>
                    <a:p>
                      <a:pPr algn="l"/>
                      <a:r>
                        <a:rPr sz="1100">
                          <a:solidFill>
                            <a:srgbClr val="EEEEEE"/>
                          </a:solidFill>
                        </a:rPr>
                        <a:t>ユースケース</a:t>
                      </a:r>
                    </a:p>
                  </a:txBody>
                  <a:tcPr/>
                </a:tc>
                <a:tc>
                  <a:txBody>
                    <a:bodyPr wrap="square"/>
                    <a:lstStyle/>
                    <a:p>
                      <a:pPr algn="l"/>
                      <a:r>
                        <a:rPr sz="1100">
                          <a:solidFill>
                            <a:srgbClr val="EEEEEE"/>
                          </a:solidFill>
                        </a:rPr>
                        <a:t>フォルダ整理・CSV整形・定型文書生成（各3分）</a:t>
                      </a:r>
                    </a:p>
                  </a:txBody>
                  <a:tcPr/>
                </a:tc>
                <a:tc>
                  <a:txBody>
                    <a:bodyPr wrap="square"/>
                    <a:lstStyle/>
                    <a:p>
                      <a:pPr algn="l"/>
                      <a:r>
                        <a:rPr sz="1100">
                          <a:solidFill>
                            <a:srgbClr val="EEEEEE"/>
                          </a:solidFill>
                        </a:rPr>
                        <a:t>10分</a:t>
                      </a:r>
                    </a:p>
                  </a:txBody>
                  <a:tcPr/>
                </a:tc>
              </a:tr>
              <a:tr h="594360">
                <a:tc>
                  <a:txBody>
                    <a:bodyPr wrap="square"/>
                    <a:lstStyle/>
                    <a:p>
                      <a:pPr algn="l"/>
                      <a:r>
                        <a:rPr sz="1100">
                          <a:solidFill>
                            <a:srgbClr val="EEEEEE"/>
                          </a:solidFill>
                        </a:rPr>
                        <a:t>—</a:t>
                      </a:r>
                    </a:p>
                  </a:txBody>
                  <a:tcPr>
                    <a:solidFill>
                      <a:srgbClr val="F8FAFC"/>
                    </a:solidFill>
                  </a:tcPr>
                </a:tc>
                <a:tc>
                  <a:txBody>
                    <a:bodyPr wrap="square"/>
                    <a:lstStyle/>
                    <a:p>
                      <a:pPr algn="l"/>
                      <a:r>
                        <a:rPr sz="1100">
                          <a:solidFill>
                            <a:srgbClr val="EEEEEE"/>
                          </a:solidFill>
                        </a:rPr>
                        <a:t>休憩</a:t>
                      </a:r>
                    </a:p>
                  </a:txBody>
                  <a:tcPr>
                    <a:solidFill>
                      <a:srgbClr val="F8FAFC"/>
                    </a:solidFill>
                  </a:tcPr>
                </a:tc>
                <a:tc>
                  <a:txBody>
                    <a:bodyPr wrap="square"/>
                    <a:lstStyle/>
                    <a:p>
                      <a:pPr algn="l"/>
                      <a:r>
                        <a:rPr sz="1100">
                          <a:solidFill>
                            <a:srgbClr val="EEEEEE"/>
                          </a:solidFill>
                        </a:rPr>
                        <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4</a:t>
                      </a:r>
                    </a:p>
                  </a:txBody>
                  <a:tcPr/>
                </a:tc>
                <a:tc>
                  <a:txBody>
                    <a:bodyPr wrap="square"/>
                    <a:lstStyle/>
                    <a:p>
                      <a:pPr algn="l"/>
                      <a:r>
                        <a:rPr sz="1100">
                          <a:solidFill>
                            <a:srgbClr val="EEEEEE"/>
                          </a:solidFill>
                        </a:rPr>
                        <a:t>応用ワーク</a:t>
                      </a:r>
                    </a:p>
                  </a:txBody>
                  <a:tcPr/>
                </a:tc>
                <a:tc>
                  <a:txBody>
                    <a:bodyPr wrap="square"/>
                    <a:lstStyle/>
                    <a:p>
                      <a:pPr algn="l"/>
                      <a:r>
                        <a:rPr sz="1100">
                          <a:solidFill>
                            <a:srgbClr val="EEEEEE"/>
                          </a:solidFill>
                        </a:rPr>
                        <a:t>CLAUDE.md作成・テンプレート化・自社業務試行</a:t>
                      </a:r>
                    </a:p>
                  </a:txBody>
                  <a:tcPr/>
                </a:tc>
                <a:tc>
                  <a:txBody>
                    <a:bodyPr wrap="square"/>
                    <a:lstStyle/>
                    <a:p>
                      <a:pPr algn="l"/>
                      <a:r>
                        <a:rPr sz="1100">
                          <a:solidFill>
                            <a:srgbClr val="EEEEEE"/>
                          </a:solidFill>
                        </a:rPr>
                        <a:t>40分</a:t>
                      </a:r>
                    </a:p>
                  </a:txBody>
                  <a:tcPr/>
                </a:tc>
              </a:tr>
              <a:tr h="594360">
                <a:tc>
                  <a:txBody>
                    <a:bodyPr wrap="square"/>
                    <a:lstStyle/>
                    <a:p>
                      <a:pPr algn="l"/>
                      <a:r>
                        <a:rPr sz="1100">
                          <a:solidFill>
                            <a:srgbClr val="EEEEEE"/>
                          </a:solidFill>
                        </a:rPr>
                        <a:t>5</a:t>
                      </a:r>
                    </a:p>
                  </a:txBody>
                  <a:tcPr>
                    <a:solidFill>
                      <a:srgbClr val="F8FAFC"/>
                    </a:solidFill>
                  </a:tcPr>
                </a:tc>
                <a:tc>
                  <a:txBody>
                    <a:bodyPr wrap="square"/>
                    <a:lstStyle/>
                    <a:p>
                      <a:pPr algn="l"/>
                      <a:r>
                        <a:rPr sz="1100">
                          <a:solidFill>
                            <a:srgbClr val="EEEEEE"/>
                          </a:solidFill>
                        </a:rPr>
                        <a:t>まとめ・Q&amp;A</a:t>
                      </a:r>
                    </a:p>
                  </a:txBody>
                  <a:tcPr>
                    <a:solidFill>
                      <a:srgbClr val="F8FAFC"/>
                    </a:solidFill>
                  </a:tcPr>
                </a:tc>
                <a:tc>
                  <a:txBody>
                    <a:bodyPr wrap="square"/>
                    <a:lstStyle/>
                    <a:p>
                      <a:pPr algn="l"/>
                      <a:r>
                        <a:rPr sz="1100">
                          <a:solidFill>
                            <a:srgbClr val="EEEEEE"/>
                          </a:solidFill>
                        </a:rPr>
                        <a:t>伴走サービス紹介・質疑応答</a:t>
                      </a:r>
                    </a:p>
                  </a:txBody>
                  <a:tcPr>
                    <a:solidFill>
                      <a:srgbClr val="F8FAFC"/>
                    </a:solidFill>
                  </a:tcPr>
                </a:tc>
                <a:tc>
                  <a:txBody>
                    <a:bodyPr wrap="square"/>
                    <a:lstStyle/>
                    <a:p>
                      <a:pPr algn="l"/>
                      <a:r>
                        <a:rPr sz="1100">
                          <a:solidFill>
                            <a:srgbClr val="EEEEEE"/>
                          </a:solidFill>
                        </a:rPr>
                        <a:t>10分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C1C1C"/>
                    </a:solidFill>
                  </a:tcPr>
                </a:tc>
                <a:tc>
                  <a:txBody>
                    <a:bodyPr wrap="square"/>
                    <a:lstStyle/>
                    <a:p>
                      <a:pPr algn="ctr"/>
                      <a:r>
                        <a:rPr b="1" sz="1200">
                          <a:solidFill>
                            <a:srgbClr val="FFFFFF"/>
                          </a:solidFill>
                        </a:rPr>
                        <a:t>対象</a:t>
                      </a:r>
                    </a:p>
                  </a:txBody>
                  <a:tcPr>
                    <a:solidFill>
                      <a:srgbClr val="1C1C1C"/>
                    </a:solidFill>
                  </a:tcPr>
                </a:tc>
                <a:tc>
                  <a:txBody>
                    <a:bodyPr wrap="square"/>
                    <a:lstStyle/>
                    <a:p>
                      <a:pPr algn="ctr"/>
                      <a:r>
                        <a:rPr b="1" sz="1200">
                          <a:solidFill>
                            <a:srgbClr val="FFFFFF"/>
                          </a:solidFill>
                        </a:rPr>
                        <a:t>主な用途</a:t>
                      </a:r>
                    </a:p>
                  </a:txBody>
                  <a:tcPr>
                    <a:solidFill>
                      <a:srgbClr val="1C1C1C"/>
                    </a:solidFill>
                  </a:tcPr>
                </a:tc>
                <a:tc>
                  <a:txBody>
                    <a:bodyPr wrap="square"/>
                    <a:lstStyle/>
                    <a:p>
                      <a:pPr algn="ctr"/>
                      <a:r>
                        <a:rPr b="1" sz="1200">
                          <a:solidFill>
                            <a:srgbClr val="FFFFFF"/>
                          </a:solidFill>
                        </a:rPr>
                        <a:t>代表ツール</a:t>
                      </a:r>
                    </a:p>
                  </a:txBody>
                  <a:tcPr>
                    <a:solidFill>
                      <a:srgbClr val="1C1C1C"/>
                    </a:solidFill>
                  </a:tcPr>
                </a:tc>
              </a:tr>
              <a:tr h="521208">
                <a:tc>
                  <a:txBody>
                    <a:bodyPr wrap="square"/>
                    <a:lstStyle/>
                    <a:p>
                      <a:pPr algn="l"/>
                      <a:r>
                        <a:rPr sz="1100">
                          <a:solidFill>
                            <a:srgbClr val="EEEEEE"/>
                          </a:solidFill>
                        </a:rPr>
                        <a:t>文書・テキスト</a:t>
                      </a:r>
                    </a:p>
                  </a:txBody>
                  <a:tcPr/>
                </a:tc>
                <a:tc>
                  <a:txBody>
                    <a:bodyPr wrap="square"/>
                    <a:lstStyle/>
                    <a:p>
                      <a:pPr algn="l"/>
                      <a:r>
                        <a:rPr sz="1100">
                          <a:solidFill>
                            <a:srgbClr val="EEEEEE"/>
                          </a:solidFill>
                        </a:rPr>
                        <a:t>全スタッフ</a:t>
                      </a:r>
                    </a:p>
                  </a:txBody>
                  <a:tcPr/>
                </a:tc>
                <a:tc>
                  <a:txBody>
                    <a:bodyPr wrap="square"/>
                    <a:lstStyle/>
                    <a:p>
                      <a:pPr algn="l"/>
                      <a:r>
                        <a:rPr sz="1100">
                          <a:solidFill>
                            <a:srgbClr val="EEEEEE"/>
                          </a:solidFill>
                        </a:rPr>
                        <a:t>メール・報告書・広報文</a:t>
                      </a:r>
                    </a:p>
                  </a:txBody>
                  <a:tcPr/>
                </a:tc>
                <a:tc>
                  <a:txBody>
                    <a:bodyPr wrap="square"/>
                    <a:lstStyle/>
                    <a:p>
                      <a:pPr algn="l"/>
                      <a:r>
                        <a:rPr sz="1100">
                          <a:solidFill>
                            <a:srgbClr val="EEEEEE"/>
                          </a:solidFill>
                        </a:rPr>
                        <a:t>ChatGPT / Gemini / Claude</a:t>
                      </a:r>
                    </a:p>
                  </a:txBody>
                  <a:tcPr/>
                </a:tc>
              </a:tr>
              <a:tr h="521208">
                <a:tc>
                  <a:txBody>
                    <a:bodyPr wrap="square"/>
                    <a:lstStyle/>
                    <a:p>
                      <a:pPr algn="l"/>
                      <a:r>
                        <a:rPr sz="1100">
                          <a:solidFill>
                            <a:srgbClr val="EEEEEE"/>
                          </a:solidFill>
                        </a:rPr>
                        <a:t>画像・ビジュアル</a:t>
                      </a:r>
                    </a:p>
                  </a:txBody>
                  <a:tcPr>
                    <a:solidFill>
                      <a:srgbClr val="F8FAFC"/>
                    </a:solidFill>
                  </a:tcPr>
                </a:tc>
                <a:tc>
                  <a:txBody>
                    <a:bodyPr wrap="square"/>
                    <a:lstStyle/>
                    <a:p>
                      <a:pPr algn="l"/>
                      <a:r>
                        <a:rPr sz="1100">
                          <a:solidFill>
                            <a:srgbClr val="EEEEEE"/>
                          </a:solidFill>
                        </a:rPr>
                        <a:t>広報・SNS担当</a:t>
                      </a:r>
                    </a:p>
                  </a:txBody>
                  <a:tcPr>
                    <a:solidFill>
                      <a:srgbClr val="F8FAFC"/>
                    </a:solidFill>
                  </a:tcPr>
                </a:tc>
                <a:tc>
                  <a:txBody>
                    <a:bodyPr wrap="square"/>
                    <a:lstStyle/>
                    <a:p>
                      <a:pPr algn="l"/>
                      <a:r>
                        <a:rPr sz="1100">
                          <a:solidFill>
                            <a:srgbClr val="EEEEEE"/>
                          </a:solidFill>
                        </a:rPr>
                        <a:t>SNS画像・チラシ</a:t>
                      </a:r>
                    </a:p>
                  </a:txBody>
                  <a:tcPr>
                    <a:solidFill>
                      <a:srgbClr val="F8FAFC"/>
                    </a:solidFill>
                  </a:tcPr>
                </a:tc>
                <a:tc>
                  <a:txBody>
                    <a:bodyPr wrap="square"/>
                    <a:lstStyle/>
                    <a:p>
                      <a:pPr algn="l"/>
                      <a:r>
                        <a:rPr sz="1100">
                          <a:solidFill>
                            <a:srgbClr val="EEEEEE"/>
                          </a:solidFill>
                        </a:rPr>
                        <a:t>Canva / Firefly</a:t>
                      </a:r>
                    </a:p>
                  </a:txBody>
                  <a:tcPr>
                    <a:solidFill>
                      <a:srgbClr val="F8FAFC"/>
                    </a:solidFill>
                  </a:tcPr>
                </a:tc>
              </a:tr>
              <a:tr h="521208">
                <a:tc>
                  <a:txBody>
                    <a:bodyPr wrap="square"/>
                    <a:lstStyle/>
                    <a:p>
                      <a:pPr algn="l"/>
                      <a:r>
                        <a:rPr sz="1100">
                          <a:solidFill>
                            <a:srgbClr val="EEEEEE"/>
                          </a:solidFill>
                        </a:rPr>
                        <a:t>動画・映像</a:t>
                      </a:r>
                    </a:p>
                  </a:txBody>
                  <a:tcPr/>
                </a:tc>
                <a:tc>
                  <a:txBody>
                    <a:bodyPr wrap="square"/>
                    <a:lstStyle/>
                    <a:p>
                      <a:pPr algn="l"/>
                      <a:r>
                        <a:rPr sz="1100">
                          <a:solidFill>
                            <a:srgbClr val="EEEEEE"/>
                          </a:solidFill>
                        </a:rPr>
                        <a:t>広報・採用担当</a:t>
                      </a:r>
                    </a:p>
                  </a:txBody>
                  <a:tcPr/>
                </a:tc>
                <a:tc>
                  <a:txBody>
                    <a:bodyPr wrap="square"/>
                    <a:lstStyle/>
                    <a:p>
                      <a:pPr algn="l"/>
                      <a:r>
                        <a:rPr sz="1100">
                          <a:solidFill>
                            <a:srgbClr val="EEEEEE"/>
                          </a:solidFill>
                        </a:rPr>
                        <a:t>SNS動画・採用動画</a:t>
                      </a:r>
                    </a:p>
                  </a:txBody>
                  <a:tcPr/>
                </a:tc>
                <a:tc>
                  <a:txBody>
                    <a:bodyPr wrap="square"/>
                    <a:lstStyle/>
                    <a:p>
                      <a:pPr algn="l"/>
                      <a:r>
                        <a:rPr sz="1100">
                          <a:solidFill>
                            <a:srgbClr val="EEEEEE"/>
                          </a:solidFill>
                        </a:rPr>
                        <a:t>CapCut / Canva</a:t>
                      </a:r>
                    </a:p>
                  </a:txBody>
                  <a:tcPr/>
                </a:tc>
              </a:tr>
              <a:tr h="521208">
                <a:tc>
                  <a:txBody>
                    <a:bodyPr wrap="square"/>
                    <a:lstStyle/>
                    <a:p>
                      <a:pPr algn="l"/>
                      <a:r>
                        <a:rPr sz="1100">
                          <a:solidFill>
                            <a:srgbClr val="EEEEEE"/>
                          </a:solidFill>
                        </a:rPr>
                        <a:t>自動化・開発 ← ここ</a:t>
                      </a:r>
                    </a:p>
                  </a:txBody>
                  <a:tcPr>
                    <a:solidFill>
                      <a:srgbClr val="F8FAFC"/>
                    </a:solidFill>
                  </a:tcPr>
                </a:tc>
                <a:tc>
                  <a:txBody>
                    <a:bodyPr wrap="square"/>
                    <a:lstStyle/>
                    <a:p>
                      <a:pPr algn="l"/>
                      <a:r>
                        <a:rPr sz="1100">
                          <a:solidFill>
                            <a:srgbClr val="EEEEEE"/>
                          </a:solidFill>
                        </a:rPr>
                        <a:t>経営者・業務改善担当</a:t>
                      </a:r>
                    </a:p>
                  </a:txBody>
                  <a:tcPr>
                    <a:solidFill>
                      <a:srgbClr val="F8FAFC"/>
                    </a:solidFill>
                  </a:tcPr>
                </a:tc>
                <a:tc>
                  <a:txBody>
                    <a:bodyPr wrap="square"/>
                    <a:lstStyle/>
                    <a:p>
                      <a:pPr algn="l"/>
                      <a:r>
                        <a:rPr sz="1100">
                          <a:solidFill>
                            <a:srgbClr val="EEEEEE"/>
                          </a:solidFill>
                        </a:rPr>
                        <a:t>繰り返し作業の自動化・仕組み化</a:t>
                      </a:r>
                    </a:p>
                  </a:txBody>
                  <a:tcPr>
                    <a:solidFill>
                      <a:srgbClr val="F8FAFC"/>
                    </a:solidFill>
                  </a:tcPr>
                </a:tc>
                <a:tc>
                  <a:txBody>
                    <a:bodyPr wrap="square"/>
                    <a:lstStyle/>
                    <a:p>
                      <a:pPr algn="l"/>
                      <a:r>
                        <a:rPr sz="1100">
                          <a:solidFill>
                            <a:srgbClr val="EEEEEE"/>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EEEEEE"/>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a:tblGrid>
                <a:gridCol w="1481328"/>
                <a:gridCol w="3374136"/>
                <a:gridCol w="3374136"/>
              </a:tblGrid>
              <a:tr h="576072">
                <a:tc>
                  <a:txBody>
                    <a:bodyPr wrap="square"/>
                    <a:lstStyle/>
                    <a:p>
                      <a:pPr algn="ctr"/>
                      <a:r>
                        <a:rPr b="1" sz="1200">
                          <a:solidFill>
                            <a:srgbClr val="FFFFFF"/>
                          </a:solidFill>
                        </a:rPr>
                        <a:t/>
                      </a:r>
                    </a:p>
                  </a:txBody>
                  <a:tcPr>
                    <a:solidFill>
                      <a:srgbClr val="1C1C1C"/>
                    </a:solidFill>
                  </a:tcPr>
                </a:tc>
                <a:tc>
                  <a:txBody>
                    <a:bodyPr wrap="square"/>
                    <a:lstStyle/>
                    <a:p>
                      <a:pPr algn="ctr"/>
                      <a:r>
                        <a:rPr b="1" sz="1200">
                          <a:solidFill>
                            <a:srgbClr val="FFFFFF"/>
                          </a:solidFill>
                        </a:rPr>
                        <a:t>Claude（claude.ai）</a:t>
                      </a:r>
                    </a:p>
                  </a:txBody>
                  <a:tcPr>
                    <a:solidFill>
                      <a:srgbClr val="1C1C1C"/>
                    </a:solidFill>
                  </a:tcPr>
                </a:tc>
                <a:tc>
                  <a:txBody>
                    <a:bodyPr wrap="square"/>
                    <a:lstStyle/>
                    <a:p>
                      <a:pPr algn="ctr"/>
                      <a:r>
                        <a:rPr b="1" sz="1200">
                          <a:solidFill>
                            <a:srgbClr val="FFFFFF"/>
                          </a:solidFill>
                        </a:rPr>
                        <a:t>Claude Code</a:t>
                      </a:r>
                    </a:p>
                  </a:txBody>
                  <a:tcPr>
                    <a:solidFill>
                      <a:srgbClr val="1C1C1C"/>
                    </a:solidFill>
                  </a:tcPr>
                </a:tc>
              </a:tr>
              <a:tr h="576072">
                <a:tc>
                  <a:txBody>
                    <a:bodyPr wrap="square"/>
                    <a:lstStyle/>
                    <a:p>
                      <a:pPr algn="l"/>
                      <a:r>
                        <a:rPr sz="1100">
                          <a:solidFill>
                            <a:srgbClr val="EEEEEE"/>
                          </a:solidFill>
                        </a:rPr>
                        <a:t>種類</a:t>
                      </a:r>
                    </a:p>
                  </a:txBody>
                  <a:tcPr/>
                </a:tc>
                <a:tc>
                  <a:txBody>
                    <a:bodyPr wrap="square"/>
                    <a:lstStyle/>
                    <a:p>
                      <a:pPr algn="l"/>
                      <a:r>
                        <a:rPr sz="1100">
                          <a:solidFill>
                            <a:srgbClr val="EEEEEE"/>
                          </a:solidFill>
                        </a:rPr>
                        <a:t>会話型AI</a:t>
                      </a:r>
                    </a:p>
                  </a:txBody>
                  <a:tcPr/>
                </a:tc>
                <a:tc>
                  <a:txBody>
                    <a:bodyPr wrap="square"/>
                    <a:lstStyle/>
                    <a:p>
                      <a:pPr algn="l"/>
                      <a:r>
                        <a:rPr sz="1100">
                          <a:solidFill>
                            <a:srgbClr val="EEEEEE"/>
                          </a:solidFill>
                        </a:rPr>
                        <a:t>AIエージェント</a:t>
                      </a:r>
                    </a:p>
                  </a:txBody>
                  <a:tcPr/>
                </a:tc>
              </a:tr>
              <a:tr h="576072">
                <a:tc>
                  <a:txBody>
                    <a:bodyPr wrap="square"/>
                    <a:lstStyle/>
                    <a:p>
                      <a:pPr algn="l"/>
                      <a:r>
                        <a:rPr sz="1100">
                          <a:solidFill>
                            <a:srgbClr val="EEEEEE"/>
                          </a:solidFill>
                        </a:rPr>
                        <a:t>使い方</a:t>
                      </a:r>
                    </a:p>
                  </a:txBody>
                  <a:tcPr>
                    <a:solidFill>
                      <a:srgbClr val="F8FAFC"/>
                    </a:solidFill>
                  </a:tcPr>
                </a:tc>
                <a:tc>
                  <a:txBody>
                    <a:bodyPr wrap="square"/>
                    <a:lstStyle/>
                    <a:p>
                      <a:pPr algn="l"/>
                      <a:r>
                        <a:rPr sz="1100">
                          <a:solidFill>
                            <a:srgbClr val="EEEEEE"/>
                          </a:solidFill>
                        </a:rPr>
                        <a:t>ブラウザでチャット</a:t>
                      </a:r>
                    </a:p>
                  </a:txBody>
                  <a:tcPr>
                    <a:solidFill>
                      <a:srgbClr val="F8FAFC"/>
                    </a:solidFill>
                  </a:tcPr>
                </a:tc>
                <a:tc>
                  <a:txBody>
                    <a:bodyPr wrap="square"/>
                    <a:lstStyle/>
                    <a:p>
                      <a:pPr algn="l"/>
                      <a:r>
                        <a:rPr sz="1100">
                          <a:solidFill>
                            <a:srgbClr val="EEEEEE"/>
                          </a:solidFill>
                        </a:rPr>
                        <a:t>デスクトップアプリ</a:t>
                      </a:r>
                    </a:p>
                  </a:txBody>
                  <a:tcPr>
                    <a:solidFill>
                      <a:srgbClr val="F8FAFC"/>
                    </a:solidFill>
                  </a:tcPr>
                </a:tc>
              </a:tr>
              <a:tr h="576072">
                <a:tc>
                  <a:txBody>
                    <a:bodyPr wrap="square"/>
                    <a:lstStyle/>
                    <a:p>
                      <a:pPr algn="l"/>
                      <a:r>
                        <a:rPr sz="1100">
                          <a:solidFill>
                            <a:srgbClr val="EEEEEE"/>
                          </a:solidFill>
                        </a:rPr>
                        <a:t>できること</a:t>
                      </a:r>
                    </a:p>
                  </a:txBody>
                  <a:tcPr/>
                </a:tc>
                <a:tc>
                  <a:txBody>
                    <a:bodyPr wrap="square"/>
                    <a:lstStyle/>
                    <a:p>
                      <a:pPr algn="l"/>
                      <a:r>
                        <a:rPr sz="1100">
                          <a:solidFill>
                            <a:srgbClr val="EEEEEE"/>
                          </a:solidFill>
                        </a:rPr>
                        <a:t>答える・書く・提案する</a:t>
                      </a:r>
                    </a:p>
                  </a:txBody>
                  <a:tcPr/>
                </a:tc>
                <a:tc>
                  <a:txBody>
                    <a:bodyPr wrap="square"/>
                    <a:lstStyle/>
                    <a:p>
                      <a:pPr algn="l"/>
                      <a:r>
                        <a:rPr sz="1100">
                          <a:solidFill>
                            <a:srgbClr val="EEEEEE"/>
                          </a:solidFill>
                        </a:rPr>
                        <a:t>ファイルを作る・動かす・整理する</a:t>
                      </a:r>
                    </a:p>
                  </a:txBody>
                  <a:tcPr/>
                </a:tc>
              </a:tr>
              <a:tr h="576072">
                <a:tc>
                  <a:txBody>
                    <a:bodyPr wrap="square"/>
                    <a:lstStyle/>
                    <a:p>
                      <a:pPr algn="l"/>
                      <a:r>
                        <a:rPr sz="1100">
                          <a:solidFill>
                            <a:srgbClr val="EEEEEE"/>
                          </a:solidFill>
                        </a:rPr>
                        <a:t>イメージ</a:t>
                      </a:r>
                    </a:p>
                  </a:txBody>
                  <a:tcPr>
                    <a:solidFill>
                      <a:srgbClr val="F8FAFC"/>
                    </a:solidFill>
                  </a:tcPr>
                </a:tc>
                <a:tc>
                  <a:txBody>
                    <a:bodyPr wrap="square"/>
                    <a:lstStyle/>
                    <a:p>
                      <a:pPr algn="l"/>
                      <a:r>
                        <a:rPr sz="1100">
                          <a:solidFill>
                            <a:srgbClr val="EEEEEE"/>
                          </a:solidFill>
                        </a:rPr>
                        <a:t>優秀な相談相手</a:t>
                      </a:r>
                    </a:p>
                  </a:txBody>
                  <a:tcPr>
                    <a:solidFill>
                      <a:srgbClr val="F8FAFC"/>
                    </a:solidFill>
                  </a:tcPr>
                </a:tc>
                <a:tc>
                  <a:txBody>
                    <a:bodyPr wrap="square"/>
                    <a:lstStyle/>
                    <a:p>
                      <a:pPr algn="l"/>
                      <a:r>
                        <a:rPr sz="1100">
                          <a:solidFill>
                            <a:srgbClr val="EEEEEE"/>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EEEEEE"/>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a:tblGrid>
                <a:gridCol w="3456432"/>
                <a:gridCol w="4773168"/>
              </a:tblGrid>
              <a:tr h="525780">
                <a:tc>
                  <a:txBody>
                    <a:bodyPr wrap="square"/>
                    <a:lstStyle/>
                    <a:p>
                      <a:pPr algn="ctr"/>
                      <a:r>
                        <a:rPr b="1" sz="1200">
                          <a:solidFill>
                            <a:srgbClr val="FFFFFF"/>
                          </a:solidFill>
                        </a:rPr>
                        <a:t>できること</a:t>
                      </a:r>
                    </a:p>
                  </a:txBody>
                  <a:tcPr>
                    <a:solidFill>
                      <a:srgbClr val="1C1C1C"/>
                    </a:solidFill>
                  </a:tcPr>
                </a:tc>
                <a:tc>
                  <a:txBody>
                    <a:bodyPr wrap="square"/>
                    <a:lstStyle/>
                    <a:p>
                      <a:pPr algn="ctr"/>
                      <a:r>
                        <a:rPr b="1" sz="1200">
                          <a:solidFill>
                            <a:srgbClr val="FFFFFF"/>
                          </a:solidFill>
                        </a:rPr>
                        <a:t>できないこと</a:t>
                      </a:r>
                    </a:p>
                  </a:txBody>
                  <a:tcPr>
                    <a:solidFill>
                      <a:srgbClr val="1C1C1C"/>
                    </a:solidFill>
                  </a:tcPr>
                </a:tc>
              </a:tr>
              <a:tr h="525780">
                <a:tc>
                  <a:txBody>
                    <a:bodyPr wrap="square"/>
                    <a:lstStyle/>
                    <a:p>
                      <a:pPr algn="l"/>
                      <a:r>
                        <a:rPr sz="1100">
                          <a:solidFill>
                            <a:srgbClr val="EEEEEE"/>
                          </a:solidFill>
                        </a:rPr>
                        <a:t>ファイル・フォルダ操作</a:t>
                      </a:r>
                    </a:p>
                  </a:txBody>
                  <a:tcPr/>
                </a:tc>
                <a:tc>
                  <a:txBody>
                    <a:bodyPr wrap="square"/>
                    <a:lstStyle/>
                    <a:p>
                      <a:pPr algn="l"/>
                      <a:r>
                        <a:rPr sz="1100">
                          <a:solidFill>
                            <a:srgbClr val="EEEEEE"/>
                          </a:solidFill>
                        </a:rPr>
                        <a:t>ネット上の操作（注文・送信・フォーム入力など）</a:t>
                      </a:r>
                    </a:p>
                  </a:txBody>
                  <a:tcPr/>
                </a:tc>
              </a:tr>
              <a:tr h="525780">
                <a:tc>
                  <a:txBody>
                    <a:bodyPr wrap="square"/>
                    <a:lstStyle/>
                    <a:p>
                      <a:pPr algn="l"/>
                      <a:r>
                        <a:rPr sz="1100">
                          <a:solidFill>
                            <a:srgbClr val="EEEEEE"/>
                          </a:solidFill>
                        </a:rPr>
                        <a:t>CSV・データの整形・集計</a:t>
                      </a:r>
                    </a:p>
                  </a:txBody>
                  <a:tcPr>
                    <a:solidFill>
                      <a:srgbClr val="F8FAFC"/>
                    </a:solidFill>
                  </a:tcPr>
                </a:tc>
                <a:tc>
                  <a:txBody>
                    <a:bodyPr wrap="square"/>
                    <a:lstStyle/>
                    <a:p>
                      <a:pPr algn="l"/>
                      <a:r>
                        <a:rPr sz="1100">
                          <a:solidFill>
                            <a:srgbClr val="EEEEEE"/>
                          </a:solidFill>
                        </a:rPr>
                        <a:t>完全な自動実行（毎回指示は必要）</a:t>
                      </a:r>
                    </a:p>
                  </a:txBody>
                  <a:tcPr>
                    <a:solidFill>
                      <a:srgbClr val="F8FAFC"/>
                    </a:solidFill>
                  </a:tcPr>
                </a:tc>
              </a:tr>
              <a:tr h="525780">
                <a:tc>
                  <a:txBody>
                    <a:bodyPr wrap="square"/>
                    <a:lstStyle/>
                    <a:p>
                      <a:pPr algn="l"/>
                      <a:r>
                        <a:rPr sz="1100">
                          <a:solidFill>
                            <a:srgbClr val="EEEEEE"/>
                          </a:solidFill>
                        </a:rPr>
                        <a:t>定型文書の一括生成</a:t>
                      </a:r>
                    </a:p>
                  </a:txBody>
                  <a:tcPr/>
                </a:tc>
                <a:tc>
                  <a:txBody>
                    <a:bodyPr wrap="square"/>
                    <a:lstStyle/>
                    <a:p>
                      <a:pPr algn="l"/>
                      <a:r>
                        <a:rPr sz="1100">
                          <a:solidFill>
                            <a:srgbClr val="EEEEEE"/>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EEEEEE"/>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a:tblGrid>
                <a:gridCol w="2880360"/>
                <a:gridCol w="5349240"/>
              </a:tblGrid>
              <a:tr h="365760">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詳細</a:t>
                      </a:r>
                    </a:p>
                  </a:txBody>
                  <a:tcPr>
                    <a:solidFill>
                      <a:srgbClr val="1C1C1C"/>
                    </a:solidFill>
                  </a:tcPr>
                </a:tc>
              </a:tr>
              <a:tr h="365760">
                <a:tc>
                  <a:txBody>
                    <a:bodyPr wrap="square"/>
                    <a:lstStyle/>
                    <a:p>
                      <a:pPr algn="l"/>
                      <a:r>
                        <a:rPr sz="1100">
                          <a:solidFill>
                            <a:srgbClr val="EEEEEE"/>
                          </a:solidFill>
                        </a:rPr>
                        <a:t>PC（Windows / Mac）</a:t>
                      </a:r>
                    </a:p>
                  </a:txBody>
                  <a:tcPr/>
                </a:tc>
                <a:tc>
                  <a:txBody>
                    <a:bodyPr wrap="square"/>
                    <a:lstStyle/>
                    <a:p>
                      <a:pPr algn="l"/>
                      <a:r>
                        <a:rPr sz="1100">
                          <a:solidFill>
                            <a:srgbClr val="EEEEEE"/>
                          </a:solidFill>
                        </a:rPr>
                        <a:t>タブレット・スマホは不可</a:t>
                      </a:r>
                    </a:p>
                  </a:txBody>
                  <a:tcPr/>
                </a:tc>
              </a:tr>
              <a:tr h="365760">
                <a:tc>
                  <a:txBody>
                    <a:bodyPr wrap="square"/>
                    <a:lstStyle/>
                    <a:p>
                      <a:pPr algn="l"/>
                      <a:r>
                        <a:rPr sz="1100">
                          <a:solidFill>
                            <a:srgbClr val="EEEEEE"/>
                          </a:solidFill>
                        </a:rPr>
                        <a:t>Claude Code デスクトップ版</a:t>
                      </a:r>
                    </a:p>
                  </a:txBody>
                  <a:tcPr>
                    <a:solidFill>
                      <a:srgbClr val="F8FAFC"/>
                    </a:solidFill>
                  </a:tcPr>
                </a:tc>
                <a:tc>
                  <a:txBody>
                    <a:bodyPr wrap="square"/>
                    <a:lstStyle/>
                    <a:p>
                      <a:pPr algn="l"/>
                      <a:r>
                        <a:rPr sz="1100">
                          <a:solidFill>
                            <a:srgbClr val="EEEEEE"/>
                          </a:solidFill>
                        </a:rPr>
                        <a:t>無料インストール（claude.ai/download）</a:t>
                      </a:r>
                    </a:p>
                  </a:txBody>
                  <a:tcPr>
                    <a:solidFill>
                      <a:srgbClr val="F8FAFC"/>
                    </a:solidFill>
                  </a:tcPr>
                </a:tc>
              </a:tr>
              <a:tr h="365760">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a:tblGrid>
                <a:gridCol w="2304288"/>
                <a:gridCol w="2633472"/>
                <a:gridCol w="3291840"/>
              </a:tblGrid>
              <a:tr h="670560">
                <a:tc>
                  <a:txBody>
                    <a:bodyPr wrap="square"/>
                    <a:lstStyle/>
                    <a:p>
                      <a:pPr algn="ctr"/>
                      <a:r>
                        <a:rPr b="1" sz="1200">
                          <a:solidFill>
                            <a:srgbClr val="FFFFFF"/>
                          </a:solidFill>
                        </a:rPr>
                        <a:t>用途</a:t>
                      </a:r>
                    </a:p>
                  </a:txBody>
                  <a:tcPr>
                    <a:solidFill>
                      <a:srgbClr val="1C1C1C"/>
                    </a:solidFill>
                  </a:tcPr>
                </a:tc>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例</a:t>
                      </a:r>
                    </a:p>
                  </a:txBody>
                  <a:tcPr>
                    <a:solidFill>
                      <a:srgbClr val="1C1C1C"/>
                    </a:solidFill>
                  </a:tcPr>
                </a:tc>
              </a:tr>
              <a:tr h="670560">
                <a:tc>
                  <a:txBody>
                    <a:bodyPr wrap="square"/>
                    <a:lstStyle/>
                    <a:p>
                      <a:pPr algn="l"/>
                      <a:r>
                        <a:rPr sz="1100">
                          <a:solidFill>
                            <a:srgbClr val="EEEEEE"/>
                          </a:solidFill>
                        </a:rPr>
                        <a:t>対話的利用（本日の研修）</a:t>
                      </a:r>
                    </a:p>
                  </a:txBody>
                  <a:tcPr/>
                </a:tc>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ファイル整理・CSV整形・文書生成</a:t>
                      </a:r>
                    </a:p>
                  </a:txBody>
                  <a:tcPr/>
                </a:tc>
              </a:tr>
              <a:tr h="670560">
                <a:tc>
                  <a:txBody>
                    <a:bodyPr wrap="square"/>
                    <a:lstStyle/>
                    <a:p>
                      <a:pPr algn="l"/>
                      <a:r>
                        <a:rPr sz="1100">
                          <a:solidFill>
                            <a:srgbClr val="EEEEEE"/>
                          </a:solidFill>
                        </a:rPr>
                        <a:t>開発・システム連携</a:t>
                      </a:r>
                    </a:p>
                  </a:txBody>
                  <a:tcPr>
                    <a:solidFill>
                      <a:srgbClr val="F8FAFC"/>
                    </a:solidFill>
                  </a:tcPr>
                </a:tc>
                <a:tc>
                  <a:txBody>
                    <a:bodyPr wrap="square"/>
                    <a:lstStyle/>
                    <a:p>
                      <a:pPr algn="l"/>
                      <a:r>
                        <a:rPr sz="1100">
                          <a:solidFill>
                            <a:srgbClr val="EEEEEE"/>
                          </a:solidFill>
                        </a:rPr>
                        <a:t>APIキー（別途従量課金）</a:t>
                      </a:r>
                    </a:p>
                  </a:txBody>
                  <a:tcPr>
                    <a:solidFill>
                      <a:srgbClr val="F8FAFC"/>
                    </a:solidFill>
                  </a:tcPr>
                </a:tc>
                <a:tc>
                  <a:txBody>
                    <a:bodyPr wrap="square"/>
                    <a:lstStyle/>
                    <a:p>
                      <a:pPr algn="l"/>
                      <a:r>
                        <a:rPr sz="1100">
                          <a:solidFill>
                            <a:srgbClr val="EEEEEE"/>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EEEEEE"/>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[約3分]</a:t>
            </a:r>
          </a:p>
        </p:txBody>
      </p:sp>
      <p:sp>
        <p:nvSpPr>
          <p:cNvPr id="5" name="Rectangle 4"/>
          <p:cNvSpPr/>
          <p:nvPr/>
        </p:nvSpPr>
        <p:spPr>
          <a:xfrm>
            <a:off x="457200" y="77724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EEEEEE"/>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EEEEEE"/>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C1C1C"/>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a:tblGrid>
                <a:gridCol w="2304288"/>
                <a:gridCol w="5925312"/>
              </a:tblGrid>
              <a:tr h="640080">
                <a:tc>
                  <a:txBody>
                    <a:bodyPr wrap="square"/>
                    <a:lstStyle/>
                    <a:p>
                      <a:pPr algn="ctr"/>
                      <a:r>
                        <a:rPr b="1" sz="1200">
                          <a:solidFill>
                            <a:srgbClr val="FFFFFF"/>
                          </a:solidFill>
                        </a:rPr>
                        <a:t>ユースケース</a:t>
                      </a:r>
                    </a:p>
                  </a:txBody>
                  <a:tcPr>
                    <a:solidFill>
                      <a:srgbClr val="1C1C1C"/>
                    </a:solidFill>
                  </a:tcPr>
                </a:tc>
                <a:tc>
                  <a:txBody>
                    <a:bodyPr wrap="square"/>
                    <a:lstStyle/>
                    <a:p>
                      <a:pPr algn="ctr"/>
                      <a:r>
                        <a:rPr b="1" sz="1200">
                          <a:solidFill>
                            <a:srgbClr val="FFFFFF"/>
                          </a:solidFill>
                        </a:rPr>
                        <a:t>指示例</a:t>
                      </a:r>
                    </a:p>
                  </a:txBody>
                  <a:tcPr>
                    <a:solidFill>
                      <a:srgbClr val="1C1C1C"/>
                    </a:solidFill>
                  </a:tcPr>
                </a:tc>
              </a:tr>
              <a:tr h="640080">
                <a:tc>
                  <a:txBody>
                    <a:bodyPr wrap="square"/>
                    <a:lstStyle/>
                    <a:p>
                      <a:pPr algn="l"/>
                      <a:r>
                        <a:rPr sz="1100">
                          <a:solidFill>
                            <a:srgbClr val="EEEEEE"/>
                          </a:solidFill>
                        </a:rPr>
                        <a:t>② CSV・データ整形</a:t>
                      </a:r>
                    </a:p>
                  </a:txBody>
                  <a:tcPr/>
                </a:tc>
                <a:tc>
                  <a:txBody>
                    <a:bodyPr wrap="square"/>
                    <a:lstStyle/>
                    <a:p>
                      <a:pPr algn="l"/>
                      <a:r>
                        <a:rPr sz="1100">
                          <a:solidFill>
                            <a:srgbClr val="EEEEEE"/>
                          </a:solidFill>
                        </a:rPr>
                        <a:t>「顧客リストから氏名・メールを抜き出して50音順に並べ直して」</a:t>
                      </a:r>
                    </a:p>
                  </a:txBody>
                  <a:tcPr/>
                </a:tc>
              </a:tr>
              <a:tr h="640080">
                <a:tc>
                  <a:txBody>
                    <a:bodyPr wrap="square"/>
                    <a:lstStyle/>
                    <a:p>
                      <a:pPr algn="l"/>
                      <a:r>
                        <a:rPr sz="1100">
                          <a:solidFill>
                            <a:srgbClr val="EEEEEE"/>
                          </a:solidFill>
                        </a:rPr>
                        <a:t>③ 定型文書の一括生成</a:t>
                      </a:r>
                    </a:p>
                  </a:txBody>
                  <a:tcPr>
                    <a:solidFill>
                      <a:srgbClr val="F8FAFC"/>
                    </a:solidFill>
                  </a:tcPr>
                </a:tc>
                <a:tc>
                  <a:txBody>
                    <a:bodyPr wrap="square"/>
                    <a:lstStyle/>
                    <a:p>
                      <a:pPr algn="l"/>
                      <a:r>
                        <a:rPr sz="1100">
                          <a:solidFill>
                            <a:srgbClr val="EEEEEE"/>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C1C1C"/>
                </a:solidFill>
              </a:rPr>
              <a:t>3つのユースケースで共通していること</a:t>
            </a:r>
          </a:p>
        </p:txBody>
      </p:sp>
      <p:sp>
        <p:nvSpPr>
          <p:cNvPr id="7" name="Rectangle 6"/>
          <p:cNvSpPr/>
          <p:nvPr/>
        </p:nvSpPr>
        <p:spPr>
          <a:xfrm>
            <a:off x="457200" y="336499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EEEEEE"/>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a:tblGrid>
                <a:gridCol w="1645920"/>
                <a:gridCol w="4279392"/>
                <a:gridCol w="2304288"/>
              </a:tblGrid>
              <a:tr h="749807">
                <a:tc>
                  <a:txBody>
                    <a:bodyPr wrap="square"/>
                    <a:lstStyle/>
                    <a:p>
                      <a:pPr algn="ctr"/>
                      <a:r>
                        <a:rPr b="1" sz="1200">
                          <a:solidFill>
                            <a:srgbClr val="FFFFFF"/>
                          </a:solidFill>
                        </a:rPr>
                        <a:t>Step</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詰まったら</a:t>
                      </a:r>
                    </a:p>
                  </a:txBody>
                  <a:tcPr>
                    <a:solidFill>
                      <a:srgbClr val="1C1C1C"/>
                    </a:solidFill>
                  </a:tcPr>
                </a:tc>
              </a:tr>
              <a:tr h="749807">
                <a:tc>
                  <a:txBody>
                    <a:bodyPr wrap="square"/>
                    <a:lstStyle/>
                    <a:p>
                      <a:pPr algn="l"/>
                      <a:r>
                        <a:rPr sz="1100">
                          <a:solidFill>
                            <a:srgbClr val="EEEEEE"/>
                          </a:solidFill>
                        </a:rPr>
                        <a:t>1 起動</a:t>
                      </a:r>
                    </a:p>
                  </a:txBody>
                  <a:tcPr/>
                </a:tc>
                <a:tc>
                  <a:txBody>
                    <a:bodyPr wrap="square"/>
                    <a:lstStyle/>
                    <a:p>
                      <a:pPr algn="l"/>
                      <a:r>
                        <a:rPr sz="1100">
                          <a:solidFill>
                            <a:srgbClr val="EEEEEE"/>
                          </a:solidFill>
                        </a:rPr>
                        <a:t>Claude Codeデスクトップ版を起動（未インストールの場合はその場でインストール）</a:t>
                      </a:r>
                    </a:p>
                  </a:txBody>
                  <a:tcPr/>
                </a:tc>
                <a:tc>
                  <a:txBody>
                    <a:bodyPr wrap="square"/>
                    <a:lstStyle/>
                    <a:p>
                      <a:pPr algn="l"/>
                      <a:r>
                        <a:rPr sz="1100">
                          <a:solidFill>
                            <a:srgbClr val="EEEEEE"/>
                          </a:solidFill>
                        </a:rPr>
                        <a:t>講師が個別サポート</a:t>
                      </a:r>
                    </a:p>
                  </a:txBody>
                  <a:tcPr/>
                </a:tc>
              </a:tr>
              <a:tr h="749807">
                <a:tc>
                  <a:txBody>
                    <a:bodyPr wrap="square"/>
                    <a:lstStyle/>
                    <a:p>
                      <a:pPr algn="l"/>
                      <a:r>
                        <a:rPr sz="1100">
                          <a:solidFill>
                            <a:srgbClr val="EEEEEE"/>
                          </a:solidFill>
                        </a:rPr>
                        <a:t>2 サインイン</a:t>
                      </a:r>
                    </a:p>
                  </a:txBody>
                  <a:tcPr>
                    <a:solidFill>
                      <a:srgbClr val="F8FAFC"/>
                    </a:solidFill>
                  </a:tcPr>
                </a:tc>
                <a:tc>
                  <a:txBody>
                    <a:bodyPr wrap="square"/>
                    <a:lstStyle/>
                    <a:p>
                      <a:pPr algn="l"/>
                      <a:r>
                        <a:rPr sz="1100">
                          <a:solidFill>
                            <a:srgbClr val="EEEEEE"/>
                          </a:solidFill>
                        </a:rPr>
                        <a:t>AnthropicアカウントでGoogle または メールアドレスでログイン</a:t>
                      </a:r>
                    </a:p>
                  </a:txBody>
                  <a:tcPr>
                    <a:solidFill>
                      <a:srgbClr val="F8FAFC"/>
                    </a:solidFill>
                  </a:tcPr>
                </a:tc>
                <a:tc>
                  <a:txBody>
                    <a:bodyPr wrap="square"/>
                    <a:lstStyle/>
                    <a:p>
                      <a:pPr algn="l"/>
                      <a:r>
                        <a:rPr sz="1100">
                          <a:solidFill>
                            <a:srgbClr val="EEEEEE"/>
                          </a:solidFill>
                        </a:rPr>
                        <a:t>アカウント未作成の場合は作成</a:t>
                      </a:r>
                    </a:p>
                  </a:txBody>
                  <a:tcPr>
                    <a:solidFill>
                      <a:srgbClr val="F8FAFC"/>
                    </a:solidFill>
                  </a:tcPr>
                </a:tc>
              </a:tr>
              <a:tr h="749807">
                <a:tc>
                  <a:txBody>
                    <a:bodyPr wrap="square"/>
                    <a:lstStyle/>
                    <a:p>
                      <a:pPr algn="l"/>
                      <a:r>
                        <a:rPr sz="1100">
                          <a:solidFill>
                            <a:srgbClr val="EEEEEE"/>
                          </a:solidFill>
                        </a:rPr>
                        <a:t>3 Proプラン確認</a:t>
                      </a:r>
                    </a:p>
                  </a:txBody>
                  <a:tcPr/>
                </a:tc>
                <a:tc>
                  <a:txBody>
                    <a:bodyPr wrap="square"/>
                    <a:lstStyle/>
                    <a:p>
                      <a:pPr algn="l"/>
                      <a:r>
                        <a:rPr sz="1100">
                          <a:solidFill>
                            <a:srgbClr val="EEEEEE"/>
                          </a:solidFill>
                        </a:rPr>
                        <a:t>設定画面またはプラン情報でProプラン以上が有効か確認</a:t>
                      </a:r>
                    </a:p>
                  </a:txBody>
                  <a:tcPr/>
                </a:tc>
                <a:tc>
                  <a:txBody>
                    <a:bodyPr wrap="square"/>
                    <a:lstStyle/>
                    <a:p>
                      <a:pPr algn="l"/>
                      <a:r>
                        <a:rPr sz="1100">
                          <a:solidFill>
                            <a:srgbClr val="EEEEEE"/>
                          </a:solidFill>
                        </a:rPr>
                        <a:t>未加入の場合は当日申し込み</a:t>
                      </a:r>
                    </a:p>
                  </a:txBody>
                  <a:tcPr/>
                </a:tc>
              </a:tr>
              <a:tr h="749811">
                <a:tc>
                  <a:txBody>
                    <a:bodyPr wrap="square"/>
                    <a:lstStyle/>
                    <a:p>
                      <a:pPr algn="l"/>
                      <a:r>
                        <a:rPr sz="1100">
                          <a:solidFill>
                            <a:srgbClr val="EEEEEE"/>
                          </a:solidFill>
                        </a:rPr>
                        <a:t>4 動作テスト</a:t>
                      </a:r>
                    </a:p>
                  </a:txBody>
                  <a:tcPr>
                    <a:solidFill>
                      <a:srgbClr val="F8FAFC"/>
                    </a:solidFill>
                  </a:tcPr>
                </a:tc>
                <a:tc>
                  <a:txBody>
                    <a:bodyPr wrap="square"/>
                    <a:lstStyle/>
                    <a:p>
                      <a:pPr algn="l"/>
                      <a:r>
                        <a:rPr sz="1100">
                          <a:solidFill>
                            <a:srgbClr val="EEEEEE"/>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EEEEEE"/>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8A99A"/>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DA7756"/>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a:tblGrid>
                <a:gridCol w="2304288"/>
                <a:gridCol w="5925312"/>
              </a:tblGrid>
              <a:tr h="491490">
                <a:tc>
                  <a:txBody>
                    <a:bodyPr wrap="square"/>
                    <a:lstStyle/>
                    <a:p>
                      <a:pPr algn="ctr"/>
                      <a:r>
                        <a:rPr b="1" sz="1200">
                          <a:solidFill>
                            <a:srgbClr val="FFFFFF"/>
                          </a:solidFill>
                        </a:rPr>
                        <a:t>カテゴリ</a:t>
                      </a:r>
                    </a:p>
                  </a:txBody>
                  <a:tcPr>
                    <a:solidFill>
                      <a:srgbClr val="1C1C1C"/>
                    </a:solidFill>
                  </a:tcPr>
                </a:tc>
                <a:tc>
                  <a:txBody>
                    <a:bodyPr wrap="square"/>
                    <a:lstStyle/>
                    <a:p>
                      <a:pPr algn="ctr"/>
                      <a:r>
                        <a:rPr b="1" sz="1200">
                          <a:solidFill>
                            <a:srgbClr val="FFFFFF"/>
                          </a:solidFill>
                        </a:rPr>
                        <a:t>記載例</a:t>
                      </a:r>
                    </a:p>
                  </a:txBody>
                  <a:tcPr>
                    <a:solidFill>
                      <a:srgbClr val="1C1C1C"/>
                    </a:solidFill>
                  </a:tcPr>
                </a:tc>
              </a:tr>
              <a:tr h="491490">
                <a:tc>
                  <a:txBody>
                    <a:bodyPr wrap="square"/>
                    <a:lstStyle/>
                    <a:p>
                      <a:pPr algn="l"/>
                      <a:r>
                        <a:rPr sz="1100">
                          <a:solidFill>
                            <a:srgbClr val="EEEEEE"/>
                          </a:solidFill>
                        </a:rPr>
                        <a:t>事業者情報</a:t>
                      </a:r>
                    </a:p>
                  </a:txBody>
                  <a:tcPr/>
                </a:tc>
                <a:tc>
                  <a:txBody>
                    <a:bodyPr wrap="square"/>
                    <a:lstStyle/>
                    <a:p>
                      <a:pPr algn="l"/>
                      <a:r>
                        <a:rPr sz="1100">
                          <a:solidFill>
                            <a:srgbClr val="EEEEEE"/>
                          </a:solidFill>
                        </a:rPr>
                        <a:t>会社名・業種・拠点</a:t>
                      </a:r>
                    </a:p>
                  </a:txBody>
                  <a:tcPr/>
                </a:tc>
              </a:tr>
              <a:tr h="491490">
                <a:tc>
                  <a:txBody>
                    <a:bodyPr wrap="square"/>
                    <a:lstStyle/>
                    <a:p>
                      <a:pPr algn="l"/>
                      <a:r>
                        <a:rPr sz="1100">
                          <a:solidFill>
                            <a:srgbClr val="EEEEEE"/>
                          </a:solidFill>
                        </a:rPr>
                        <a:t>出力ルール</a:t>
                      </a:r>
                    </a:p>
                  </a:txBody>
                  <a:tcPr>
                    <a:solidFill>
                      <a:srgbClr val="F8FAFC"/>
                    </a:solidFill>
                  </a:tcPr>
                </a:tc>
                <a:tc>
                  <a:txBody>
                    <a:bodyPr wrap="square"/>
                    <a:lstStyle/>
                    <a:p>
                      <a:pPr algn="l"/>
                      <a:r>
                        <a:rPr sz="1100">
                          <a:solidFill>
                            <a:srgbClr val="EEEEEE"/>
                          </a:solidFill>
                        </a:rPr>
                        <a:t>「出力は必ず日本語で」「箇条書き優先」</a:t>
                      </a:r>
                    </a:p>
                  </a:txBody>
                  <a:tcPr>
                    <a:solidFill>
                      <a:srgbClr val="F8FAFC"/>
                    </a:solidFill>
                  </a:tcPr>
                </a:tc>
              </a:tr>
              <a:tr h="491490">
                <a:tc>
                  <a:txBody>
                    <a:bodyPr wrap="square"/>
                    <a:lstStyle/>
                    <a:p>
                      <a:pPr algn="l"/>
                      <a:r>
                        <a:rPr sz="1100">
                          <a:solidFill>
                            <a:srgbClr val="EEEEEE"/>
                          </a:solidFill>
                        </a:rPr>
                        <a:t>保存先</a:t>
                      </a:r>
                    </a:p>
                  </a:txBody>
                  <a:tcPr/>
                </a:tc>
                <a:tc>
                  <a:txBody>
                    <a:bodyPr wrap="square"/>
                    <a:lstStyle/>
                    <a:p>
                      <a:pPr algn="l"/>
                      <a:r>
                        <a:rPr sz="1100">
                          <a:solidFill>
                            <a:srgbClr val="EEEEEE"/>
                          </a:solidFill>
                        </a:rPr>
                        <a:t>「ファイルはDesktopに保存すること」</a:t>
                      </a:r>
                    </a:p>
                  </a:txBody>
                  <a:tcPr/>
                </a:tc>
              </a:tr>
              <a:tr h="491490">
                <a:tc>
                  <a:txBody>
                    <a:bodyPr wrap="square"/>
                    <a:lstStyle/>
                    <a:p>
                      <a:pPr algn="l"/>
                      <a:r>
                        <a:rPr sz="1100">
                          <a:solidFill>
                            <a:srgbClr val="EEEEEE"/>
                          </a:solidFill>
                        </a:rPr>
                        <a:t>禁止事項</a:t>
                      </a:r>
                    </a:p>
                  </a:txBody>
                  <a:tcPr>
                    <a:solidFill>
                      <a:srgbClr val="F8FAFC"/>
                    </a:solidFill>
                  </a:tcPr>
                </a:tc>
                <a:tc>
                  <a:txBody>
                    <a:bodyPr wrap="square"/>
                    <a:lstStyle/>
                    <a:p>
                      <a:pPr algn="l"/>
                      <a:r>
                        <a:rPr sz="1100">
                          <a:solidFill>
                            <a:srgbClr val="EEEEEE"/>
                          </a:solidFill>
                        </a:rPr>
                        <a:t>「個人情報・機密情報は扱わない」</a:t>
                      </a:r>
                    </a:p>
                  </a:txBody>
                  <a:tcPr>
                    <a:solidFill>
                      <a:srgbClr val="F8FAFC"/>
                    </a:solidFill>
                  </a:tcPr>
                </a:tc>
              </a:tr>
              <a:tr h="491490">
                <a:tc>
                  <a:txBody>
                    <a:bodyPr wrap="square"/>
                    <a:lstStyle/>
                    <a:p>
                      <a:pPr algn="l"/>
                      <a:r>
                        <a:rPr sz="1100">
                          <a:solidFill>
                            <a:srgbClr val="EEEEEE"/>
                          </a:solidFill>
                        </a:rPr>
                        <a:t>よく使う形式</a:t>
                      </a:r>
                    </a:p>
                  </a:txBody>
                  <a:tcPr/>
                </a:tc>
                <a:tc>
                  <a:txBody>
                    <a:bodyPr wrap="square"/>
                    <a:lstStyle/>
                    <a:p>
                      <a:pPr algn="l"/>
                      <a:r>
                        <a:rPr sz="1100">
                          <a:solidFill>
                            <a:srgbClr val="EEEEEE"/>
                          </a:solidFill>
                        </a:rPr>
                        <a:t>「文書はWord(.docx)・データはCSVで出力」</a:t>
                      </a:r>
                    </a:p>
                  </a:txBody>
                  <a:tcPr/>
                </a:tc>
              </a:tr>
              <a:tr h="491490">
                <a:tc>
                  <a:txBody>
                    <a:bodyPr wrap="square"/>
                    <a:lstStyle/>
                    <a:p>
                      <a:pPr algn="l"/>
                      <a:r>
                        <a:rPr sz="1100">
                          <a:solidFill>
                            <a:srgbClr val="EEEEEE"/>
                          </a:solidFill>
                        </a:rPr>
                        <a:t>口調</a:t>
                      </a:r>
                    </a:p>
                  </a:txBody>
                  <a:tcPr>
                    <a:solidFill>
                      <a:srgbClr val="F8FAFC"/>
                    </a:solidFill>
                  </a:tcPr>
                </a:tc>
                <a:tc>
                  <a:txBody>
                    <a:bodyPr wrap="square"/>
                    <a:lstStyle/>
                    <a:p>
                      <a:pPr algn="l"/>
                      <a:r>
                        <a:rPr sz="1100">
                          <a:solidFill>
                            <a:srgbClr val="EEEEEE"/>
                          </a:solidFill>
                        </a:rPr>
                        <a:t>「敬語・ですます調で出力」</a:t>
                      </a:r>
                    </a:p>
                  </a:txBody>
                  <a:tcPr>
                    <a:solidFill>
                      <a:srgbClr val="F8FAFC"/>
                    </a:solidFill>
                  </a:tcPr>
                </a:tc>
              </a:tr>
              <a:tr h="491490">
                <a:tc>
                  <a:txBody>
                    <a:bodyPr wrap="square"/>
                    <a:lstStyle/>
                    <a:p>
                      <a:pPr algn="l"/>
                      <a:r>
                        <a:rPr sz="1100">
                          <a:solidFill>
                            <a:srgbClr val="EEEEEE"/>
                          </a:solidFill>
                        </a:rPr>
                        <a:t>ハルシネーション対策</a:t>
                      </a:r>
                    </a:p>
                  </a:txBody>
                  <a:tcPr/>
                </a:tc>
                <a:tc>
                  <a:txBody>
                    <a:bodyPr wrap="square"/>
                    <a:lstStyle/>
                    <a:p>
                      <a:pPr algn="l"/>
                      <a:r>
                        <a:rPr sz="1100">
                          <a:solidFill>
                            <a:srgbClr val="EEEEEE"/>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C1C1C"/>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EEEEEE"/>
                </a:solidFill>
              </a:rPr>
              <a:t>返答が途中で止まった → 「続けてください」と入力</a:t>
            </a:r>
          </a:p>
          <a:p>
            <a:r>
              <a:rPr sz="1200">
                <a:solidFill>
                  <a:srgbClr val="EEEEEE"/>
                </a:solidFill>
              </a:rPr>
              <a:t>「続けてよいですか？」と聞いてきた → 内容確認してOKなら「はい」</a:t>
            </a:r>
          </a:p>
          <a:p>
            <a:r>
              <a:rPr sz="1200">
                <a:solidFill>
                  <a:srgbClr val="EEEEEE"/>
                </a:solidFill>
              </a:rPr>
              <a:t>意図と違う処理をした → 「待って」→ 意図を正確に伝え直す</a:t>
            </a:r>
          </a:p>
          <a:p>
            <a:r>
              <a:rPr sz="1200">
                <a:solidFill>
                  <a:srgbClr val="EEEEEE"/>
                </a:solidFill>
              </a:rPr>
              <a:t>エラーが出た → メッセージをコピーして「これはどういう意味ですか？」</a:t>
            </a:r>
          </a:p>
          <a:p>
            <a:r>
              <a:rPr sz="1200">
                <a:solidFill>
                  <a:srgbClr val="EEEEEE"/>
                </a:solidFill>
              </a:rPr>
              <a:t>返答が遅い・繰り返す → 「まとめてください」→ 新規セッションで継続</a:t>
            </a:r>
          </a:p>
          <a:p>
            <a:r>
              <a:rPr sz="1200">
                <a:solidFill>
                  <a:srgbClr val="EEEEEE"/>
                </a:solidFill>
              </a:rPr>
              <a:t>応答しない・フリーズ → 数分待ってアプリ再起動</a:t>
            </a:r>
          </a:p>
          <a:p>
            <a:r>
              <a:rPr sz="1200">
                <a:solidFill>
                  <a:srgbClr val="EEEEEE"/>
                </a:solidFill>
              </a:rPr>
              <a:t>どうしてもわからない → ブラウザ版Claude（claude.ai）に状況を説明</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a:tblGrid>
                <a:gridCol w="1755648"/>
                <a:gridCol w="2633472"/>
              </a:tblGrid>
              <a:tr h="693420">
                <a:tc>
                  <a:txBody>
                    <a:bodyPr wrap="square"/>
                    <a:lstStyle/>
                    <a:p>
                      <a:pPr algn="ctr"/>
                      <a:r>
                        <a:rPr b="1" sz="1200">
                          <a:solidFill>
                            <a:srgbClr val="FFFFFF"/>
                          </a:solidFill>
                        </a:rPr>
                        <a:t>トラブル</a:t>
                      </a:r>
                    </a:p>
                  </a:txBody>
                  <a:tcPr>
                    <a:solidFill>
                      <a:srgbClr val="1C1C1C"/>
                    </a:solidFill>
                  </a:tcPr>
                </a:tc>
                <a:tc>
                  <a:txBody>
                    <a:bodyPr wrap="square"/>
                    <a:lstStyle/>
                    <a:p>
                      <a:pPr algn="ctr"/>
                      <a:r>
                        <a:rPr b="1" sz="1200">
                          <a:solidFill>
                            <a:srgbClr val="FFFFFF"/>
                          </a:solidFill>
                        </a:rPr>
                        <a:t>対処</a:t>
                      </a:r>
                    </a:p>
                  </a:txBody>
                  <a:tcPr>
                    <a:solidFill>
                      <a:srgbClr val="1C1C1C"/>
                    </a:solidFill>
                  </a:tcPr>
                </a:tc>
              </a:tr>
              <a:tr h="693420">
                <a:tc>
                  <a:txBody>
                    <a:bodyPr wrap="square"/>
                    <a:lstStyle/>
                    <a:p>
                      <a:pPr algn="l"/>
                      <a:r>
                        <a:rPr sz="1100">
                          <a:solidFill>
                            <a:srgbClr val="EEEEEE"/>
                          </a:solidFill>
                        </a:rPr>
                        <a:t>返答が途中で止まった</a:t>
                      </a:r>
                    </a:p>
                  </a:txBody>
                  <a:tcPr/>
                </a:tc>
                <a:tc>
                  <a:txBody>
                    <a:bodyPr wrap="square"/>
                    <a:lstStyle/>
                    <a:p>
                      <a:pPr algn="l"/>
                      <a:r>
                        <a:rPr sz="1100">
                          <a:solidFill>
                            <a:srgbClr val="EEEEEE"/>
                          </a:solidFill>
                        </a:rPr>
                        <a:t>「続けてください」と入力</a:t>
                      </a:r>
                    </a:p>
                  </a:txBody>
                  <a:tcPr/>
                </a:tc>
              </a:tr>
              <a:tr h="693420">
                <a:tc>
                  <a:txBody>
                    <a:bodyPr wrap="square"/>
                    <a:lstStyle/>
                    <a:p>
                      <a:pPr algn="l"/>
                      <a:r>
                        <a:rPr sz="1100">
                          <a:solidFill>
                            <a:srgbClr val="EEEEEE"/>
                          </a:solidFill>
                        </a:rPr>
                        <a:t>意図と違う処理をした</a:t>
                      </a:r>
                    </a:p>
                  </a:txBody>
                  <a:tcPr>
                    <a:solidFill>
                      <a:srgbClr val="F8FAFC"/>
                    </a:solidFill>
                  </a:tcPr>
                </a:tc>
                <a:tc>
                  <a:txBody>
                    <a:bodyPr wrap="square"/>
                    <a:lstStyle/>
                    <a:p>
                      <a:pPr algn="l"/>
                      <a:r>
                        <a:rPr sz="1100">
                          <a:solidFill>
                            <a:srgbClr val="EEEEEE"/>
                          </a:solidFill>
                        </a:rPr>
                        <a:t>「待って」と入力 → 意図を正確に伝え直す</a:t>
                      </a:r>
                    </a:p>
                  </a:txBody>
                  <a:tcPr>
                    <a:solidFill>
                      <a:srgbClr val="F8FAFC"/>
                    </a:solidFill>
                  </a:tcPr>
                </a:tc>
              </a:tr>
              <a:tr h="693420">
                <a:tc>
                  <a:txBody>
                    <a:bodyPr wrap="square"/>
                    <a:lstStyle/>
                    <a:p>
                      <a:pPr algn="l"/>
                      <a:r>
                        <a:rPr sz="1100">
                          <a:solidFill>
                            <a:srgbClr val="EEEEEE"/>
                          </a:solidFill>
                        </a:rPr>
                        <a:t>エラーメッセージが出た</a:t>
                      </a:r>
                    </a:p>
                  </a:txBody>
                  <a:tcPr/>
                </a:tc>
                <a:tc>
                  <a:txBody>
                    <a:bodyPr wrap="square"/>
                    <a:lstStyle/>
                    <a:p>
                      <a:pPr algn="l"/>
                      <a:r>
                        <a:rPr sz="1100">
                          <a:solidFill>
                            <a:srgbClr val="EEEEEE"/>
                          </a:solidFill>
                        </a:rPr>
                        <a:t>メッセージをそのまま貼り付けて「これはどういう意味ですか？」と聞く</a:t>
                      </a:r>
                    </a:p>
                  </a:txBody>
                  <a:tcPr/>
                </a:tc>
              </a:tr>
              <a:tr h="693420">
                <a:tc>
                  <a:txBody>
                    <a:bodyPr wrap="square"/>
                    <a:lstStyle/>
                    <a:p>
                      <a:pPr algn="l"/>
                      <a:r>
                        <a:rPr sz="1100">
                          <a:solidFill>
                            <a:srgbClr val="EEEEEE"/>
                          </a:solidFill>
                        </a:rPr>
                        <a:t>コンテキストが長くなった</a:t>
                      </a:r>
                    </a:p>
                  </a:txBody>
                  <a:tcPr>
                    <a:solidFill>
                      <a:srgbClr val="F8FAFC"/>
                    </a:solidFill>
                  </a:tcPr>
                </a:tc>
                <a:tc>
                  <a:txBody>
                    <a:bodyPr wrap="square"/>
                    <a:lstStyle/>
                    <a:p>
                      <a:pPr algn="l"/>
                      <a:r>
                        <a:rPr sz="1100">
                          <a:solidFill>
                            <a:srgbClr val="EEEEEE"/>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EEEEEE"/>
                          </a:solidFill>
                        </a:rPr>
                        <a:t>応答しない・フリーズ</a:t>
                      </a:r>
                    </a:p>
                  </a:txBody>
                  <a:tcPr/>
                </a:tc>
                <a:tc>
                  <a:txBody>
                    <a:bodyPr wrap="square"/>
                    <a:lstStyle/>
                    <a:p>
                      <a:pPr algn="l"/>
                      <a:r>
                        <a:rPr sz="1100">
                          <a:solidFill>
                            <a:srgbClr val="EEEEEE"/>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EEEEEE"/>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a:tblGrid>
                <a:gridCol w="2468880"/>
                <a:gridCol w="5760720"/>
              </a:tblGrid>
              <a:tr h="512064">
                <a:tc>
                  <a:txBody>
                    <a:bodyPr wrap="square"/>
                    <a:lstStyle/>
                    <a:p>
                      <a:pPr algn="ctr"/>
                      <a:r>
                        <a:rPr b="1" sz="1200">
                          <a:solidFill>
                            <a:srgbClr val="FFFFFF"/>
                          </a:solidFill>
                        </a:rPr>
                        <a:t>困ったら</a:t>
                      </a:r>
                    </a:p>
                  </a:txBody>
                  <a:tcPr>
                    <a:solidFill>
                      <a:srgbClr val="1C1C1C"/>
                    </a:solidFill>
                  </a:tcPr>
                </a:tc>
                <a:tc>
                  <a:txBody>
                    <a:bodyPr wrap="square"/>
                    <a:lstStyle/>
                    <a:p>
                      <a:pPr algn="ctr"/>
                      <a:r>
                        <a:rPr b="1" sz="1200">
                          <a:solidFill>
                            <a:srgbClr val="FFFFFF"/>
                          </a:solidFill>
                        </a:rPr>
                        <a:t>対処法</a:t>
                      </a:r>
                    </a:p>
                  </a:txBody>
                  <a:tcPr>
                    <a:solidFill>
                      <a:srgbClr val="1C1C1C"/>
                    </a:solidFill>
                  </a:tcPr>
                </a:tc>
              </a:tr>
              <a:tr h="512064">
                <a:tc>
                  <a:txBody>
                    <a:bodyPr wrap="square"/>
                    <a:lstStyle/>
                    <a:p>
                      <a:pPr algn="l"/>
                      <a:r>
                        <a:rPr sz="1100">
                          <a:solidFill>
                            <a:srgbClr val="EEEEEE"/>
                          </a:solidFill>
                        </a:rPr>
                        <a:t>テーマが思いつかない</a:t>
                      </a:r>
                    </a:p>
                  </a:txBody>
                  <a:tcPr/>
                </a:tc>
                <a:tc>
                  <a:txBody>
                    <a:bodyPr wrap="square"/>
                    <a:lstStyle/>
                    <a:p>
                      <a:pPr algn="l"/>
                      <a:r>
                        <a:rPr sz="1100">
                          <a:solidFill>
                            <a:srgbClr val="EEEEEE"/>
                          </a:solidFill>
                        </a:rPr>
                        <a:t>セクション3のユースケースをさらに深める（自社のデータで試す）</a:t>
                      </a:r>
                    </a:p>
                  </a:txBody>
                  <a:tcPr/>
                </a:tc>
              </a:tr>
              <a:tr h="512064">
                <a:tc>
                  <a:txBody>
                    <a:bodyPr wrap="square"/>
                    <a:lstStyle/>
                    <a:p>
                      <a:pPr algn="l"/>
                      <a:r>
                        <a:rPr sz="1100">
                          <a:solidFill>
                            <a:srgbClr val="EEEEEE"/>
                          </a:solidFill>
                        </a:rPr>
                        <a:t>エラーが出た</a:t>
                      </a:r>
                    </a:p>
                  </a:txBody>
                  <a:tcPr>
                    <a:solidFill>
                      <a:srgbClr val="F8FAFC"/>
                    </a:solidFill>
                  </a:tcPr>
                </a:tc>
                <a:tc>
                  <a:txBody>
                    <a:bodyPr wrap="square"/>
                    <a:lstStyle/>
                    <a:p>
                      <a:pPr algn="l"/>
                      <a:r>
                        <a:rPr sz="1100">
                          <a:solidFill>
                            <a:srgbClr val="EEEEEE"/>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EEEEEE"/>
                          </a:solidFill>
                        </a:rPr>
                        <a:t>完成しなくて大丈夫</a:t>
                      </a:r>
                    </a:p>
                  </a:txBody>
                  <a:tcPr/>
                </a:tc>
                <a:tc>
                  <a:txBody>
                    <a:bodyPr wrap="square"/>
                    <a:lstStyle/>
                    <a:p>
                      <a:pPr algn="l"/>
                      <a:r>
                        <a:rPr sz="1100">
                          <a:solidFill>
                            <a:srgbClr val="EEEEEE"/>
                          </a:solidFill>
                        </a:rPr>
                        <a:t>「設計まで到達できれば十分」— 完成が目標ではない</a:t>
                      </a:r>
                    </a:p>
                  </a:txBody>
                  <a:tcPr/>
                </a:tc>
              </a:tr>
              <a:tr h="512064">
                <a:tc>
                  <a:txBody>
                    <a:bodyPr wrap="square"/>
                    <a:lstStyle/>
                    <a:p>
                      <a:pPr algn="l"/>
                      <a:r>
                        <a:rPr sz="1100">
                          <a:solidFill>
                            <a:srgbClr val="EEEEEE"/>
                          </a:solidFill>
                        </a:rPr>
                        <a:t>どうしてもわからない</a:t>
                      </a:r>
                    </a:p>
                  </a:txBody>
                  <a:tcPr>
                    <a:solidFill>
                      <a:srgbClr val="F8FAFC"/>
                    </a:solidFill>
                  </a:tcPr>
                </a:tc>
                <a:tc>
                  <a:txBody>
                    <a:bodyPr wrap="square"/>
                    <a:lstStyle/>
                    <a:p>
                      <a:pPr algn="l"/>
                      <a:r>
                        <a:rPr sz="1100">
                          <a:solidFill>
                            <a:srgbClr val="EEEEEE"/>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xmlns:a="http://schemas.openxmlformats.org/drawingml/2006/main" xmlns:p="http://schemas.openxmlformats.org/presentationml/2006/main">
        <p:nvSpPr>
          <p:cNvPr id="9900" name="_BG_DARK_"/>
          <p:cNvSpPr>
            <a:spLocks noSelect="1" noMove="1" noResize="1"/>
          </p:cNvSpPr>
          <p:nvPr/>
        </p:nvSpPr>
        <p:spPr>
          <a:xfrm>
            <a:off x="0" y="0"/>
            <a:ext cx="9144000" cy="5143500"/>
          </a:xfrm>
          <a:prstGeom prst="rect">
            <a:avLst/>
          </a:prstGeom>
          <a:solidFill>
            <a:srgbClr val="1C1C1C"/>
          </a:solidFill>
          <a:ln>
            <a:noFill/>
          </a:ln>
        </p:spPr>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EEEEEE"/>
                </a:solidFill>
              </a:rPr>
              <a:t>[OK] Claude Codeが「実際に手を動かす」AIだとわかった</a:t>
            </a:r>
          </a:p>
          <a:p>
            <a:r>
              <a:rPr sz="1300">
                <a:solidFill>
                  <a:srgbClr val="EEEEEE"/>
                </a:solidFill>
              </a:rPr>
              <a:t>[OK] フォルダ整理・CSV整形・文書生成を体験した</a:t>
            </a:r>
          </a:p>
          <a:p>
            <a:r>
              <a:rPr sz="1300">
                <a:solidFill>
                  <a:srgbClr val="EEEEEE"/>
                </a:solidFill>
              </a:rPr>
              <a:t>[OK] CLAUDE.mdで指示を記録・再利用できるとわかった</a:t>
            </a:r>
          </a:p>
          <a:p>
            <a:r>
              <a:rPr sz="1300">
                <a:solidFill>
                  <a:srgbClr val="EEEEEE"/>
                </a:solidFill>
              </a:rPr>
              <a:t>[OK] トラブル時の対処法を持ち帰れた</a:t>
            </a:r>
          </a:p>
        </p:txBody>
      </p:sp>
      <p:sp>
        <p:nvSpPr>
          <p:cNvPr id="6" name="Rectangle 5"/>
          <p:cNvSpPr/>
          <p:nvPr/>
        </p:nvSpPr>
        <p:spPr>
          <a:xfrm>
            <a:off x="4846320" y="777240"/>
            <a:ext cx="4114800" cy="201168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C1C1C"/>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EEEEEE"/>
                </a:solidFill>
              </a:rPr>
              <a:t>「もっと深めたい」「自社業務に組み込みたい」</a:t>
            </a:r>
          </a:p>
          <a:p>
            <a:r>
              <a:rPr sz="1200">
                <a:solidFill>
                  <a:srgbClr val="EEEEEE"/>
                </a:solidFill>
              </a:rPr>
              <a:t>ざつね屋と共同開発 → MTGで知見を統合</a:t>
            </a:r>
          </a:p>
          <a:p>
            <a:r>
              <a:rPr sz="1200">
                <a:solidFill>
                  <a:srgbClr val="EEEEEE"/>
                </a:solidFill>
              </a:rPr>
              <a:t>月1回プラン：60,000円/月</a:t>
            </a:r>
          </a:p>
          <a:p>
            <a:r>
              <a:rPr sz="1200">
                <a:solidFill>
                  <a:srgbClr val="EEEEEE"/>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EEEEEE"/>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2525"/>
      </a:dk2>
      <a:lt2>
        <a:srgbClr val="EEECE1"/>
      </a:lt2>
      <a:accent1>
        <a:srgbClr val="DA7756"/>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