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5" r:id="rId16"/>
    <p:sldId id="266" r:id="rId17"/>
    <p:sldId id="267" r:id="rId18"/>
    <p:sldId id="263" r:id="rId14"/>
    <p:sldId id="264" r:id="rId15"/>
    <p:sldId id="268" r:id="rId19"/>
    <p:sldId id="269" r:id="rId20"/>
    <p:sldId id="270" r:id="rId21"/>
    <p:sldId id="271" r:id="rId22"/>
    <p:sldId id="272" r:id="rId23"/>
    <p:sldId id="273" r:id="rId24"/>
    <p:sldId id="274" r:id="rId25"/>
  </p:sldIdLst>
  <p:sldSz cx="9144000" cy="51435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11.xml"/><Relationship Id="rId15" Type="http://schemas.openxmlformats.org/officeDocument/2006/relationships/slide" Target="slides/slide12.xml"/><Relationship Id="rId16" Type="http://schemas.openxmlformats.org/officeDocument/2006/relationships/slide" Target="slides/slide8.xml"/><Relationship Id="rId17" Type="http://schemas.openxmlformats.org/officeDocument/2006/relationships/slide" Target="slides/slide9.xml"/><Relationship Id="rId18" Type="http://schemas.openxmlformats.org/officeDocument/2006/relationships/slide" Target="slides/slide10.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bg>
    <p:bgPr>
      <a:solidFill>
        <a:srgbClr val="1C1C1C"/>
      </a:solidFill>
      <a:effectLst/>
    </p:bgPr>
  </p:bg>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bg>
    <p:bgPr>
      <a:solidFill>
        <a:srgbClr val="1C1C1C"/>
      </a:solidFill>
      <a:effectLst/>
    </p:bgPr>
  </p:bg>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bg>
    <p:bgPr>
      <a:solidFill>
        <a:srgbClr val="1C1C1C"/>
      </a:solidFill>
      <a:effectLst/>
    </p:bgPr>
  </p:bg>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bg>
    <p:bgPr>
      <a:solidFill>
        <a:srgbClr val="1C1C1C"/>
      </a:solidFill>
      <a:effectLst/>
    </p:bgPr>
  </p:bg>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bg>
    <p:bgPr>
      <a:solidFill>
        <a:srgbClr val="1C1C1C"/>
      </a:solidFill>
      <a:effectLst/>
    </p:bgPr>
  </p:bg>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bg>
    <p:bgPr>
      <a:solidFill>
        <a:srgbClr val="1C1C1C"/>
      </a:solidFill>
      <a:effectLst/>
    </p:bgPr>
  </p:bg>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bg>
    <p:bgPr>
      <a:solidFill>
        <a:srgbClr val="1C1C1C"/>
      </a:solidFill>
      <a:effectLst/>
    </p:bgPr>
  </p:bg>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bg>
    <p:bgPr>
      <a:solidFill>
        <a:srgbClr val="1C1C1C"/>
      </a:solidFill>
      <a:effectLst/>
    </p:bgPr>
  </p:bg>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bg>
    <p:bgPr>
      <a:solidFill>
        <a:srgbClr val="1C1C1C"/>
      </a:solidFill>
      <a:effectLst/>
    </p:bgPr>
  </p:bg>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bg>
    <p:bgPr>
      <a:solidFill>
        <a:srgbClr val="1C1C1C"/>
      </a:solidFill>
      <a:effectLst/>
    </p:bgPr>
  </p:bg>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bg>
    <p:bgPr>
      <a:solidFill>
        <a:srgbClr val="1C1C1C"/>
      </a:solidFill>
      <a:effectLst/>
    </p:bgPr>
  </p:bg>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1C1C1C"/>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dk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C1C1C"/>
        </a:solidFill>
        <a:effectLst/>
      </p:bgPr>
    </p:bg>
    <p:spTree>
      <p:nvGrpSpPr>
        <p:cNvPr id="1" name=""/>
        <p:cNvGrpSpPr/>
        <p:nvPr/>
      </p:nvGrpSpPr>
      <p:grpSpPr/>
      <p:sp>
        <p:nvSpPr>
          <p:cNvPr id="9900" name="_BG_DARK_"/>
          <p:cNvSpPr/>
          <p:nvPr/>
        </p:nvSpPr>
        <p:spPr>
          <a:xfrm>
            <a:off x="0" y="0"/>
            <a:ext cx="9144000" cy="5143500"/>
          </a:xfrm>
          <a:prstGeom prst="rect">
            <a:avLst/>
          </a:prstGeom>
          <a:solidFill>
            <a:srgbClr val="1C1C1C"/>
          </a:solidFill>
          <a:ln>
            <a:noFill/>
          </a:ln>
        </p:spPr>
        <p:style>
          <a:lnRef idx="1">
            <a:srgbClr val="1C1C1C"/>
          </a:lnRef>
          <a:fillRef idx="1">
            <a:srgbClr val="1C1C1C"/>
          </a:fillRef>
          <a:effectRef idx="0">
            <a:srgbClr val="1C1C1C"/>
          </a:effectRef>
          <a:fontRef idx="minor">
            <a:srgbClr val="EEEEEE"/>
          </a:fontRef>
        </p:style>
        <p:txBody>
          <a:bodyPr/>
          <a:lstStyle/>
          <a:p/>
        </p:txBody>
      </p:sp>
      <p:sp>
        <p:nvSpPr>
          <p:cNvPr id="2" name="Rectangle 1"/>
          <p:cNvSpPr/>
          <p:nvPr/>
        </p:nvSpPr>
        <p:spPr>
          <a:xfrm>
            <a:off x="0" y="3383280"/>
            <a:ext cx="9144000" cy="54864"/>
          </a:xfrm>
          <a:prstGeom prst="rect">
            <a:avLst/>
          </a:prstGeom>
          <a:solidFill>
            <a:srgbClr val="DA77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65760"/>
            <a:ext cx="3657600" cy="411480"/>
          </a:xfrm>
          <a:prstGeom prst="rect">
            <a:avLst/>
          </a:prstGeom>
          <a:noFill/>
        </p:spPr>
        <p:txBody>
          <a:bodyPr wrap="square">
            <a:spAutoFit/>
          </a:bodyPr>
          <a:lstStyle/>
          <a:p>
            <a:pPr algn="l"/>
            <a:r>
              <a:rPr sz="1300" b="0" i="0">
                <a:solidFill>
                  <a:srgbClr val="DA7756"/>
                </a:solidFill>
              </a:rPr>
              <a:t>ざつね屋</a:t>
            </a:r>
          </a:p>
        </p:txBody>
      </p:sp>
      <p:sp>
        <p:nvSpPr>
          <p:cNvPr id="4" name="TextBox 3"/>
          <p:cNvSpPr txBox="1"/>
          <p:nvPr/>
        </p:nvSpPr>
        <p:spPr>
          <a:xfrm>
            <a:off x="548640" y="868680"/>
            <a:ext cx="8229600" cy="502920"/>
          </a:xfrm>
          <a:prstGeom prst="rect">
            <a:avLst/>
          </a:prstGeom>
          <a:noFill/>
        </p:spPr>
        <p:txBody>
          <a:bodyPr wrap="square">
            <a:spAutoFit/>
          </a:bodyPr>
          <a:lstStyle/>
          <a:p>
            <a:pPr algn="l"/>
            <a:r>
              <a:rPr sz="1800" b="0" i="0">
                <a:solidFill>
                  <a:srgbClr val="B8A99A"/>
                </a:solidFill>
              </a:rPr>
              <a:t>コース ⑤</a:t>
            </a:r>
          </a:p>
        </p:txBody>
      </p:sp>
      <p:sp>
        <p:nvSpPr>
          <p:cNvPr id="5" name="TextBox 4"/>
          <p:cNvSpPr txBox="1"/>
          <p:nvPr/>
        </p:nvSpPr>
        <p:spPr>
          <a:xfrm>
            <a:off x="548640" y="1371600"/>
            <a:ext cx="8229600" cy="914400"/>
          </a:xfrm>
          <a:prstGeom prst="rect">
            <a:avLst/>
          </a:prstGeom>
          <a:noFill/>
        </p:spPr>
        <p:txBody>
          <a:bodyPr wrap="square">
            <a:spAutoFit/>
          </a:bodyPr>
          <a:lstStyle/>
          <a:p>
            <a:pPr algn="l"/>
            <a:r>
              <a:rPr sz="3800" b="1" i="0">
                <a:solidFill>
                  <a:srgbClr val="FFFFFF"/>
                </a:solidFill>
              </a:rPr>
              <a:t>実践編（Claude Code特化）</a:t>
            </a:r>
          </a:p>
        </p:txBody>
      </p:sp>
      <p:sp>
        <p:nvSpPr>
          <p:cNvPr id="6" name="TextBox 5"/>
          <p:cNvSpPr txBox="1"/>
          <p:nvPr/>
        </p:nvSpPr>
        <p:spPr>
          <a:xfrm>
            <a:off x="548640" y="2377440"/>
            <a:ext cx="8229600" cy="640080"/>
          </a:xfrm>
          <a:prstGeom prst="rect">
            <a:avLst/>
          </a:prstGeom>
          <a:noFill/>
        </p:spPr>
        <p:txBody>
          <a:bodyPr wrap="square">
            <a:spAutoFit/>
          </a:bodyPr>
          <a:lstStyle/>
          <a:p>
            <a:pPr algn="l"/>
            <a:r>
              <a:rPr sz="1500" b="0" i="0">
                <a:solidFill>
                  <a:srgbClr val="B8A99A"/>
                </a:solidFill>
              </a:rPr>
              <a:t>コード経験不要。社内の困りごとをAIで解決する仕組みを自分で作る 120分</a:t>
            </a:r>
          </a:p>
        </p:txBody>
      </p:sp>
      <p:sp>
        <p:nvSpPr>
          <p:cNvPr id="7" name="TextBox 6"/>
          <p:cNvSpPr txBox="1"/>
          <p:nvPr/>
        </p:nvSpPr>
        <p:spPr>
          <a:xfrm>
            <a:off x="548640" y="3749039"/>
            <a:ext cx="8229600" cy="457200"/>
          </a:xfrm>
          <a:prstGeom prst="rect">
            <a:avLst/>
          </a:prstGeom>
          <a:noFill/>
        </p:spPr>
        <p:txBody>
          <a:bodyPr wrap="square">
            <a:spAutoFit/>
          </a:bodyPr>
          <a:lstStyle/>
          <a:p>
            <a:pPr algn="l"/>
            <a:r>
              <a:rPr sz="1300" b="0" i="0">
                <a:solidFill>
                  <a:srgbClr val="DA7756"/>
                </a:solidFill>
              </a:rPr>
              <a:t>ツール：Claude Code デスクトップ版　｜　定員：個別1名 / グループMAX3名</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1C1C1C"/>
        </a:solidFill>
        <a:effectLst/>
      </p:bgPr>
    </p:bg>
    <p:spTree>
      <p:nvGrpSpPr>
        <p:cNvPr id="1" name=""/>
        <p:cNvGrpSpPr/>
        <p:nvPr/>
      </p:nvGrpSpPr>
      <p:grpSpPr/>
      <p:sp>
        <p:nvSpPr>
          <p:cNvPr id="9900" name="_BG_DARK_"/>
          <p:cNvSpPr/>
          <p:nvPr/>
        </p:nvSpPr>
        <p:spPr>
          <a:xfrm>
            <a:off x="0" y="0"/>
            <a:ext cx="9144000" cy="5143500"/>
          </a:xfrm>
          <a:prstGeom prst="rect">
            <a:avLst/>
          </a:prstGeom>
          <a:solidFill>
            <a:srgbClr val="1C1C1C"/>
          </a:solidFill>
          <a:ln>
            <a:noFill/>
          </a:ln>
        </p:spPr>
        <p:style>
          <a:lnRef idx="1">
            <a:srgbClr val="1C1C1C"/>
          </a:lnRef>
          <a:fillRef idx="1">
            <a:srgbClr val="1C1C1C"/>
          </a:fillRef>
          <a:effectRef idx="0">
            <a:srgbClr val="1C1C1C"/>
          </a:effectRef>
          <a:fontRef idx="minor">
            <a:srgbClr val="EEEEEE"/>
          </a:fontRef>
        </p:style>
        <p:txBody>
          <a:bodyPr/>
          <a:lstStyle/>
          <a:p/>
        </p:txBody>
      </p:sp>
      <p:sp>
        <p:nvSpPr>
          <p:cNvPr id="2" name="Rectangle 1"/>
          <p:cNvSpPr/>
          <p:nvPr/>
        </p:nvSpPr>
        <p:spPr>
          <a:xfrm>
            <a:off x="0" y="0"/>
            <a:ext cx="9144000" cy="594360"/>
          </a:xfrm>
          <a:prstGeom prst="rect">
            <a:avLst/>
          </a:prstGeom>
          <a:solidFill>
            <a:srgbClr val="25252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64008"/>
            <a:ext cx="7772400" cy="502920"/>
          </a:xfrm>
          <a:prstGeom prst="rect">
            <a:avLst/>
          </a:prstGeom>
          <a:noFill/>
        </p:spPr>
        <p:txBody>
          <a:bodyPr wrap="square">
            <a:spAutoFit/>
          </a:bodyPr>
          <a:lstStyle/>
          <a:p>
            <a:pPr algn="l"/>
            <a:r>
              <a:rPr sz="1800" b="1" i="0">
                <a:solidFill>
                  <a:srgbClr val="FFFFFF"/>
                </a:solidFill>
              </a:rPr>
              <a:t>本日のアジェンダ</a:t>
            </a:r>
          </a:p>
        </p:txBody>
      </p:sp>
      <p:graphicFrame>
        <p:nvGraphicFramePr>
          <p:cNvPr id="4" name="Table 3"/>
          <p:cNvGraphicFramePr>
            <a:graphicFrameLocks noGrp="1"/>
          </p:cNvGraphicFramePr>
          <p:nvPr/>
        </p:nvGraphicFramePr>
        <p:xfrm>
          <a:off x="457200" y="777240"/>
          <a:ext cx="8229600" cy="4160520"/>
        </p:xfrm>
        <a:graphic>
          <a:graphicData uri="http://schemas.openxmlformats.org/drawingml/2006/table">
            <a:tbl>
              <a:tblPr/>
              <a:tblGrid>
                <a:gridCol w="493776"/>
                <a:gridCol w="1810512"/>
                <a:gridCol w="4279392"/>
                <a:gridCol w="1645920"/>
              </a:tblGrid>
              <a:tr h="594360">
                <a:tc>
                  <a:txBody>
                    <a:bodyPr wrap="square"/>
                    <a:lstStyle/>
                    <a:p>
                      <a:pPr algn="ctr"/>
                      <a:r>
                        <a:rPr b="1" sz="1200">
                          <a:solidFill>
                            <a:srgbClr val="FFFFFF"/>
                          </a:solidFill>
                        </a:rPr>
                        <a:t>#</a:t>
                      </a:r>
                    </a:p>
                  </a:txBody>
                  <a:tcPr>
                    <a:solidFill>
                      <a:srgbClr val="1C1C1C"/>
                    </a:solidFill>
                  </a:tcPr>
                </a:tc>
                <a:tc>
                  <a:txBody>
                    <a:bodyPr wrap="square"/>
                    <a:lstStyle/>
                    <a:p>
                      <a:pPr algn="ctr"/>
                      <a:r>
                        <a:rPr b="1" sz="1200">
                          <a:solidFill>
                            <a:srgbClr val="FFFFFF"/>
                          </a:solidFill>
                        </a:rPr>
                        <a:t>セクション</a:t>
                      </a:r>
                    </a:p>
                  </a:txBody>
                  <a:tcPr>
                    <a:solidFill>
                      <a:srgbClr val="1C1C1C"/>
                    </a:solidFill>
                  </a:tcPr>
                </a:tc>
                <a:tc>
                  <a:txBody>
                    <a:bodyPr wrap="square"/>
                    <a:lstStyle/>
                    <a:p>
                      <a:pPr algn="ctr"/>
                      <a:r>
                        <a:rPr b="1" sz="1200">
                          <a:solidFill>
                            <a:srgbClr val="FFFFFF"/>
                          </a:solidFill>
                        </a:rPr>
                        <a:t>内容</a:t>
                      </a:r>
                    </a:p>
                  </a:txBody>
                  <a:tcPr>
                    <a:solidFill>
                      <a:srgbClr val="1C1C1C"/>
                    </a:solidFill>
                  </a:tcPr>
                </a:tc>
                <a:tc>
                  <a:txBody>
                    <a:bodyPr wrap="square"/>
                    <a:lstStyle/>
                    <a:p>
                      <a:pPr algn="ctr"/>
                      <a:r>
                        <a:rPr b="1" sz="1200">
                          <a:solidFill>
                            <a:srgbClr val="FFFFFF"/>
                          </a:solidFill>
                        </a:rPr>
                        <a:t>時間</a:t>
                      </a:r>
                    </a:p>
                  </a:txBody>
                  <a:tcPr>
                    <a:solidFill>
                      <a:srgbClr val="1C1C1C"/>
                    </a:solidFill>
                  </a:tcPr>
                </a:tc>
              </a:tr>
              <a:tr h="594360">
                <a:tc>
                  <a:txBody>
                    <a:bodyPr wrap="square"/>
                    <a:lstStyle/>
                    <a:p>
                      <a:pPr algn="l"/>
                      <a:r>
                        <a:rPr sz="1100">
                          <a:solidFill>
                            <a:srgbClr val="EEEEEE"/>
                          </a:solidFill>
                        </a:rPr>
                        <a:t>1</a:t>
                      </a:r>
                    </a:p>
                  </a:txBody>
                  <a:tcPr/>
                </a:tc>
                <a:tc>
                  <a:txBody>
                    <a:bodyPr wrap="square"/>
                    <a:lstStyle/>
                    <a:p>
                      <a:pPr algn="l"/>
                      <a:r>
                        <a:rPr sz="1100">
                          <a:solidFill>
                            <a:srgbClr val="EEEEEE"/>
                          </a:solidFill>
                        </a:rPr>
                        <a:t>Claude Codeとは</a:t>
                      </a:r>
                    </a:p>
                  </a:txBody>
                  <a:tcPr/>
                </a:tc>
                <a:tc>
                  <a:txBody>
                    <a:bodyPr wrap="square"/>
                    <a:lstStyle/>
                    <a:p>
                      <a:pPr algn="l"/>
                      <a:r>
                        <a:rPr sz="1100">
                          <a:solidFill>
                            <a:srgbClr val="EEEEEE"/>
                          </a:solidFill>
                        </a:rPr>
                        <a:t>4軸マップ・他AIとの違い・できること/できないこと</a:t>
                      </a:r>
                    </a:p>
                  </a:txBody>
                  <a:tcPr/>
                </a:tc>
                <a:tc>
                  <a:txBody>
                    <a:bodyPr wrap="square"/>
                    <a:lstStyle/>
                    <a:p>
                      <a:pPr algn="l"/>
                      <a:r>
                        <a:rPr sz="1100">
                          <a:solidFill>
                            <a:srgbClr val="EEEEEE"/>
                          </a:solidFill>
                        </a:rPr>
                        <a:t>20分</a:t>
                      </a:r>
                    </a:p>
                  </a:txBody>
                  <a:tcPr/>
                </a:tc>
              </a:tr>
              <a:tr h="594360">
                <a:tc>
                  <a:txBody>
                    <a:bodyPr wrap="square"/>
                    <a:lstStyle/>
                    <a:p>
                      <a:pPr algn="l"/>
                      <a:r>
                        <a:rPr sz="1100">
                          <a:solidFill>
                            <a:srgbClr val="EEEEEE"/>
                          </a:solidFill>
                        </a:rPr>
                        <a:t>2</a:t>
                      </a:r>
                    </a:p>
                  </a:txBody>
                  <a:tcPr>
                    <a:solidFill>
                      <a:srgbClr val="F8FAFC"/>
                    </a:solidFill>
                  </a:tcPr>
                </a:tc>
                <a:tc>
                  <a:txBody>
                    <a:bodyPr wrap="square"/>
                    <a:lstStyle/>
                    <a:p>
                      <a:pPr algn="l"/>
                      <a:r>
                        <a:rPr sz="1100">
                          <a:solidFill>
                            <a:srgbClr val="EEEEEE"/>
                          </a:solidFill>
                        </a:rPr>
                        <a:t>セットアップ確認</a:t>
                      </a:r>
                    </a:p>
                  </a:txBody>
                  <a:tcPr>
                    <a:solidFill>
                      <a:srgbClr val="F8FAFC"/>
                    </a:solidFill>
                  </a:tcPr>
                </a:tc>
                <a:tc>
                  <a:txBody>
                    <a:bodyPr wrap="square"/>
                    <a:lstStyle/>
                    <a:p>
                      <a:pPr algn="l"/>
                      <a:r>
                        <a:rPr sz="1100">
                          <a:solidFill>
                            <a:srgbClr val="EEEEEE"/>
                          </a:solidFill>
                        </a:rPr>
                        <a:t>デスクトップ版起動・サインイン・動作確認</a:t>
                      </a:r>
                    </a:p>
                  </a:txBody>
                  <a:tcPr>
                    <a:solidFill>
                      <a:srgbClr val="F8FAFC"/>
                    </a:solidFill>
                  </a:tcPr>
                </a:tc>
                <a:tc>
                  <a:txBody>
                    <a:bodyPr wrap="square"/>
                    <a:lstStyle/>
                    <a:p>
                      <a:pPr algn="l"/>
                      <a:r>
                        <a:rPr sz="1100">
                          <a:solidFill>
                            <a:srgbClr val="EEEEEE"/>
                          </a:solidFill>
                        </a:rPr>
                        <a:t>30分</a:t>
                      </a:r>
                    </a:p>
                  </a:txBody>
                  <a:tcPr>
                    <a:solidFill>
                      <a:srgbClr val="F8FAFC"/>
                    </a:solidFill>
                  </a:tcPr>
                </a:tc>
              </a:tr>
              <a:tr h="594360">
                <a:tc>
                  <a:txBody>
                    <a:bodyPr wrap="square"/>
                    <a:lstStyle/>
                    <a:p>
                      <a:pPr algn="l"/>
                      <a:r>
                        <a:rPr sz="1100">
                          <a:solidFill>
                            <a:srgbClr val="EEEEEE"/>
                          </a:solidFill>
                        </a:rPr>
                        <a:t>3</a:t>
                      </a:r>
                    </a:p>
                  </a:txBody>
                  <a:tcPr/>
                </a:tc>
                <a:tc>
                  <a:txBody>
                    <a:bodyPr wrap="square"/>
                    <a:lstStyle/>
                    <a:p>
                      <a:pPr algn="l"/>
                      <a:r>
                        <a:rPr sz="1100">
                          <a:solidFill>
                            <a:srgbClr val="EEEEEE"/>
                          </a:solidFill>
                        </a:rPr>
                        <a:t>ユースケース</a:t>
                      </a:r>
                    </a:p>
                  </a:txBody>
                  <a:tcPr/>
                </a:tc>
                <a:tc>
                  <a:txBody>
                    <a:bodyPr wrap="square"/>
                    <a:lstStyle/>
                    <a:p>
                      <a:pPr algn="l"/>
                      <a:r>
                        <a:rPr sz="1100">
                          <a:solidFill>
                            <a:srgbClr val="EEEEEE"/>
                          </a:solidFill>
                        </a:rPr>
                        <a:t>フォルダ整理・CSV整形・定型文書生成（各3分）</a:t>
                      </a:r>
                    </a:p>
                  </a:txBody>
                  <a:tcPr/>
                </a:tc>
                <a:tc>
                  <a:txBody>
                    <a:bodyPr wrap="square"/>
                    <a:lstStyle/>
                    <a:p>
                      <a:pPr algn="l"/>
                      <a:r>
                        <a:rPr sz="1100">
                          <a:solidFill>
                            <a:srgbClr val="EEEEEE"/>
                          </a:solidFill>
                        </a:rPr>
                        <a:t>10分</a:t>
                      </a:r>
                    </a:p>
                  </a:txBody>
                  <a:tcPr/>
                </a:tc>
              </a:tr>
              <a:tr h="594360">
                <a:tc>
                  <a:txBody>
                    <a:bodyPr wrap="square"/>
                    <a:lstStyle/>
                    <a:p>
                      <a:pPr algn="l"/>
                      <a:r>
                        <a:rPr sz="1100">
                          <a:solidFill>
                            <a:srgbClr val="EEEEEE"/>
                          </a:solidFill>
                        </a:rPr>
                        <a:t>—</a:t>
                      </a:r>
                    </a:p>
                  </a:txBody>
                  <a:tcPr>
                    <a:solidFill>
                      <a:srgbClr val="F8FAFC"/>
                    </a:solidFill>
                  </a:tcPr>
                </a:tc>
                <a:tc>
                  <a:txBody>
                    <a:bodyPr wrap="square"/>
                    <a:lstStyle/>
                    <a:p>
                      <a:pPr algn="l"/>
                      <a:r>
                        <a:rPr sz="1100">
                          <a:solidFill>
                            <a:srgbClr val="EEEEEE"/>
                          </a:solidFill>
                        </a:rPr>
                        <a:t>休憩</a:t>
                      </a:r>
                    </a:p>
                  </a:txBody>
                  <a:tcPr>
                    <a:solidFill>
                      <a:srgbClr val="F8FAFC"/>
                    </a:solidFill>
                  </a:tcPr>
                </a:tc>
                <a:tc>
                  <a:txBody>
                    <a:bodyPr wrap="square"/>
                    <a:lstStyle/>
                    <a:p>
                      <a:pPr algn="l"/>
                      <a:r>
                        <a:rPr sz="1100">
                          <a:solidFill>
                            <a:srgbClr val="EEEEEE"/>
                          </a:solidFill>
                        </a:rPr>
                        <a:t/>
                      </a:r>
                    </a:p>
                  </a:txBody>
                  <a:tcPr>
                    <a:solidFill>
                      <a:srgbClr val="F8FAFC"/>
                    </a:solidFill>
                  </a:tcPr>
                </a:tc>
                <a:tc>
                  <a:txBody>
                    <a:bodyPr wrap="square"/>
                    <a:lstStyle/>
                    <a:p>
                      <a:pPr algn="l"/>
                      <a:r>
                        <a:rPr sz="1100">
                          <a:solidFill>
                            <a:srgbClr val="EEEEEE"/>
                          </a:solidFill>
                        </a:rPr>
                        <a:t>10分</a:t>
                      </a:r>
                    </a:p>
                  </a:txBody>
                  <a:tcPr>
                    <a:solidFill>
                      <a:srgbClr val="F8FAFC"/>
                    </a:solidFill>
                  </a:tcPr>
                </a:tc>
              </a:tr>
              <a:tr h="594360">
                <a:tc>
                  <a:txBody>
                    <a:bodyPr wrap="square"/>
                    <a:lstStyle/>
                    <a:p>
                      <a:pPr algn="l"/>
                      <a:r>
                        <a:rPr sz="1100">
                          <a:solidFill>
                            <a:srgbClr val="EEEEEE"/>
                          </a:solidFill>
                        </a:rPr>
                        <a:t>4</a:t>
                      </a:r>
                    </a:p>
                  </a:txBody>
                  <a:tcPr/>
                </a:tc>
                <a:tc>
                  <a:txBody>
                    <a:bodyPr wrap="square"/>
                    <a:lstStyle/>
                    <a:p>
                      <a:pPr algn="l"/>
                      <a:r>
                        <a:rPr sz="1100">
                          <a:solidFill>
                            <a:srgbClr val="EEEEEE"/>
                          </a:solidFill>
                        </a:rPr>
                        <a:t>応用ワーク</a:t>
                      </a:r>
                    </a:p>
                  </a:txBody>
                  <a:tcPr/>
                </a:tc>
                <a:tc>
                  <a:txBody>
                    <a:bodyPr wrap="square"/>
                    <a:lstStyle/>
                    <a:p>
                      <a:pPr algn="l"/>
                      <a:r>
                        <a:rPr sz="1100">
                          <a:solidFill>
                            <a:srgbClr val="EEEEEE"/>
                          </a:solidFill>
                        </a:rPr>
                        <a:t>CLAUDE.md作成・テンプレート化・自社業務試行</a:t>
                      </a:r>
                    </a:p>
                  </a:txBody>
                  <a:tcPr/>
                </a:tc>
                <a:tc>
                  <a:txBody>
                    <a:bodyPr wrap="square"/>
                    <a:lstStyle/>
                    <a:p>
                      <a:pPr algn="l"/>
                      <a:r>
                        <a:rPr sz="1100">
                          <a:solidFill>
                            <a:srgbClr val="EEEEEE"/>
                          </a:solidFill>
                        </a:rPr>
                        <a:t>40分</a:t>
                      </a:r>
                    </a:p>
                  </a:txBody>
                  <a:tcPr/>
                </a:tc>
              </a:tr>
              <a:tr h="594360">
                <a:tc>
                  <a:txBody>
                    <a:bodyPr wrap="square"/>
                    <a:lstStyle/>
                    <a:p>
                      <a:pPr algn="l"/>
                      <a:r>
                        <a:rPr sz="1100">
                          <a:solidFill>
                            <a:srgbClr val="EEEEEE"/>
                          </a:solidFill>
                        </a:rPr>
                        <a:t>5</a:t>
                      </a:r>
                    </a:p>
                  </a:txBody>
                  <a:tcPr>
                    <a:solidFill>
                      <a:srgbClr val="F8FAFC"/>
                    </a:solidFill>
                  </a:tcPr>
                </a:tc>
                <a:tc>
                  <a:txBody>
                    <a:bodyPr wrap="square"/>
                    <a:lstStyle/>
                    <a:p>
                      <a:pPr algn="l"/>
                      <a:r>
                        <a:rPr sz="1100">
                          <a:solidFill>
                            <a:srgbClr val="EEEEEE"/>
                          </a:solidFill>
                        </a:rPr>
                        <a:t>まとめ・Q&amp;A</a:t>
                      </a:r>
                    </a:p>
                  </a:txBody>
                  <a:tcPr>
                    <a:solidFill>
                      <a:srgbClr val="F8FAFC"/>
                    </a:solidFill>
                  </a:tcPr>
                </a:tc>
                <a:tc>
                  <a:txBody>
                    <a:bodyPr wrap="square"/>
                    <a:lstStyle/>
                    <a:p>
                      <a:pPr algn="l"/>
                      <a:r>
                        <a:rPr sz="1100">
                          <a:solidFill>
                            <a:srgbClr val="EEEEEE"/>
                          </a:solidFill>
                        </a:rPr>
                        <a:t>伴走サービス紹介・質疑応答</a:t>
                      </a:r>
                    </a:p>
                  </a:txBody>
                  <a:tcPr>
                    <a:solidFill>
                      <a:srgbClr val="F8FAFC"/>
                    </a:solidFill>
                  </a:tcPr>
                </a:tc>
                <a:tc>
                  <a:txBody>
                    <a:bodyPr wrap="square"/>
                    <a:lstStyle/>
                    <a:p>
                      <a:pPr algn="l"/>
                      <a:r>
                        <a:rPr sz="1100">
                          <a:solidFill>
                            <a:srgbClr val="EEEEEE"/>
                          </a:solidFill>
                        </a:rPr>
                        <a:t>10分</a:t>
                      </a:r>
                    </a:p>
                  </a:txBody>
                  <a:tcPr>
                    <a:solidFill>
                      <a:srgbClr val="F8FAFC"/>
                    </a:solidFill>
                  </a:tcPr>
                </a:tc>
              </a:tr>
            </a:tbl>
          </a:graphicData>
        </a:graphic>
      </p:graphicFrame>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1C1C1C"/>
        </a:solidFill>
        <a:effectLst/>
      </p:bgPr>
    </p:bg>
    <p:spTree>
      <p:nvGrpSpPr>
        <p:cNvPr id="1" name=""/>
        <p:cNvGrpSpPr/>
        <p:nvPr/>
      </p:nvGrpSpPr>
      <p:grpSpPr/>
      <p:sp>
        <p:nvSpPr>
          <p:cNvPr id="9900" name="_BG_DARK_"/>
          <p:cNvSpPr/>
          <p:nvPr/>
        </p:nvSpPr>
        <p:spPr>
          <a:xfrm>
            <a:off x="0" y="0"/>
            <a:ext cx="9144000" cy="5143500"/>
          </a:xfrm>
          <a:prstGeom prst="rect">
            <a:avLst/>
          </a:prstGeom>
          <a:solidFill>
            <a:srgbClr val="1C1C1C"/>
          </a:solidFill>
          <a:ln>
            <a:noFill/>
          </a:ln>
        </p:spPr>
        <p:style>
          <a:lnRef idx="1">
            <a:srgbClr val="1C1C1C"/>
          </a:lnRef>
          <a:fillRef idx="1">
            <a:srgbClr val="1C1C1C"/>
          </a:fillRef>
          <a:effectRef idx="0">
            <a:srgbClr val="1C1C1C"/>
          </a:effectRef>
          <a:fontRef idx="minor">
            <a:srgbClr val="EEEEEE"/>
          </a:fontRef>
        </p:style>
        <p:txBody>
          <a:bodyPr/>
          <a:lstStyle/>
          <a:p/>
        </p:txBody>
      </p:sp>
      <p:sp>
        <p:nvSpPr>
          <p:cNvPr id="2" name="Rectangle 1"/>
          <p:cNvSpPr/>
          <p:nvPr/>
        </p:nvSpPr>
        <p:spPr>
          <a:xfrm>
            <a:off x="548640" y="822960"/>
            <a:ext cx="1097280" cy="1097280"/>
          </a:xfrm>
          <a:prstGeom prst="rect">
            <a:avLst/>
          </a:prstGeom>
          <a:solidFill>
            <a:srgbClr val="DA77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868680"/>
            <a:ext cx="1097280" cy="1005840"/>
          </a:xfrm>
          <a:prstGeom prst="rect">
            <a:avLst/>
          </a:prstGeom>
          <a:noFill/>
        </p:spPr>
        <p:txBody>
          <a:bodyPr wrap="square">
            <a:spAutoFit/>
          </a:bodyPr>
          <a:lstStyle/>
          <a:p>
            <a:pPr algn="ctr"/>
            <a:r>
              <a:rPr sz="3800" b="1" i="0">
                <a:solidFill>
                  <a:srgbClr val="FFFFFF"/>
                </a:solidFill>
              </a:rPr>
              <a:t>1</a:t>
            </a:r>
          </a:p>
        </p:txBody>
      </p:sp>
      <p:sp>
        <p:nvSpPr>
          <p:cNvPr id="4" name="TextBox 3"/>
          <p:cNvSpPr txBox="1"/>
          <p:nvPr/>
        </p:nvSpPr>
        <p:spPr>
          <a:xfrm>
            <a:off x="2011680" y="960120"/>
            <a:ext cx="6858000" cy="914400"/>
          </a:xfrm>
          <a:prstGeom prst="rect">
            <a:avLst/>
          </a:prstGeom>
          <a:noFill/>
        </p:spPr>
        <p:txBody>
          <a:bodyPr wrap="square">
            <a:spAutoFit/>
          </a:bodyPr>
          <a:lstStyle/>
          <a:p>
            <a:pPr algn="l"/>
            <a:r>
              <a:rPr sz="3000" b="1" i="0">
                <a:solidFill>
                  <a:srgbClr val="FFFFFF"/>
                </a:solidFill>
              </a:rPr>
              <a:t>Claude Code とは</a:t>
            </a:r>
          </a:p>
        </p:txBody>
      </p:sp>
      <p:sp>
        <p:nvSpPr>
          <p:cNvPr id="5" name="TextBox 4"/>
          <p:cNvSpPr txBox="1"/>
          <p:nvPr/>
        </p:nvSpPr>
        <p:spPr>
          <a:xfrm>
            <a:off x="2011680" y="1920240"/>
            <a:ext cx="4572000" cy="457200"/>
          </a:xfrm>
          <a:prstGeom prst="rect">
            <a:avLst/>
          </a:prstGeom>
          <a:noFill/>
        </p:spPr>
        <p:txBody>
          <a:bodyPr wrap="square">
            <a:spAutoFit/>
          </a:bodyPr>
          <a:lstStyle/>
          <a:p>
            <a:pPr algn="l"/>
            <a:r>
              <a:rPr sz="1400" b="0" i="0">
                <a:solidFill>
                  <a:srgbClr val="DA7756"/>
                </a:solidFill>
              </a:rPr>
              <a:t>[20分]</a:t>
            </a:r>
          </a:p>
        </p:txBody>
      </p:sp>
      <p:sp>
        <p:nvSpPr>
          <p:cNvPr id="6" name="TextBox 5"/>
          <p:cNvSpPr txBox="1"/>
          <p:nvPr/>
        </p:nvSpPr>
        <p:spPr>
          <a:xfrm>
            <a:off x="2011680" y="2468880"/>
            <a:ext cx="6858000" cy="914400"/>
          </a:xfrm>
          <a:prstGeom prst="rect">
            <a:avLst/>
          </a:prstGeom>
          <a:noFill/>
        </p:spPr>
        <p:txBody>
          <a:bodyPr wrap="square">
            <a:spAutoFit/>
          </a:bodyPr>
          <a:lstStyle/>
          <a:p>
            <a:pPr algn="l"/>
            <a:r>
              <a:rPr sz="1500" b="0" i="0">
                <a:solidFill>
                  <a:srgbClr val="B8A99A"/>
                </a:solidFill>
              </a:rPr>
              <a:t>4軸マップでの位置確認 ＆ 他ツールとの違い</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1C1C1C"/>
        </a:solidFill>
        <a:effectLst/>
      </p:bgPr>
    </p:bg>
    <p:spTree>
      <p:nvGrpSpPr>
        <p:cNvPr id="1" name=""/>
        <p:cNvGrpSpPr/>
        <p:nvPr/>
      </p:nvGrpSpPr>
      <p:grpSpPr/>
      <p:sp>
        <p:nvSpPr>
          <p:cNvPr id="9900" name="_BG_DARK_"/>
          <p:cNvSpPr/>
          <p:nvPr/>
        </p:nvSpPr>
        <p:spPr>
          <a:xfrm>
            <a:off x="0" y="0"/>
            <a:ext cx="9144000" cy="5143500"/>
          </a:xfrm>
          <a:prstGeom prst="rect">
            <a:avLst/>
          </a:prstGeom>
          <a:solidFill>
            <a:srgbClr val="1C1C1C"/>
          </a:solidFill>
          <a:ln>
            <a:noFill/>
          </a:ln>
        </p:spPr>
        <p:style>
          <a:lnRef idx="1">
            <a:srgbClr val="1C1C1C"/>
          </a:lnRef>
          <a:fillRef idx="1">
            <a:srgbClr val="1C1C1C"/>
          </a:fillRef>
          <a:effectRef idx="0">
            <a:srgbClr val="1C1C1C"/>
          </a:effectRef>
          <a:fontRef idx="minor">
            <a:srgbClr val="EEEEEE"/>
          </a:fontRef>
        </p:style>
        <p:txBody>
          <a:bodyPr/>
          <a:lstStyle/>
          <a:p/>
        </p:txBody>
      </p:sp>
      <p:sp>
        <p:nvSpPr>
          <p:cNvPr id="2" name="Rectangle 1"/>
          <p:cNvSpPr/>
          <p:nvPr/>
        </p:nvSpPr>
        <p:spPr>
          <a:xfrm>
            <a:off x="0" y="0"/>
            <a:ext cx="9144000" cy="594360"/>
          </a:xfrm>
          <a:prstGeom prst="rect">
            <a:avLst/>
          </a:prstGeom>
          <a:solidFill>
            <a:srgbClr val="25252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64008"/>
            <a:ext cx="7772400" cy="502920"/>
          </a:xfrm>
          <a:prstGeom prst="rect">
            <a:avLst/>
          </a:prstGeom>
          <a:noFill/>
        </p:spPr>
        <p:txBody>
          <a:bodyPr wrap="square">
            <a:spAutoFit/>
          </a:bodyPr>
          <a:lstStyle/>
          <a:p>
            <a:pPr algn="l"/>
            <a:r>
              <a:rPr sz="1800" b="1" i="0">
                <a:solidFill>
                  <a:srgbClr val="FFFFFF"/>
                </a:solidFill>
              </a:rPr>
              <a:t>4軸AIマップ — Claude Codeの位置</a:t>
            </a:r>
          </a:p>
        </p:txBody>
      </p:sp>
      <p:sp>
        <p:nvSpPr>
          <p:cNvPr id="4" name="TextBox 3"/>
          <p:cNvSpPr txBox="1"/>
          <p:nvPr/>
        </p:nvSpPr>
        <p:spPr>
          <a:xfrm>
            <a:off x="7132320" y="91440"/>
            <a:ext cx="1828800" cy="457200"/>
          </a:xfrm>
          <a:prstGeom prst="rect">
            <a:avLst/>
          </a:prstGeom>
          <a:noFill/>
        </p:spPr>
        <p:txBody>
          <a:bodyPr wrap="square">
            <a:spAutoFit/>
          </a:bodyPr>
          <a:lstStyle/>
          <a:p>
            <a:pPr algn="r"/>
            <a:r>
              <a:rPr sz="1200" b="0" i="0">
                <a:solidFill>
                  <a:srgbClr val="DA7756"/>
                </a:solidFill>
              </a:rPr>
              <a:t>[3分]</a:t>
            </a:r>
          </a:p>
        </p:txBody>
      </p:sp>
      <p:graphicFrame>
        <p:nvGraphicFramePr>
          <p:cNvPr id="5" name="Table 4"/>
          <p:cNvGraphicFramePr>
            <a:graphicFrameLocks noGrp="1"/>
          </p:cNvGraphicFramePr>
          <p:nvPr/>
        </p:nvGraphicFramePr>
        <p:xfrm>
          <a:off x="457200" y="777240"/>
          <a:ext cx="8229600" cy="2606040"/>
        </p:xfrm>
        <a:graphic>
          <a:graphicData uri="http://schemas.openxmlformats.org/drawingml/2006/table">
            <a:tbl>
              <a:tblPr/>
              <a:tblGrid>
                <a:gridCol w="2057400"/>
                <a:gridCol w="1810512"/>
                <a:gridCol w="2468880"/>
                <a:gridCol w="1892808"/>
              </a:tblGrid>
              <a:tr h="521208">
                <a:tc>
                  <a:txBody>
                    <a:bodyPr wrap="square"/>
                    <a:lstStyle/>
                    <a:p>
                      <a:pPr algn="ctr"/>
                      <a:r>
                        <a:rPr b="1" sz="1200">
                          <a:solidFill>
                            <a:srgbClr val="FFFFFF"/>
                          </a:solidFill>
                        </a:rPr>
                        <a:t>領域</a:t>
                      </a:r>
                    </a:p>
                  </a:txBody>
                  <a:tcPr>
                    <a:solidFill>
                      <a:srgbClr val="1C1C1C"/>
                    </a:solidFill>
                  </a:tcPr>
                </a:tc>
                <a:tc>
                  <a:txBody>
                    <a:bodyPr wrap="square"/>
                    <a:lstStyle/>
                    <a:p>
                      <a:pPr algn="ctr"/>
                      <a:r>
                        <a:rPr b="1" sz="1200">
                          <a:solidFill>
                            <a:srgbClr val="FFFFFF"/>
                          </a:solidFill>
                        </a:rPr>
                        <a:t>対象</a:t>
                      </a:r>
                    </a:p>
                  </a:txBody>
                  <a:tcPr>
                    <a:solidFill>
                      <a:srgbClr val="1C1C1C"/>
                    </a:solidFill>
                  </a:tcPr>
                </a:tc>
                <a:tc>
                  <a:txBody>
                    <a:bodyPr wrap="square"/>
                    <a:lstStyle/>
                    <a:p>
                      <a:pPr algn="ctr"/>
                      <a:r>
                        <a:rPr b="1" sz="1200">
                          <a:solidFill>
                            <a:srgbClr val="FFFFFF"/>
                          </a:solidFill>
                        </a:rPr>
                        <a:t>主な用途</a:t>
                      </a:r>
                    </a:p>
                  </a:txBody>
                  <a:tcPr>
                    <a:solidFill>
                      <a:srgbClr val="1C1C1C"/>
                    </a:solidFill>
                  </a:tcPr>
                </a:tc>
                <a:tc>
                  <a:txBody>
                    <a:bodyPr wrap="square"/>
                    <a:lstStyle/>
                    <a:p>
                      <a:pPr algn="ctr"/>
                      <a:r>
                        <a:rPr b="1" sz="1200">
                          <a:solidFill>
                            <a:srgbClr val="FFFFFF"/>
                          </a:solidFill>
                        </a:rPr>
                        <a:t>代表ツール</a:t>
                      </a:r>
                    </a:p>
                  </a:txBody>
                  <a:tcPr>
                    <a:solidFill>
                      <a:srgbClr val="1C1C1C"/>
                    </a:solidFill>
                  </a:tcPr>
                </a:tc>
              </a:tr>
              <a:tr h="521208">
                <a:tc>
                  <a:txBody>
                    <a:bodyPr wrap="square"/>
                    <a:lstStyle/>
                    <a:p>
                      <a:pPr algn="l"/>
                      <a:r>
                        <a:rPr sz="1100">
                          <a:solidFill>
                            <a:srgbClr val="EEEEEE"/>
                          </a:solidFill>
                        </a:rPr>
                        <a:t>文書・テキスト</a:t>
                      </a:r>
                    </a:p>
                  </a:txBody>
                  <a:tcPr/>
                </a:tc>
                <a:tc>
                  <a:txBody>
                    <a:bodyPr wrap="square"/>
                    <a:lstStyle/>
                    <a:p>
                      <a:pPr algn="l"/>
                      <a:r>
                        <a:rPr sz="1100">
                          <a:solidFill>
                            <a:srgbClr val="EEEEEE"/>
                          </a:solidFill>
                        </a:rPr>
                        <a:t>全スタッフ</a:t>
                      </a:r>
                    </a:p>
                  </a:txBody>
                  <a:tcPr/>
                </a:tc>
                <a:tc>
                  <a:txBody>
                    <a:bodyPr wrap="square"/>
                    <a:lstStyle/>
                    <a:p>
                      <a:pPr algn="l"/>
                      <a:r>
                        <a:rPr sz="1100">
                          <a:solidFill>
                            <a:srgbClr val="EEEEEE"/>
                          </a:solidFill>
                        </a:rPr>
                        <a:t>メール・報告書・広報文</a:t>
                      </a:r>
                    </a:p>
                  </a:txBody>
                  <a:tcPr/>
                </a:tc>
                <a:tc>
                  <a:txBody>
                    <a:bodyPr wrap="square"/>
                    <a:lstStyle/>
                    <a:p>
                      <a:pPr algn="l"/>
                      <a:r>
                        <a:rPr sz="1100">
                          <a:solidFill>
                            <a:srgbClr val="EEEEEE"/>
                          </a:solidFill>
                        </a:rPr>
                        <a:t>ChatGPT / Gemini / Claude</a:t>
                      </a:r>
                    </a:p>
                  </a:txBody>
                  <a:tcPr/>
                </a:tc>
              </a:tr>
              <a:tr h="521208">
                <a:tc>
                  <a:txBody>
                    <a:bodyPr wrap="square"/>
                    <a:lstStyle/>
                    <a:p>
                      <a:pPr algn="l"/>
                      <a:r>
                        <a:rPr sz="1100">
                          <a:solidFill>
                            <a:srgbClr val="EEEEEE"/>
                          </a:solidFill>
                        </a:rPr>
                        <a:t>画像・ビジュアル</a:t>
                      </a:r>
                    </a:p>
                  </a:txBody>
                  <a:tcPr>
                    <a:solidFill>
                      <a:srgbClr val="F8FAFC"/>
                    </a:solidFill>
                  </a:tcPr>
                </a:tc>
                <a:tc>
                  <a:txBody>
                    <a:bodyPr wrap="square"/>
                    <a:lstStyle/>
                    <a:p>
                      <a:pPr algn="l"/>
                      <a:r>
                        <a:rPr sz="1100">
                          <a:solidFill>
                            <a:srgbClr val="EEEEEE"/>
                          </a:solidFill>
                        </a:rPr>
                        <a:t>広報・SNS担当</a:t>
                      </a:r>
                    </a:p>
                  </a:txBody>
                  <a:tcPr>
                    <a:solidFill>
                      <a:srgbClr val="F8FAFC"/>
                    </a:solidFill>
                  </a:tcPr>
                </a:tc>
                <a:tc>
                  <a:txBody>
                    <a:bodyPr wrap="square"/>
                    <a:lstStyle/>
                    <a:p>
                      <a:pPr algn="l"/>
                      <a:r>
                        <a:rPr sz="1100">
                          <a:solidFill>
                            <a:srgbClr val="EEEEEE"/>
                          </a:solidFill>
                        </a:rPr>
                        <a:t>SNS画像・チラシ</a:t>
                      </a:r>
                    </a:p>
                  </a:txBody>
                  <a:tcPr>
                    <a:solidFill>
                      <a:srgbClr val="F8FAFC"/>
                    </a:solidFill>
                  </a:tcPr>
                </a:tc>
                <a:tc>
                  <a:txBody>
                    <a:bodyPr wrap="square"/>
                    <a:lstStyle/>
                    <a:p>
                      <a:pPr algn="l"/>
                      <a:r>
                        <a:rPr sz="1100">
                          <a:solidFill>
                            <a:srgbClr val="EEEEEE"/>
                          </a:solidFill>
                        </a:rPr>
                        <a:t>Canva / Firefly</a:t>
                      </a:r>
                    </a:p>
                  </a:txBody>
                  <a:tcPr>
                    <a:solidFill>
                      <a:srgbClr val="F8FAFC"/>
                    </a:solidFill>
                  </a:tcPr>
                </a:tc>
              </a:tr>
              <a:tr h="521208">
                <a:tc>
                  <a:txBody>
                    <a:bodyPr wrap="square"/>
                    <a:lstStyle/>
                    <a:p>
                      <a:pPr algn="l"/>
                      <a:r>
                        <a:rPr sz="1100">
                          <a:solidFill>
                            <a:srgbClr val="EEEEEE"/>
                          </a:solidFill>
                        </a:rPr>
                        <a:t>動画・映像</a:t>
                      </a:r>
                    </a:p>
                  </a:txBody>
                  <a:tcPr/>
                </a:tc>
                <a:tc>
                  <a:txBody>
                    <a:bodyPr wrap="square"/>
                    <a:lstStyle/>
                    <a:p>
                      <a:pPr algn="l"/>
                      <a:r>
                        <a:rPr sz="1100">
                          <a:solidFill>
                            <a:srgbClr val="EEEEEE"/>
                          </a:solidFill>
                        </a:rPr>
                        <a:t>広報・採用担当</a:t>
                      </a:r>
                    </a:p>
                  </a:txBody>
                  <a:tcPr/>
                </a:tc>
                <a:tc>
                  <a:txBody>
                    <a:bodyPr wrap="square"/>
                    <a:lstStyle/>
                    <a:p>
                      <a:pPr algn="l"/>
                      <a:r>
                        <a:rPr sz="1100">
                          <a:solidFill>
                            <a:srgbClr val="EEEEEE"/>
                          </a:solidFill>
                        </a:rPr>
                        <a:t>SNS動画・採用動画</a:t>
                      </a:r>
                    </a:p>
                  </a:txBody>
                  <a:tcPr/>
                </a:tc>
                <a:tc>
                  <a:txBody>
                    <a:bodyPr wrap="square"/>
                    <a:lstStyle/>
                    <a:p>
                      <a:pPr algn="l"/>
                      <a:r>
                        <a:rPr sz="1100">
                          <a:solidFill>
                            <a:srgbClr val="EEEEEE"/>
                          </a:solidFill>
                        </a:rPr>
                        <a:t>CapCut / Canva</a:t>
                      </a:r>
                    </a:p>
                  </a:txBody>
                  <a:tcPr/>
                </a:tc>
              </a:tr>
              <a:tr h="521208">
                <a:tc>
                  <a:txBody>
                    <a:bodyPr wrap="square"/>
                    <a:lstStyle/>
                    <a:p>
                      <a:pPr algn="l"/>
                      <a:r>
                        <a:rPr sz="1100">
                          <a:solidFill>
                            <a:srgbClr val="EEEEEE"/>
                          </a:solidFill>
                        </a:rPr>
                        <a:t>自動化・開発 ← ここ</a:t>
                      </a:r>
                    </a:p>
                  </a:txBody>
                  <a:tcPr>
                    <a:solidFill>
                      <a:srgbClr val="F8FAFC"/>
                    </a:solidFill>
                  </a:tcPr>
                </a:tc>
                <a:tc>
                  <a:txBody>
                    <a:bodyPr wrap="square"/>
                    <a:lstStyle/>
                    <a:p>
                      <a:pPr algn="l"/>
                      <a:r>
                        <a:rPr sz="1100">
                          <a:solidFill>
                            <a:srgbClr val="EEEEEE"/>
                          </a:solidFill>
                        </a:rPr>
                        <a:t>経営者・業務改善担当</a:t>
                      </a:r>
                    </a:p>
                  </a:txBody>
                  <a:tcPr>
                    <a:solidFill>
                      <a:srgbClr val="F8FAFC"/>
                    </a:solidFill>
                  </a:tcPr>
                </a:tc>
                <a:tc>
                  <a:txBody>
                    <a:bodyPr wrap="square"/>
                    <a:lstStyle/>
                    <a:p>
                      <a:pPr algn="l"/>
                      <a:r>
                        <a:rPr sz="1100">
                          <a:solidFill>
                            <a:srgbClr val="EEEEEE"/>
                          </a:solidFill>
                        </a:rPr>
                        <a:t>繰り返し作業の自動化・仕組み化</a:t>
                      </a:r>
                    </a:p>
                  </a:txBody>
                  <a:tcPr>
                    <a:solidFill>
                      <a:srgbClr val="F8FAFC"/>
                    </a:solidFill>
                  </a:tcPr>
                </a:tc>
                <a:tc>
                  <a:txBody>
                    <a:bodyPr wrap="square"/>
                    <a:lstStyle/>
                    <a:p>
                      <a:pPr algn="l"/>
                      <a:r>
                        <a:rPr sz="1100">
                          <a:solidFill>
                            <a:srgbClr val="EEEEEE"/>
                          </a:solidFill>
                        </a:rPr>
                        <a:t>Claude Code</a:t>
                      </a:r>
                    </a:p>
                  </a:txBody>
                  <a:tcPr>
                    <a:solidFill>
                      <a:srgbClr val="F8FAFC"/>
                    </a:solidFill>
                  </a:tcPr>
                </a:tc>
              </a:tr>
            </a:tbl>
          </a:graphicData>
        </a:graphic>
      </p:graphicFrame>
      <p:sp>
        <p:nvSpPr>
          <p:cNvPr id="6" name="Rectangle 5"/>
          <p:cNvSpPr/>
          <p:nvPr/>
        </p:nvSpPr>
        <p:spPr>
          <a:xfrm>
            <a:off x="457200" y="3547872"/>
            <a:ext cx="8229600" cy="594360"/>
          </a:xfrm>
          <a:prstGeom prst="rect">
            <a:avLst/>
          </a:prstGeom>
          <a:solidFill>
            <a:srgbClr val="2F2F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94360" y="3611880"/>
            <a:ext cx="7955280" cy="502920"/>
          </a:xfrm>
          <a:prstGeom prst="rect">
            <a:avLst/>
          </a:prstGeom>
          <a:noFill/>
        </p:spPr>
        <p:txBody>
          <a:bodyPr wrap="square">
            <a:spAutoFit/>
          </a:bodyPr>
          <a:lstStyle/>
          <a:p>
            <a:pPr algn="l"/>
            <a:r>
              <a:rPr sz="1300" b="0" i="0">
                <a:solidFill>
                  <a:srgbClr val="EEEEEE"/>
                </a:solidFill>
              </a:rPr>
              <a:t>「自動化・開発」領域だけがAPIキーや環境設定が必要。Claude Codeはその敷居を最も下げたツールです</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1C1C1C"/>
        </a:solidFill>
        <a:effectLst/>
      </p:bgPr>
    </p:bg>
    <p:spTree>
      <p:nvGrpSpPr>
        <p:cNvPr id="1" name=""/>
        <p:cNvGrpSpPr/>
        <p:nvPr/>
      </p:nvGrpSpPr>
      <p:grpSpPr/>
      <p:sp>
        <p:nvSpPr>
          <p:cNvPr id="9900" name="_BG_DARK_"/>
          <p:cNvSpPr/>
          <p:nvPr/>
        </p:nvSpPr>
        <p:spPr>
          <a:xfrm>
            <a:off x="0" y="0"/>
            <a:ext cx="9144000" cy="5143500"/>
          </a:xfrm>
          <a:prstGeom prst="rect">
            <a:avLst/>
          </a:prstGeom>
          <a:solidFill>
            <a:srgbClr val="1C1C1C"/>
          </a:solidFill>
          <a:ln>
            <a:noFill/>
          </a:ln>
        </p:spPr>
        <p:style>
          <a:lnRef idx="1">
            <a:srgbClr val="1C1C1C"/>
          </a:lnRef>
          <a:fillRef idx="1">
            <a:srgbClr val="1C1C1C"/>
          </a:fillRef>
          <a:effectRef idx="0">
            <a:srgbClr val="1C1C1C"/>
          </a:effectRef>
          <a:fontRef idx="minor">
            <a:srgbClr val="EEEEEE"/>
          </a:fontRef>
        </p:style>
        <p:txBody>
          <a:bodyPr/>
          <a:lstStyle/>
          <a:p/>
        </p:txBody>
      </p:sp>
      <p:sp>
        <p:nvSpPr>
          <p:cNvPr id="2" name="Rectangle 1"/>
          <p:cNvSpPr/>
          <p:nvPr/>
        </p:nvSpPr>
        <p:spPr>
          <a:xfrm>
            <a:off x="0" y="0"/>
            <a:ext cx="9144000" cy="594360"/>
          </a:xfrm>
          <a:prstGeom prst="rect">
            <a:avLst/>
          </a:prstGeom>
          <a:solidFill>
            <a:srgbClr val="25252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64008"/>
            <a:ext cx="7772400" cy="502920"/>
          </a:xfrm>
          <a:prstGeom prst="rect">
            <a:avLst/>
          </a:prstGeom>
          <a:noFill/>
        </p:spPr>
        <p:txBody>
          <a:bodyPr wrap="square">
            <a:spAutoFit/>
          </a:bodyPr>
          <a:lstStyle/>
          <a:p>
            <a:pPr algn="l"/>
            <a:r>
              <a:rPr sz="1800" b="1" i="0">
                <a:solidFill>
                  <a:srgbClr val="FFFFFF"/>
                </a:solidFill>
              </a:rPr>
              <a:t>Claude と Claude Code の違い</a:t>
            </a:r>
          </a:p>
        </p:txBody>
      </p:sp>
      <p:sp>
        <p:nvSpPr>
          <p:cNvPr id="4" name="TextBox 3"/>
          <p:cNvSpPr txBox="1"/>
          <p:nvPr/>
        </p:nvSpPr>
        <p:spPr>
          <a:xfrm>
            <a:off x="7132320" y="91440"/>
            <a:ext cx="1828800" cy="457200"/>
          </a:xfrm>
          <a:prstGeom prst="rect">
            <a:avLst/>
          </a:prstGeom>
          <a:noFill/>
        </p:spPr>
        <p:txBody>
          <a:bodyPr wrap="square">
            <a:spAutoFit/>
          </a:bodyPr>
          <a:lstStyle/>
          <a:p>
            <a:pPr algn="r"/>
            <a:r>
              <a:rPr sz="1200" b="0" i="0">
                <a:solidFill>
                  <a:srgbClr val="DA7756"/>
                </a:solidFill>
              </a:rPr>
              <a:t>[4分]</a:t>
            </a:r>
          </a:p>
        </p:txBody>
      </p:sp>
      <p:graphicFrame>
        <p:nvGraphicFramePr>
          <p:cNvPr id="5" name="Table 4"/>
          <p:cNvGraphicFramePr>
            <a:graphicFrameLocks noGrp="1"/>
          </p:cNvGraphicFramePr>
          <p:nvPr/>
        </p:nvGraphicFramePr>
        <p:xfrm>
          <a:off x="457200" y="777240"/>
          <a:ext cx="8229600" cy="2880360"/>
        </p:xfrm>
        <a:graphic>
          <a:graphicData uri="http://schemas.openxmlformats.org/drawingml/2006/table">
            <a:tbl>
              <a:tblPr/>
              <a:tblGrid>
                <a:gridCol w="1481328"/>
                <a:gridCol w="3374136"/>
                <a:gridCol w="3374136"/>
              </a:tblGrid>
              <a:tr h="576072">
                <a:tc>
                  <a:txBody>
                    <a:bodyPr wrap="square"/>
                    <a:lstStyle/>
                    <a:p>
                      <a:pPr algn="ctr"/>
                      <a:r>
                        <a:rPr b="1" sz="1200">
                          <a:solidFill>
                            <a:srgbClr val="FFFFFF"/>
                          </a:solidFill>
                        </a:rPr>
                        <a:t/>
                      </a:r>
                    </a:p>
                  </a:txBody>
                  <a:tcPr>
                    <a:solidFill>
                      <a:srgbClr val="1C1C1C"/>
                    </a:solidFill>
                  </a:tcPr>
                </a:tc>
                <a:tc>
                  <a:txBody>
                    <a:bodyPr wrap="square"/>
                    <a:lstStyle/>
                    <a:p>
                      <a:pPr algn="ctr"/>
                      <a:r>
                        <a:rPr b="1" sz="1200">
                          <a:solidFill>
                            <a:srgbClr val="FFFFFF"/>
                          </a:solidFill>
                        </a:rPr>
                        <a:t>Claude（claude.ai）</a:t>
                      </a:r>
                    </a:p>
                  </a:txBody>
                  <a:tcPr>
                    <a:solidFill>
                      <a:srgbClr val="1C1C1C"/>
                    </a:solidFill>
                  </a:tcPr>
                </a:tc>
                <a:tc>
                  <a:txBody>
                    <a:bodyPr wrap="square"/>
                    <a:lstStyle/>
                    <a:p>
                      <a:pPr algn="ctr"/>
                      <a:r>
                        <a:rPr b="1" sz="1200">
                          <a:solidFill>
                            <a:srgbClr val="FFFFFF"/>
                          </a:solidFill>
                        </a:rPr>
                        <a:t>Claude Code</a:t>
                      </a:r>
                    </a:p>
                  </a:txBody>
                  <a:tcPr>
                    <a:solidFill>
                      <a:srgbClr val="1C1C1C"/>
                    </a:solidFill>
                  </a:tcPr>
                </a:tc>
              </a:tr>
              <a:tr h="576072">
                <a:tc>
                  <a:txBody>
                    <a:bodyPr wrap="square"/>
                    <a:lstStyle/>
                    <a:p>
                      <a:pPr algn="l"/>
                      <a:r>
                        <a:rPr sz="1100">
                          <a:solidFill>
                            <a:srgbClr val="EEEEEE"/>
                          </a:solidFill>
                        </a:rPr>
                        <a:t>種類</a:t>
                      </a:r>
                    </a:p>
                  </a:txBody>
                  <a:tcPr/>
                </a:tc>
                <a:tc>
                  <a:txBody>
                    <a:bodyPr wrap="square"/>
                    <a:lstStyle/>
                    <a:p>
                      <a:pPr algn="l"/>
                      <a:r>
                        <a:rPr sz="1100">
                          <a:solidFill>
                            <a:srgbClr val="EEEEEE"/>
                          </a:solidFill>
                        </a:rPr>
                        <a:t>会話型AI</a:t>
                      </a:r>
                    </a:p>
                  </a:txBody>
                  <a:tcPr/>
                </a:tc>
                <a:tc>
                  <a:txBody>
                    <a:bodyPr wrap="square"/>
                    <a:lstStyle/>
                    <a:p>
                      <a:pPr algn="l"/>
                      <a:r>
                        <a:rPr sz="1100">
                          <a:solidFill>
                            <a:srgbClr val="EEEEEE"/>
                          </a:solidFill>
                        </a:rPr>
                        <a:t>AIエージェント</a:t>
                      </a:r>
                    </a:p>
                  </a:txBody>
                  <a:tcPr/>
                </a:tc>
              </a:tr>
              <a:tr h="576072">
                <a:tc>
                  <a:txBody>
                    <a:bodyPr wrap="square"/>
                    <a:lstStyle/>
                    <a:p>
                      <a:pPr algn="l"/>
                      <a:r>
                        <a:rPr sz="1100">
                          <a:solidFill>
                            <a:srgbClr val="EEEEEE"/>
                          </a:solidFill>
                        </a:rPr>
                        <a:t>使い方</a:t>
                      </a:r>
                    </a:p>
                  </a:txBody>
                  <a:tcPr>
                    <a:solidFill>
                      <a:srgbClr val="F8FAFC"/>
                    </a:solidFill>
                  </a:tcPr>
                </a:tc>
                <a:tc>
                  <a:txBody>
                    <a:bodyPr wrap="square"/>
                    <a:lstStyle/>
                    <a:p>
                      <a:pPr algn="l"/>
                      <a:r>
                        <a:rPr sz="1100">
                          <a:solidFill>
                            <a:srgbClr val="EEEEEE"/>
                          </a:solidFill>
                        </a:rPr>
                        <a:t>ブラウザでチャット</a:t>
                      </a:r>
                    </a:p>
                  </a:txBody>
                  <a:tcPr>
                    <a:solidFill>
                      <a:srgbClr val="F8FAFC"/>
                    </a:solidFill>
                  </a:tcPr>
                </a:tc>
                <a:tc>
                  <a:txBody>
                    <a:bodyPr wrap="square"/>
                    <a:lstStyle/>
                    <a:p>
                      <a:pPr algn="l"/>
                      <a:r>
                        <a:rPr sz="1100">
                          <a:solidFill>
                            <a:srgbClr val="EEEEEE"/>
                          </a:solidFill>
                        </a:rPr>
                        <a:t>デスクトップアプリ</a:t>
                      </a:r>
                    </a:p>
                  </a:txBody>
                  <a:tcPr>
                    <a:solidFill>
                      <a:srgbClr val="F8FAFC"/>
                    </a:solidFill>
                  </a:tcPr>
                </a:tc>
              </a:tr>
              <a:tr h="576072">
                <a:tc>
                  <a:txBody>
                    <a:bodyPr wrap="square"/>
                    <a:lstStyle/>
                    <a:p>
                      <a:pPr algn="l"/>
                      <a:r>
                        <a:rPr sz="1100">
                          <a:solidFill>
                            <a:srgbClr val="EEEEEE"/>
                          </a:solidFill>
                        </a:rPr>
                        <a:t>できること</a:t>
                      </a:r>
                    </a:p>
                  </a:txBody>
                  <a:tcPr/>
                </a:tc>
                <a:tc>
                  <a:txBody>
                    <a:bodyPr wrap="square"/>
                    <a:lstStyle/>
                    <a:p>
                      <a:pPr algn="l"/>
                      <a:r>
                        <a:rPr sz="1100">
                          <a:solidFill>
                            <a:srgbClr val="EEEEEE"/>
                          </a:solidFill>
                        </a:rPr>
                        <a:t>答える・書く・提案する</a:t>
                      </a:r>
                    </a:p>
                  </a:txBody>
                  <a:tcPr/>
                </a:tc>
                <a:tc>
                  <a:txBody>
                    <a:bodyPr wrap="square"/>
                    <a:lstStyle/>
                    <a:p>
                      <a:pPr algn="l"/>
                      <a:r>
                        <a:rPr sz="1100">
                          <a:solidFill>
                            <a:srgbClr val="EEEEEE"/>
                          </a:solidFill>
                        </a:rPr>
                        <a:t>ファイルを作る・動かす・整理する</a:t>
                      </a:r>
                    </a:p>
                  </a:txBody>
                  <a:tcPr/>
                </a:tc>
              </a:tr>
              <a:tr h="576072">
                <a:tc>
                  <a:txBody>
                    <a:bodyPr wrap="square"/>
                    <a:lstStyle/>
                    <a:p>
                      <a:pPr algn="l"/>
                      <a:r>
                        <a:rPr sz="1100">
                          <a:solidFill>
                            <a:srgbClr val="EEEEEE"/>
                          </a:solidFill>
                        </a:rPr>
                        <a:t>イメージ</a:t>
                      </a:r>
                    </a:p>
                  </a:txBody>
                  <a:tcPr>
                    <a:solidFill>
                      <a:srgbClr val="F8FAFC"/>
                    </a:solidFill>
                  </a:tcPr>
                </a:tc>
                <a:tc>
                  <a:txBody>
                    <a:bodyPr wrap="square"/>
                    <a:lstStyle/>
                    <a:p>
                      <a:pPr algn="l"/>
                      <a:r>
                        <a:rPr sz="1100">
                          <a:solidFill>
                            <a:srgbClr val="EEEEEE"/>
                          </a:solidFill>
                        </a:rPr>
                        <a:t>優秀な相談相手</a:t>
                      </a:r>
                    </a:p>
                  </a:txBody>
                  <a:tcPr>
                    <a:solidFill>
                      <a:srgbClr val="F8FAFC"/>
                    </a:solidFill>
                  </a:tcPr>
                </a:tc>
                <a:tc>
                  <a:txBody>
                    <a:bodyPr wrap="square"/>
                    <a:lstStyle/>
                    <a:p>
                      <a:pPr algn="l"/>
                      <a:r>
                        <a:rPr sz="1100">
                          <a:solidFill>
                            <a:srgbClr val="EEEEEE"/>
                          </a:solidFill>
                        </a:rPr>
                        <a:t>実際に手を動かす部下</a:t>
                      </a:r>
                    </a:p>
                  </a:txBody>
                  <a:tcPr>
                    <a:solidFill>
                      <a:srgbClr val="F8FAFC"/>
                    </a:solidFill>
                  </a:tcPr>
                </a:tc>
              </a:tr>
            </a:tbl>
          </a:graphicData>
        </a:graphic>
      </p:graphicFrame>
      <p:sp>
        <p:nvSpPr>
          <p:cNvPr id="6" name="Rectangle 5"/>
          <p:cNvSpPr/>
          <p:nvPr/>
        </p:nvSpPr>
        <p:spPr>
          <a:xfrm>
            <a:off x="457200" y="3822191"/>
            <a:ext cx="8229600" cy="594360"/>
          </a:xfrm>
          <a:prstGeom prst="rect">
            <a:avLst/>
          </a:prstGeom>
          <a:solidFill>
            <a:srgbClr val="2F2F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94360" y="3886199"/>
            <a:ext cx="7955280" cy="502920"/>
          </a:xfrm>
          <a:prstGeom prst="rect">
            <a:avLst/>
          </a:prstGeom>
          <a:noFill/>
        </p:spPr>
        <p:txBody>
          <a:bodyPr wrap="square">
            <a:spAutoFit/>
          </a:bodyPr>
          <a:lstStyle/>
          <a:p>
            <a:pPr algn="l"/>
            <a:r>
              <a:rPr sz="1300" b="0" i="0">
                <a:solidFill>
                  <a:srgbClr val="EEEEEE"/>
                </a:solidFill>
              </a:rPr>
              <a:t>Claude Codeは「答えを出す」だけでなく「実際にファイルを操作・生成する」ところが決定的な違いです</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1C1C1C"/>
        </a:solidFill>
        <a:effectLst/>
      </p:bgPr>
    </p:bg>
    <p:spTree>
      <p:nvGrpSpPr>
        <p:cNvPr id="1" name=""/>
        <p:cNvGrpSpPr/>
        <p:nvPr/>
      </p:nvGrpSpPr>
      <p:grpSpPr/>
      <p:sp>
        <p:nvSpPr>
          <p:cNvPr id="9900" name="_BG_DARK_"/>
          <p:cNvSpPr/>
          <p:nvPr/>
        </p:nvSpPr>
        <p:spPr>
          <a:xfrm>
            <a:off x="0" y="0"/>
            <a:ext cx="9144000" cy="5143500"/>
          </a:xfrm>
          <a:prstGeom prst="rect">
            <a:avLst/>
          </a:prstGeom>
          <a:solidFill>
            <a:srgbClr val="1C1C1C"/>
          </a:solidFill>
          <a:ln>
            <a:noFill/>
          </a:ln>
        </p:spPr>
        <p:style>
          <a:lnRef idx="1">
            <a:srgbClr val="1C1C1C"/>
          </a:lnRef>
          <a:fillRef idx="1">
            <a:srgbClr val="1C1C1C"/>
          </a:fillRef>
          <a:effectRef idx="0">
            <a:srgbClr val="1C1C1C"/>
          </a:effectRef>
          <a:fontRef idx="minor">
            <a:srgbClr val="EEEEEE"/>
          </a:fontRef>
        </p:style>
        <p:txBody>
          <a:bodyPr/>
          <a:lstStyle/>
          <a:p/>
        </p:txBody>
      </p:sp>
      <p:sp>
        <p:nvSpPr>
          <p:cNvPr id="2" name="Rectangle 1"/>
          <p:cNvSpPr/>
          <p:nvPr/>
        </p:nvSpPr>
        <p:spPr>
          <a:xfrm>
            <a:off x="0" y="0"/>
            <a:ext cx="9144000" cy="594360"/>
          </a:xfrm>
          <a:prstGeom prst="rect">
            <a:avLst/>
          </a:prstGeom>
          <a:solidFill>
            <a:srgbClr val="25252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64008"/>
            <a:ext cx="7772400" cy="502920"/>
          </a:xfrm>
          <a:prstGeom prst="rect">
            <a:avLst/>
          </a:prstGeom>
          <a:noFill/>
        </p:spPr>
        <p:txBody>
          <a:bodyPr wrap="square">
            <a:spAutoFit/>
          </a:bodyPr>
          <a:lstStyle/>
          <a:p>
            <a:pPr algn="l"/>
            <a:r>
              <a:rPr sz="1800" b="1" i="0">
                <a:solidFill>
                  <a:srgbClr val="FFFFFF"/>
                </a:solidFill>
              </a:rPr>
              <a:t>Claude Code — できること / できないこと</a:t>
            </a:r>
          </a:p>
        </p:txBody>
      </p:sp>
      <p:sp>
        <p:nvSpPr>
          <p:cNvPr id="4" name="TextBox 3"/>
          <p:cNvSpPr txBox="1"/>
          <p:nvPr/>
        </p:nvSpPr>
        <p:spPr>
          <a:xfrm>
            <a:off x="7132320" y="91440"/>
            <a:ext cx="1828800" cy="457200"/>
          </a:xfrm>
          <a:prstGeom prst="rect">
            <a:avLst/>
          </a:prstGeom>
          <a:noFill/>
        </p:spPr>
        <p:txBody>
          <a:bodyPr wrap="square">
            <a:spAutoFit/>
          </a:bodyPr>
          <a:lstStyle/>
          <a:p>
            <a:pPr algn="r"/>
            <a:r>
              <a:rPr sz="1200" b="0" i="0">
                <a:solidFill>
                  <a:srgbClr val="DA7756"/>
                </a:solidFill>
              </a:rPr>
              <a:t>[4分]</a:t>
            </a:r>
          </a:p>
        </p:txBody>
      </p:sp>
      <p:graphicFrame>
        <p:nvGraphicFramePr>
          <p:cNvPr id="5" name="Table 4"/>
          <p:cNvGraphicFramePr>
            <a:graphicFrameLocks noGrp="1"/>
          </p:cNvGraphicFramePr>
          <p:nvPr/>
        </p:nvGraphicFramePr>
        <p:xfrm>
          <a:off x="457200" y="777240"/>
          <a:ext cx="8229600" cy="2103120"/>
        </p:xfrm>
        <a:graphic>
          <a:graphicData uri="http://schemas.openxmlformats.org/drawingml/2006/table">
            <a:tbl>
              <a:tblPr/>
              <a:tblGrid>
                <a:gridCol w="3456432"/>
                <a:gridCol w="4773168"/>
              </a:tblGrid>
              <a:tr h="525780">
                <a:tc>
                  <a:txBody>
                    <a:bodyPr wrap="square"/>
                    <a:lstStyle/>
                    <a:p>
                      <a:pPr algn="ctr"/>
                      <a:r>
                        <a:rPr b="1" sz="1200">
                          <a:solidFill>
                            <a:srgbClr val="FFFFFF"/>
                          </a:solidFill>
                        </a:rPr>
                        <a:t>できること</a:t>
                      </a:r>
                    </a:p>
                  </a:txBody>
                  <a:tcPr>
                    <a:solidFill>
                      <a:srgbClr val="1C1C1C"/>
                    </a:solidFill>
                  </a:tcPr>
                </a:tc>
                <a:tc>
                  <a:txBody>
                    <a:bodyPr wrap="square"/>
                    <a:lstStyle/>
                    <a:p>
                      <a:pPr algn="ctr"/>
                      <a:r>
                        <a:rPr b="1" sz="1200">
                          <a:solidFill>
                            <a:srgbClr val="FFFFFF"/>
                          </a:solidFill>
                        </a:rPr>
                        <a:t>できないこと</a:t>
                      </a:r>
                    </a:p>
                  </a:txBody>
                  <a:tcPr>
                    <a:solidFill>
                      <a:srgbClr val="1C1C1C"/>
                    </a:solidFill>
                  </a:tcPr>
                </a:tc>
              </a:tr>
              <a:tr h="525780">
                <a:tc>
                  <a:txBody>
                    <a:bodyPr wrap="square"/>
                    <a:lstStyle/>
                    <a:p>
                      <a:pPr algn="l"/>
                      <a:r>
                        <a:rPr sz="1100">
                          <a:solidFill>
                            <a:srgbClr val="EEEEEE"/>
                          </a:solidFill>
                        </a:rPr>
                        <a:t>ファイル・フォルダ操作</a:t>
                      </a:r>
                    </a:p>
                  </a:txBody>
                  <a:tcPr/>
                </a:tc>
                <a:tc>
                  <a:txBody>
                    <a:bodyPr wrap="square"/>
                    <a:lstStyle/>
                    <a:p>
                      <a:pPr algn="l"/>
                      <a:r>
                        <a:rPr sz="1100">
                          <a:solidFill>
                            <a:srgbClr val="EEEEEE"/>
                          </a:solidFill>
                        </a:rPr>
                        <a:t>ネット上の操作（注文・送信・フォーム入力など）</a:t>
                      </a:r>
                    </a:p>
                  </a:txBody>
                  <a:tcPr/>
                </a:tc>
              </a:tr>
              <a:tr h="525780">
                <a:tc>
                  <a:txBody>
                    <a:bodyPr wrap="square"/>
                    <a:lstStyle/>
                    <a:p>
                      <a:pPr algn="l"/>
                      <a:r>
                        <a:rPr sz="1100">
                          <a:solidFill>
                            <a:srgbClr val="EEEEEE"/>
                          </a:solidFill>
                        </a:rPr>
                        <a:t>CSV・データの整形・集計</a:t>
                      </a:r>
                    </a:p>
                  </a:txBody>
                  <a:tcPr>
                    <a:solidFill>
                      <a:srgbClr val="F8FAFC"/>
                    </a:solidFill>
                  </a:tcPr>
                </a:tc>
                <a:tc>
                  <a:txBody>
                    <a:bodyPr wrap="square"/>
                    <a:lstStyle/>
                    <a:p>
                      <a:pPr algn="l"/>
                      <a:r>
                        <a:rPr sz="1100">
                          <a:solidFill>
                            <a:srgbClr val="EEEEEE"/>
                          </a:solidFill>
                        </a:rPr>
                        <a:t>完全な自動実行（毎回指示は必要）</a:t>
                      </a:r>
                    </a:p>
                  </a:txBody>
                  <a:tcPr>
                    <a:solidFill>
                      <a:srgbClr val="F8FAFC"/>
                    </a:solidFill>
                  </a:tcPr>
                </a:tc>
              </a:tr>
              <a:tr h="525780">
                <a:tc>
                  <a:txBody>
                    <a:bodyPr wrap="square"/>
                    <a:lstStyle/>
                    <a:p>
                      <a:pPr algn="l"/>
                      <a:r>
                        <a:rPr sz="1100">
                          <a:solidFill>
                            <a:srgbClr val="EEEEEE"/>
                          </a:solidFill>
                        </a:rPr>
                        <a:t>定型文書の一括生成</a:t>
                      </a:r>
                    </a:p>
                  </a:txBody>
                  <a:tcPr/>
                </a:tc>
                <a:tc>
                  <a:txBody>
                    <a:bodyPr wrap="square"/>
                    <a:lstStyle/>
                    <a:p>
                      <a:pPr algn="l"/>
                      <a:r>
                        <a:rPr sz="1100">
                          <a:solidFill>
                            <a:srgbClr val="EEEEEE"/>
                          </a:solidFill>
                        </a:rPr>
                        <a:t>複雑なシステム連携（別途開発が必要）</a:t>
                      </a:r>
                    </a:p>
                  </a:txBody>
                  <a:tcPr/>
                </a:tc>
              </a:tr>
            </a:tbl>
          </a:graphicData>
        </a:graphic>
      </p:graphicFrame>
      <p:sp>
        <p:nvSpPr>
          <p:cNvPr id="6" name="TextBox 5"/>
          <p:cNvSpPr txBox="1"/>
          <p:nvPr/>
        </p:nvSpPr>
        <p:spPr>
          <a:xfrm>
            <a:off x="457200" y="3017520"/>
            <a:ext cx="8229600" cy="365760"/>
          </a:xfrm>
          <a:prstGeom prst="rect">
            <a:avLst/>
          </a:prstGeom>
          <a:noFill/>
        </p:spPr>
        <p:txBody>
          <a:bodyPr wrap="square">
            <a:spAutoFit/>
          </a:bodyPr>
          <a:lstStyle/>
          <a:p>
            <a:pPr algn="l"/>
            <a:r>
              <a:rPr sz="1400" b="1" i="0">
                <a:solidFill>
                  <a:srgbClr val="EEEEEE"/>
                </a:solidFill>
              </a:rPr>
              <a:t>利用条件</a:t>
            </a:r>
          </a:p>
        </p:txBody>
      </p:sp>
      <p:graphicFrame>
        <p:nvGraphicFramePr>
          <p:cNvPr id="7" name="Table 6"/>
          <p:cNvGraphicFramePr>
            <a:graphicFrameLocks noGrp="1"/>
          </p:cNvGraphicFramePr>
          <p:nvPr/>
        </p:nvGraphicFramePr>
        <p:xfrm>
          <a:off x="457200" y="3456432"/>
          <a:ext cx="8229600" cy="1463040"/>
        </p:xfrm>
        <a:graphic>
          <a:graphicData uri="http://schemas.openxmlformats.org/drawingml/2006/table">
            <a:tbl>
              <a:tblPr/>
              <a:tblGrid>
                <a:gridCol w="2880360"/>
                <a:gridCol w="5349240"/>
              </a:tblGrid>
              <a:tr h="365760">
                <a:tc>
                  <a:txBody>
                    <a:bodyPr wrap="square"/>
                    <a:lstStyle/>
                    <a:p>
                      <a:pPr algn="ctr"/>
                      <a:r>
                        <a:rPr b="1" sz="1200">
                          <a:solidFill>
                            <a:srgbClr val="FFFFFF"/>
                          </a:solidFill>
                        </a:rPr>
                        <a:t>必要なもの</a:t>
                      </a:r>
                    </a:p>
                  </a:txBody>
                  <a:tcPr>
                    <a:solidFill>
                      <a:srgbClr val="1C1C1C"/>
                    </a:solidFill>
                  </a:tcPr>
                </a:tc>
                <a:tc>
                  <a:txBody>
                    <a:bodyPr wrap="square"/>
                    <a:lstStyle/>
                    <a:p>
                      <a:pPr algn="ctr"/>
                      <a:r>
                        <a:rPr b="1" sz="1200">
                          <a:solidFill>
                            <a:srgbClr val="FFFFFF"/>
                          </a:solidFill>
                        </a:rPr>
                        <a:t>詳細</a:t>
                      </a:r>
                    </a:p>
                  </a:txBody>
                  <a:tcPr>
                    <a:solidFill>
                      <a:srgbClr val="1C1C1C"/>
                    </a:solidFill>
                  </a:tcPr>
                </a:tc>
              </a:tr>
              <a:tr h="365760">
                <a:tc>
                  <a:txBody>
                    <a:bodyPr wrap="square"/>
                    <a:lstStyle/>
                    <a:p>
                      <a:pPr algn="l"/>
                      <a:r>
                        <a:rPr sz="1100">
                          <a:solidFill>
                            <a:srgbClr val="EEEEEE"/>
                          </a:solidFill>
                        </a:rPr>
                        <a:t>PC（Windows / Mac）</a:t>
                      </a:r>
                    </a:p>
                  </a:txBody>
                  <a:tcPr/>
                </a:tc>
                <a:tc>
                  <a:txBody>
                    <a:bodyPr wrap="square"/>
                    <a:lstStyle/>
                    <a:p>
                      <a:pPr algn="l"/>
                      <a:r>
                        <a:rPr sz="1100">
                          <a:solidFill>
                            <a:srgbClr val="EEEEEE"/>
                          </a:solidFill>
                        </a:rPr>
                        <a:t>タブレット・スマホは不可</a:t>
                      </a:r>
                    </a:p>
                  </a:txBody>
                  <a:tcPr/>
                </a:tc>
              </a:tr>
              <a:tr h="365760">
                <a:tc>
                  <a:txBody>
                    <a:bodyPr wrap="square"/>
                    <a:lstStyle/>
                    <a:p>
                      <a:pPr algn="l"/>
                      <a:r>
                        <a:rPr sz="1100">
                          <a:solidFill>
                            <a:srgbClr val="EEEEEE"/>
                          </a:solidFill>
                        </a:rPr>
                        <a:t>Claude Code デスクトップ版</a:t>
                      </a:r>
                    </a:p>
                  </a:txBody>
                  <a:tcPr>
                    <a:solidFill>
                      <a:srgbClr val="F8FAFC"/>
                    </a:solidFill>
                  </a:tcPr>
                </a:tc>
                <a:tc>
                  <a:txBody>
                    <a:bodyPr wrap="square"/>
                    <a:lstStyle/>
                    <a:p>
                      <a:pPr algn="l"/>
                      <a:r>
                        <a:rPr sz="1100">
                          <a:solidFill>
                            <a:srgbClr val="EEEEEE"/>
                          </a:solidFill>
                        </a:rPr>
                        <a:t>無料インストール（claude.ai/download）</a:t>
                      </a:r>
                    </a:p>
                  </a:txBody>
                  <a:tcPr>
                    <a:solidFill>
                      <a:srgbClr val="F8FAFC"/>
                    </a:solidFill>
                  </a:tcPr>
                </a:tc>
              </a:tr>
              <a:tr h="365760">
                <a:tc>
                  <a:txBody>
                    <a:bodyPr wrap="square"/>
                    <a:lstStyle/>
                    <a:p>
                      <a:pPr algn="l"/>
                      <a:r>
                        <a:rPr sz="1100">
                          <a:solidFill>
                            <a:srgbClr val="EEEEEE"/>
                          </a:solidFill>
                        </a:rPr>
                        <a:t>Anthropicアカウント + Proプラン</a:t>
                      </a:r>
                    </a:p>
                  </a:txBody>
                  <a:tcPr/>
                </a:tc>
                <a:tc>
                  <a:txBody>
                    <a:bodyPr wrap="square"/>
                    <a:lstStyle/>
                    <a:p>
                      <a:pPr algn="l"/>
                      <a:r>
                        <a:rPr sz="1100">
                          <a:solidFill>
                            <a:srgbClr val="EEEEEE"/>
                          </a:solidFill>
                        </a:rPr>
                        <a:t>$20/月・約3,000円・APIキー不要（対話的利用のため）</a:t>
                      </a:r>
                    </a:p>
                  </a:txBody>
                  <a:tcPr/>
                </a:tc>
              </a:tr>
            </a:tbl>
          </a:graphicData>
        </a:graphic>
      </p:graphicFrame>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1C1C1C"/>
        </a:solidFill>
        <a:effectLst/>
      </p:bgPr>
    </p:bg>
    <p:spTree>
      <p:nvGrpSpPr>
        <p:cNvPr id="1" name=""/>
        <p:cNvGrpSpPr/>
        <p:nvPr/>
      </p:nvGrpSpPr>
      <p:grpSpPr/>
      <p:sp>
        <p:nvSpPr>
          <p:cNvPr id="9900" name="_BG_DARK_"/>
          <p:cNvSpPr/>
          <p:nvPr/>
        </p:nvSpPr>
        <p:spPr>
          <a:xfrm>
            <a:off x="0" y="0"/>
            <a:ext cx="9144000" cy="5143500"/>
          </a:xfrm>
          <a:prstGeom prst="rect">
            <a:avLst/>
          </a:prstGeom>
          <a:solidFill>
            <a:srgbClr val="1C1C1C"/>
          </a:solidFill>
          <a:ln>
            <a:noFill/>
          </a:ln>
        </p:spPr>
        <p:style>
          <a:lnRef idx="1">
            <a:srgbClr val="1C1C1C"/>
          </a:lnRef>
          <a:fillRef idx="1">
            <a:srgbClr val="1C1C1C"/>
          </a:fillRef>
          <a:effectRef idx="0">
            <a:srgbClr val="1C1C1C"/>
          </a:effectRef>
          <a:fontRef idx="minor">
            <a:srgbClr val="EEEEEE"/>
          </a:fontRef>
        </p:style>
        <p:txBody>
          <a:bodyPr/>
          <a:lstStyle/>
          <a:p/>
        </p:txBody>
      </p:sp>
      <p:sp>
        <p:nvSpPr>
          <p:cNvPr id="2" name="Rectangle 1"/>
          <p:cNvSpPr/>
          <p:nvPr/>
        </p:nvSpPr>
        <p:spPr>
          <a:xfrm>
            <a:off x="0" y="0"/>
            <a:ext cx="9144000" cy="594360"/>
          </a:xfrm>
          <a:prstGeom prst="rect">
            <a:avLst/>
          </a:prstGeom>
          <a:solidFill>
            <a:srgbClr val="25252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64008"/>
            <a:ext cx="7772400" cy="502920"/>
          </a:xfrm>
          <a:prstGeom prst="rect">
            <a:avLst/>
          </a:prstGeom>
          <a:noFill/>
        </p:spPr>
        <p:txBody>
          <a:bodyPr wrap="square">
            <a:spAutoFit/>
          </a:bodyPr>
          <a:lstStyle/>
          <a:p>
            <a:pPr algn="l"/>
            <a:r>
              <a:rPr sz="1800" b="1" i="0">
                <a:solidFill>
                  <a:srgbClr val="FFFFFF"/>
                </a:solidFill>
              </a:rPr>
              <a:t>APIとは — 「そこまでやりたい方は伴走サービスへ」の導線</a:t>
            </a:r>
          </a:p>
        </p:txBody>
      </p:sp>
      <p:sp>
        <p:nvSpPr>
          <p:cNvPr id="4" name="TextBox 3"/>
          <p:cNvSpPr txBox="1"/>
          <p:nvPr/>
        </p:nvSpPr>
        <p:spPr>
          <a:xfrm>
            <a:off x="7132320" y="91440"/>
            <a:ext cx="1828800" cy="457200"/>
          </a:xfrm>
          <a:prstGeom prst="rect">
            <a:avLst/>
          </a:prstGeom>
          <a:noFill/>
        </p:spPr>
        <p:txBody>
          <a:bodyPr wrap="square">
            <a:spAutoFit/>
          </a:bodyPr>
          <a:lstStyle/>
          <a:p>
            <a:pPr algn="r"/>
            <a:r>
              <a:rPr sz="1200" b="0" i="0">
                <a:solidFill>
                  <a:srgbClr val="DA7756"/>
                </a:solidFill>
              </a:rPr>
              <a:t>[10分]</a:t>
            </a:r>
          </a:p>
        </p:txBody>
      </p:sp>
      <p:graphicFrame>
        <p:nvGraphicFramePr>
          <p:cNvPr id="5" name="Table 4"/>
          <p:cNvGraphicFramePr>
            <a:graphicFrameLocks noGrp="1"/>
          </p:cNvGraphicFramePr>
          <p:nvPr/>
        </p:nvGraphicFramePr>
        <p:xfrm>
          <a:off x="457200" y="777240"/>
          <a:ext cx="8229600" cy="2011680"/>
        </p:xfrm>
        <a:graphic>
          <a:graphicData uri="http://schemas.openxmlformats.org/drawingml/2006/table">
            <a:tbl>
              <a:tblPr/>
              <a:tblGrid>
                <a:gridCol w="2304288"/>
                <a:gridCol w="2633472"/>
                <a:gridCol w="3291840"/>
              </a:tblGrid>
              <a:tr h="670560">
                <a:tc>
                  <a:txBody>
                    <a:bodyPr wrap="square"/>
                    <a:lstStyle/>
                    <a:p>
                      <a:pPr algn="ctr"/>
                      <a:r>
                        <a:rPr b="1" sz="1200">
                          <a:solidFill>
                            <a:srgbClr val="FFFFFF"/>
                          </a:solidFill>
                        </a:rPr>
                        <a:t>用途</a:t>
                      </a:r>
                    </a:p>
                  </a:txBody>
                  <a:tcPr>
                    <a:solidFill>
                      <a:srgbClr val="1C1C1C"/>
                    </a:solidFill>
                  </a:tcPr>
                </a:tc>
                <a:tc>
                  <a:txBody>
                    <a:bodyPr wrap="square"/>
                    <a:lstStyle/>
                    <a:p>
                      <a:pPr algn="ctr"/>
                      <a:r>
                        <a:rPr b="1" sz="1200">
                          <a:solidFill>
                            <a:srgbClr val="FFFFFF"/>
                          </a:solidFill>
                        </a:rPr>
                        <a:t>必要なもの</a:t>
                      </a:r>
                    </a:p>
                  </a:txBody>
                  <a:tcPr>
                    <a:solidFill>
                      <a:srgbClr val="1C1C1C"/>
                    </a:solidFill>
                  </a:tcPr>
                </a:tc>
                <a:tc>
                  <a:txBody>
                    <a:bodyPr wrap="square"/>
                    <a:lstStyle/>
                    <a:p>
                      <a:pPr algn="ctr"/>
                      <a:r>
                        <a:rPr b="1" sz="1200">
                          <a:solidFill>
                            <a:srgbClr val="FFFFFF"/>
                          </a:solidFill>
                        </a:rPr>
                        <a:t>例</a:t>
                      </a:r>
                    </a:p>
                  </a:txBody>
                  <a:tcPr>
                    <a:solidFill>
                      <a:srgbClr val="1C1C1C"/>
                    </a:solidFill>
                  </a:tcPr>
                </a:tc>
              </a:tr>
              <a:tr h="670560">
                <a:tc>
                  <a:txBody>
                    <a:bodyPr wrap="square"/>
                    <a:lstStyle/>
                    <a:p>
                      <a:pPr algn="l"/>
                      <a:r>
                        <a:rPr sz="1100">
                          <a:solidFill>
                            <a:srgbClr val="EEEEEE"/>
                          </a:solidFill>
                        </a:rPr>
                        <a:t>対話的利用（本日の研修）</a:t>
                      </a:r>
                    </a:p>
                  </a:txBody>
                  <a:tcPr/>
                </a:tc>
                <a:tc>
                  <a:txBody>
                    <a:bodyPr wrap="square"/>
                    <a:lstStyle/>
                    <a:p>
                      <a:pPr algn="l"/>
                      <a:r>
                        <a:rPr sz="1100">
                          <a:solidFill>
                            <a:srgbClr val="EEEEEE"/>
                          </a:solidFill>
                        </a:rPr>
                        <a:t>Anthropicアカウント + Proプラン</a:t>
                      </a:r>
                    </a:p>
                  </a:txBody>
                  <a:tcPr/>
                </a:tc>
                <a:tc>
                  <a:txBody>
                    <a:bodyPr wrap="square"/>
                    <a:lstStyle/>
                    <a:p>
                      <a:pPr algn="l"/>
                      <a:r>
                        <a:rPr sz="1100">
                          <a:solidFill>
                            <a:srgbClr val="EEEEEE"/>
                          </a:solidFill>
                        </a:rPr>
                        <a:t>ファイル整理・CSV整形・文書生成</a:t>
                      </a:r>
                    </a:p>
                  </a:txBody>
                  <a:tcPr/>
                </a:tc>
              </a:tr>
              <a:tr h="670560">
                <a:tc>
                  <a:txBody>
                    <a:bodyPr wrap="square"/>
                    <a:lstStyle/>
                    <a:p>
                      <a:pPr algn="l"/>
                      <a:r>
                        <a:rPr sz="1100">
                          <a:solidFill>
                            <a:srgbClr val="EEEEEE"/>
                          </a:solidFill>
                        </a:rPr>
                        <a:t>開発・システム連携</a:t>
                      </a:r>
                    </a:p>
                  </a:txBody>
                  <a:tcPr>
                    <a:solidFill>
                      <a:srgbClr val="F8FAFC"/>
                    </a:solidFill>
                  </a:tcPr>
                </a:tc>
                <a:tc>
                  <a:txBody>
                    <a:bodyPr wrap="square"/>
                    <a:lstStyle/>
                    <a:p>
                      <a:pPr algn="l"/>
                      <a:r>
                        <a:rPr sz="1100">
                          <a:solidFill>
                            <a:srgbClr val="EEEEEE"/>
                          </a:solidFill>
                        </a:rPr>
                        <a:t>APIキー（別途従量課金）</a:t>
                      </a:r>
                    </a:p>
                  </a:txBody>
                  <a:tcPr>
                    <a:solidFill>
                      <a:srgbClr val="F8FAFC"/>
                    </a:solidFill>
                  </a:tcPr>
                </a:tc>
                <a:tc>
                  <a:txBody>
                    <a:bodyPr wrap="square"/>
                    <a:lstStyle/>
                    <a:p>
                      <a:pPr algn="l"/>
                      <a:r>
                        <a:rPr sz="1100">
                          <a:solidFill>
                            <a:srgbClr val="EEEEEE"/>
                          </a:solidFill>
                        </a:rPr>
                        <a:t>Excelボタンで動く仕組み・LINE Bot・自社アプリ組み込み</a:t>
                      </a:r>
                    </a:p>
                  </a:txBody>
                  <a:tcPr>
                    <a:solidFill>
                      <a:srgbClr val="F8FAFC"/>
                    </a:solidFill>
                  </a:tcPr>
                </a:tc>
              </a:tr>
            </a:tbl>
          </a:graphicData>
        </a:graphic>
      </p:graphicFrame>
      <p:sp>
        <p:nvSpPr>
          <p:cNvPr id="6" name="TextBox 5"/>
          <p:cNvSpPr txBox="1"/>
          <p:nvPr/>
        </p:nvSpPr>
        <p:spPr>
          <a:xfrm>
            <a:off x="457200" y="2926080"/>
            <a:ext cx="8229600" cy="365760"/>
          </a:xfrm>
          <a:prstGeom prst="rect">
            <a:avLst/>
          </a:prstGeom>
          <a:noFill/>
        </p:spPr>
        <p:txBody>
          <a:bodyPr wrap="square">
            <a:spAutoFit/>
          </a:bodyPr>
          <a:lstStyle/>
          <a:p>
            <a:pPr algn="l"/>
            <a:r>
              <a:rPr sz="1300" b="1" i="0">
                <a:solidFill>
                  <a:srgbClr val="DA7756"/>
                </a:solidFill>
              </a:rPr>
              <a:t>ハルシネーション注意</a:t>
            </a:r>
          </a:p>
        </p:txBody>
      </p:sp>
      <p:sp>
        <p:nvSpPr>
          <p:cNvPr id="7" name="Rectangle 6"/>
          <p:cNvSpPr/>
          <p:nvPr/>
        </p:nvSpPr>
        <p:spPr>
          <a:xfrm>
            <a:off x="457200" y="3364992"/>
            <a:ext cx="8229600" cy="1097280"/>
          </a:xfrm>
          <a:prstGeom prst="rect">
            <a:avLst/>
          </a:prstGeom>
          <a:solidFill>
            <a:srgbClr val="FFF0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94360" y="3429000"/>
            <a:ext cx="7955280" cy="1005840"/>
          </a:xfrm>
          <a:prstGeom prst="rect">
            <a:avLst/>
          </a:prstGeom>
          <a:noFill/>
        </p:spPr>
        <p:txBody>
          <a:bodyPr wrap="square">
            <a:spAutoFit/>
          </a:bodyPr>
          <a:lstStyle/>
          <a:p>
            <a:pPr algn="l"/>
            <a:r>
              <a:rPr sz="1200" b="0" i="0">
                <a:solidFill>
                  <a:srgbClr val="EEEEEE"/>
                </a:solidFill>
              </a:rPr>
              <a:t>Claude Codeも自信満々に間違えます。重要なファイル操作の前は必ず「何をするか教えてから動いてください」と指示を加えましょう。CLAUDE.mdで防止策を書いておくのが有効です（セクション4で実践します）</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1C1C1C"/>
        </a:solidFill>
        <a:effectLst/>
      </p:bgPr>
    </p:bg>
    <p:spTree>
      <p:nvGrpSpPr>
        <p:cNvPr id="1" name=""/>
        <p:cNvGrpSpPr/>
        <p:nvPr/>
      </p:nvGrpSpPr>
      <p:grpSpPr/>
      <p:sp>
        <p:nvSpPr>
          <p:cNvPr id="9900" name="_BG_DARK_"/>
          <p:cNvSpPr/>
          <p:nvPr/>
        </p:nvSpPr>
        <p:spPr>
          <a:xfrm>
            <a:off x="0" y="0"/>
            <a:ext cx="9144000" cy="5143500"/>
          </a:xfrm>
          <a:prstGeom prst="rect">
            <a:avLst/>
          </a:prstGeom>
          <a:solidFill>
            <a:srgbClr val="1C1C1C"/>
          </a:solidFill>
          <a:ln>
            <a:noFill/>
          </a:ln>
        </p:spPr>
        <p:style>
          <a:lnRef idx="1">
            <a:srgbClr val="1C1C1C"/>
          </a:lnRef>
          <a:fillRef idx="1">
            <a:srgbClr val="1C1C1C"/>
          </a:fillRef>
          <a:effectRef idx="0">
            <a:srgbClr val="1C1C1C"/>
          </a:effectRef>
          <a:fontRef idx="minor">
            <a:srgbClr val="EEEEEE"/>
          </a:fontRef>
        </p:style>
        <p:txBody>
          <a:bodyPr/>
          <a:lstStyle/>
          <a:p/>
        </p:txBody>
      </p:sp>
      <p:sp>
        <p:nvSpPr>
          <p:cNvPr id="2" name="Rectangle 1"/>
          <p:cNvSpPr/>
          <p:nvPr/>
        </p:nvSpPr>
        <p:spPr>
          <a:xfrm>
            <a:off x="548640" y="822960"/>
            <a:ext cx="1097280" cy="1097280"/>
          </a:xfrm>
          <a:prstGeom prst="rect">
            <a:avLst/>
          </a:prstGeom>
          <a:solidFill>
            <a:srgbClr val="DA77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868680"/>
            <a:ext cx="1097280" cy="1005840"/>
          </a:xfrm>
          <a:prstGeom prst="rect">
            <a:avLst/>
          </a:prstGeom>
          <a:noFill/>
        </p:spPr>
        <p:txBody>
          <a:bodyPr wrap="square">
            <a:spAutoFit/>
          </a:bodyPr>
          <a:lstStyle/>
          <a:p>
            <a:pPr algn="ctr"/>
            <a:r>
              <a:rPr sz="3800" b="1" i="0">
                <a:solidFill>
                  <a:srgbClr val="FFFFFF"/>
                </a:solidFill>
              </a:rPr>
              <a:t>2</a:t>
            </a:r>
          </a:p>
        </p:txBody>
      </p:sp>
      <p:sp>
        <p:nvSpPr>
          <p:cNvPr id="4" name="TextBox 3"/>
          <p:cNvSpPr txBox="1"/>
          <p:nvPr/>
        </p:nvSpPr>
        <p:spPr>
          <a:xfrm>
            <a:off x="2011680" y="960120"/>
            <a:ext cx="6858000" cy="914400"/>
          </a:xfrm>
          <a:prstGeom prst="rect">
            <a:avLst/>
          </a:prstGeom>
          <a:noFill/>
        </p:spPr>
        <p:txBody>
          <a:bodyPr wrap="square">
            <a:spAutoFit/>
          </a:bodyPr>
          <a:lstStyle/>
          <a:p>
            <a:pPr algn="l"/>
            <a:r>
              <a:rPr sz="3000" b="1" i="0">
                <a:solidFill>
                  <a:srgbClr val="FFFFFF"/>
                </a:solidFill>
              </a:rPr>
              <a:t>ユースケース</a:t>
            </a:r>
          </a:p>
        </p:txBody>
      </p:sp>
      <p:sp>
        <p:nvSpPr>
          <p:cNvPr id="5" name="TextBox 4"/>
          <p:cNvSpPr txBox="1"/>
          <p:nvPr/>
        </p:nvSpPr>
        <p:spPr>
          <a:xfrm>
            <a:off x="2011680" y="1920240"/>
            <a:ext cx="4572000" cy="457200"/>
          </a:xfrm>
          <a:prstGeom prst="rect">
            <a:avLst/>
          </a:prstGeom>
          <a:noFill/>
        </p:spPr>
        <p:txBody>
          <a:bodyPr wrap="square">
            <a:spAutoFit/>
          </a:bodyPr>
          <a:lstStyle/>
          <a:p>
            <a:pPr algn="l"/>
            <a:r>
              <a:rPr sz="1400" b="0" i="0">
                <a:solidFill>
                  <a:srgbClr val="DA7756"/>
                </a:solidFill>
              </a:rPr>
              <a:t>[10分]</a:t>
            </a:r>
          </a:p>
        </p:txBody>
      </p:sp>
      <p:sp>
        <p:nvSpPr>
          <p:cNvPr id="6" name="TextBox 5"/>
          <p:cNvSpPr txBox="1"/>
          <p:nvPr/>
        </p:nvSpPr>
        <p:spPr>
          <a:xfrm>
            <a:off x="2011680" y="2468880"/>
            <a:ext cx="6858000" cy="914400"/>
          </a:xfrm>
          <a:prstGeom prst="rect">
            <a:avLst/>
          </a:prstGeom>
          <a:noFill/>
        </p:spPr>
        <p:txBody>
          <a:bodyPr wrap="square">
            <a:spAutoFit/>
          </a:bodyPr>
          <a:lstStyle/>
          <a:p>
            <a:pPr algn="l"/>
            <a:r>
              <a:rPr sz="1500" b="0" i="0">
                <a:solidFill>
                  <a:srgbClr val="B8A99A"/>
                </a:solidFill>
              </a:rPr>
              <a:t>3つの実用シーンを各3分でデモ体験</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1C1C1C"/>
        </a:solidFill>
        <a:effectLst/>
      </p:bgPr>
    </p:bg>
    <p:spTree>
      <p:nvGrpSpPr>
        <p:cNvPr id="1" name=""/>
        <p:cNvGrpSpPr/>
        <p:nvPr/>
      </p:nvGrpSpPr>
      <p:grpSpPr/>
      <p:sp>
        <p:nvSpPr>
          <p:cNvPr id="9900" name="_BG_DARK_"/>
          <p:cNvSpPr/>
          <p:nvPr/>
        </p:nvSpPr>
        <p:spPr>
          <a:xfrm>
            <a:off x="0" y="0"/>
            <a:ext cx="9144000" cy="5143500"/>
          </a:xfrm>
          <a:prstGeom prst="rect">
            <a:avLst/>
          </a:prstGeom>
          <a:solidFill>
            <a:srgbClr val="1C1C1C"/>
          </a:solidFill>
          <a:ln>
            <a:noFill/>
          </a:ln>
        </p:spPr>
        <p:style>
          <a:lnRef idx="1">
            <a:srgbClr val="1C1C1C"/>
          </a:lnRef>
          <a:fillRef idx="1">
            <a:srgbClr val="1C1C1C"/>
          </a:fillRef>
          <a:effectRef idx="0">
            <a:srgbClr val="1C1C1C"/>
          </a:effectRef>
          <a:fontRef idx="minor">
            <a:srgbClr val="EEEEEE"/>
          </a:fontRef>
        </p:style>
        <p:txBody>
          <a:bodyPr/>
          <a:lstStyle/>
          <a:p/>
        </p:txBody>
      </p:sp>
      <p:sp>
        <p:nvSpPr>
          <p:cNvPr id="2" name="Rectangle 1"/>
          <p:cNvSpPr/>
          <p:nvPr/>
        </p:nvSpPr>
        <p:spPr>
          <a:xfrm>
            <a:off x="0" y="0"/>
            <a:ext cx="9144000" cy="594360"/>
          </a:xfrm>
          <a:prstGeom prst="rect">
            <a:avLst/>
          </a:prstGeom>
          <a:solidFill>
            <a:srgbClr val="25252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64008"/>
            <a:ext cx="7772400" cy="502920"/>
          </a:xfrm>
          <a:prstGeom prst="rect">
            <a:avLst/>
          </a:prstGeom>
          <a:noFill/>
        </p:spPr>
        <p:txBody>
          <a:bodyPr wrap="square">
            <a:spAutoFit/>
          </a:bodyPr>
          <a:lstStyle/>
          <a:p>
            <a:pPr algn="l"/>
            <a:r>
              <a:rPr sz="1800" b="1" i="0">
                <a:solidFill>
                  <a:srgbClr val="FFFFFF"/>
                </a:solidFill>
              </a:rPr>
              <a:t>ユースケース ①：フォルダ整理</a:t>
            </a:r>
          </a:p>
        </p:txBody>
      </p:sp>
      <p:sp>
        <p:nvSpPr>
          <p:cNvPr id="4" name="TextBox 3"/>
          <p:cNvSpPr txBox="1"/>
          <p:nvPr/>
        </p:nvSpPr>
        <p:spPr>
          <a:xfrm>
            <a:off x="7132320" y="91440"/>
            <a:ext cx="1828800" cy="457200"/>
          </a:xfrm>
          <a:prstGeom prst="rect">
            <a:avLst/>
          </a:prstGeom>
          <a:noFill/>
        </p:spPr>
        <p:txBody>
          <a:bodyPr wrap="square">
            <a:spAutoFit/>
          </a:bodyPr>
          <a:lstStyle/>
          <a:p>
            <a:pPr algn="r"/>
            <a:r>
              <a:rPr sz="1200" b="0" i="0">
                <a:solidFill>
                  <a:srgbClr val="DA7756"/>
                </a:solidFill>
              </a:rPr>
              <a:t>[約3分]</a:t>
            </a:r>
          </a:p>
        </p:txBody>
      </p:sp>
      <p:sp>
        <p:nvSpPr>
          <p:cNvPr id="5" name="Rectangle 4"/>
          <p:cNvSpPr/>
          <p:nvPr/>
        </p:nvSpPr>
        <p:spPr>
          <a:xfrm>
            <a:off x="457200" y="777240"/>
            <a:ext cx="8229600" cy="594360"/>
          </a:xfrm>
          <a:prstGeom prst="rect">
            <a:avLst/>
          </a:prstGeom>
          <a:solidFill>
            <a:srgbClr val="2F2F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94360" y="841248"/>
            <a:ext cx="7955280" cy="502920"/>
          </a:xfrm>
          <a:prstGeom prst="rect">
            <a:avLst/>
          </a:prstGeom>
          <a:noFill/>
        </p:spPr>
        <p:txBody>
          <a:bodyPr wrap="square">
            <a:spAutoFit/>
          </a:bodyPr>
          <a:lstStyle/>
          <a:p>
            <a:pPr algn="l"/>
            <a:r>
              <a:rPr sz="1400" b="1" i="0">
                <a:solidFill>
                  <a:srgbClr val="EEEEEE"/>
                </a:solidFill>
              </a:rPr>
              <a:t>指示例：「Downloadsにある画像・PDF・Wordを種類ごとにフォルダ分けして」</a:t>
            </a:r>
          </a:p>
        </p:txBody>
      </p:sp>
      <p:sp>
        <p:nvSpPr>
          <p:cNvPr id="7" name="TextBox 6"/>
          <p:cNvSpPr txBox="1"/>
          <p:nvPr/>
        </p:nvSpPr>
        <p:spPr>
          <a:xfrm>
            <a:off x="457200" y="1508760"/>
            <a:ext cx="8229600" cy="502920"/>
          </a:xfrm>
          <a:prstGeom prst="rect">
            <a:avLst/>
          </a:prstGeom>
          <a:noFill/>
        </p:spPr>
        <p:txBody>
          <a:bodyPr wrap="square">
            <a:spAutoFit/>
          </a:bodyPr>
          <a:lstStyle/>
          <a:p>
            <a:pPr algn="l"/>
            <a:r>
              <a:rPr sz="1300" b="0" i="1">
                <a:solidFill>
                  <a:srgbClr val="64748B"/>
                </a:solidFill>
              </a:rPr>
              <a:t>最初にやる理由：持参PCの自分のフォルダが整理される体験が最もインパクト大でシンプル</a:t>
            </a:r>
          </a:p>
        </p:txBody>
      </p:sp>
      <p:sp>
        <p:nvSpPr>
          <p:cNvPr id="8" name="TextBox 7"/>
          <p:cNvSpPr txBox="1"/>
          <p:nvPr/>
        </p:nvSpPr>
        <p:spPr>
          <a:xfrm>
            <a:off x="457200" y="2103120"/>
            <a:ext cx="8229600" cy="502920"/>
          </a:xfrm>
          <a:prstGeom prst="rect">
            <a:avLst/>
          </a:prstGeom>
          <a:noFill/>
        </p:spPr>
        <p:txBody>
          <a:bodyPr wrap="square">
            <a:spAutoFit/>
          </a:bodyPr>
          <a:lstStyle/>
          <a:p>
            <a:pPr algn="l"/>
            <a:r>
              <a:rPr sz="1400" b="0" i="0">
                <a:solidFill>
                  <a:srgbClr val="EEEEEE"/>
                </a:solidFill>
              </a:rPr>
              <a:t>Claude Codeが実際にファイルを動かしてくれる様子を確認してください</a:t>
            </a:r>
          </a:p>
        </p:txBody>
      </p:sp>
      <p:sp>
        <p:nvSpPr>
          <p:cNvPr id="9" name="Rectangle 8"/>
          <p:cNvSpPr/>
          <p:nvPr/>
        </p:nvSpPr>
        <p:spPr>
          <a:xfrm>
            <a:off x="457200" y="2788920"/>
            <a:ext cx="8229600" cy="594360"/>
          </a:xfrm>
          <a:prstGeom prst="rect">
            <a:avLst/>
          </a:prstGeom>
          <a:solidFill>
            <a:srgbClr val="2F2F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94360" y="2852928"/>
            <a:ext cx="7955280" cy="502920"/>
          </a:xfrm>
          <a:prstGeom prst="rect">
            <a:avLst/>
          </a:prstGeom>
          <a:noFill/>
        </p:spPr>
        <p:txBody>
          <a:bodyPr wrap="square">
            <a:spAutoFit/>
          </a:bodyPr>
          <a:lstStyle/>
          <a:p>
            <a:pPr algn="l"/>
            <a:r>
              <a:rPr sz="1300" b="0" i="0">
                <a:solidFill>
                  <a:srgbClr val="1C1C1C"/>
                </a:solidFill>
              </a:rPr>
              <a:t>確認ポイント：実行前に「どのフォルダを作りますか？」と確認してから動くかどうか</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1C1C1C"/>
        </a:solidFill>
        <a:effectLst/>
      </p:bgPr>
    </p:bg>
    <p:spTree>
      <p:nvGrpSpPr>
        <p:cNvPr id="1" name=""/>
        <p:cNvGrpSpPr/>
        <p:nvPr/>
      </p:nvGrpSpPr>
      <p:grpSpPr/>
      <p:sp>
        <p:nvSpPr>
          <p:cNvPr id="9900" name="_BG_DARK_"/>
          <p:cNvSpPr/>
          <p:nvPr/>
        </p:nvSpPr>
        <p:spPr>
          <a:xfrm>
            <a:off x="0" y="0"/>
            <a:ext cx="9144000" cy="5143500"/>
          </a:xfrm>
          <a:prstGeom prst="rect">
            <a:avLst/>
          </a:prstGeom>
          <a:solidFill>
            <a:srgbClr val="1C1C1C"/>
          </a:solidFill>
          <a:ln>
            <a:noFill/>
          </a:ln>
        </p:spPr>
        <p:style>
          <a:lnRef idx="1">
            <a:srgbClr val="1C1C1C"/>
          </a:lnRef>
          <a:fillRef idx="1">
            <a:srgbClr val="1C1C1C"/>
          </a:fillRef>
          <a:effectRef idx="0">
            <a:srgbClr val="1C1C1C"/>
          </a:effectRef>
          <a:fontRef idx="minor">
            <a:srgbClr val="EEEEEE"/>
          </a:fontRef>
        </p:style>
        <p:txBody>
          <a:bodyPr/>
          <a:lstStyle/>
          <a:p/>
        </p:txBody>
      </p:sp>
      <p:sp>
        <p:nvSpPr>
          <p:cNvPr id="2" name="Rectangle 1"/>
          <p:cNvSpPr/>
          <p:nvPr/>
        </p:nvSpPr>
        <p:spPr>
          <a:xfrm>
            <a:off x="0" y="0"/>
            <a:ext cx="9144000" cy="594360"/>
          </a:xfrm>
          <a:prstGeom prst="rect">
            <a:avLst/>
          </a:prstGeom>
          <a:solidFill>
            <a:srgbClr val="25252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64008"/>
            <a:ext cx="7772400" cy="502920"/>
          </a:xfrm>
          <a:prstGeom prst="rect">
            <a:avLst/>
          </a:prstGeom>
          <a:noFill/>
        </p:spPr>
        <p:txBody>
          <a:bodyPr wrap="square">
            <a:spAutoFit/>
          </a:bodyPr>
          <a:lstStyle/>
          <a:p>
            <a:pPr algn="l"/>
            <a:r>
              <a:rPr sz="1800" b="1" i="0">
                <a:solidFill>
                  <a:srgbClr val="FFFFFF"/>
                </a:solidFill>
              </a:rPr>
              <a:t>ユースケース ②③：PDF情報抽出 ＆ 定型文書生成</a:t>
            </a:r>
          </a:p>
        </p:txBody>
      </p:sp>
      <p:sp>
        <p:nvSpPr>
          <p:cNvPr id="4" name="TextBox 3"/>
          <p:cNvSpPr txBox="1"/>
          <p:nvPr/>
        </p:nvSpPr>
        <p:spPr>
          <a:xfrm>
            <a:off x="7132320" y="91440"/>
            <a:ext cx="1828800" cy="457200"/>
          </a:xfrm>
          <a:prstGeom prst="rect">
            <a:avLst/>
          </a:prstGeom>
          <a:noFill/>
        </p:spPr>
        <p:txBody>
          <a:bodyPr wrap="square">
            <a:spAutoFit/>
          </a:bodyPr>
          <a:lstStyle/>
          <a:p>
            <a:pPr algn="r"/>
            <a:r>
              <a:rPr sz="1200" b="0" i="0">
                <a:solidFill>
                  <a:srgbClr val="DA7756"/>
                </a:solidFill>
              </a:rPr>
              <a:t>[各約3分]</a:t>
            </a:r>
          </a:p>
        </p:txBody>
      </p:sp>
      <p:graphicFrame>
        <p:nvGraphicFramePr>
          <p:cNvPr id="5" name="Table 4"/>
          <p:cNvGraphicFramePr>
            <a:graphicFrameLocks noGrp="1"/>
          </p:cNvGraphicFramePr>
          <p:nvPr/>
        </p:nvGraphicFramePr>
        <p:xfrm>
          <a:off x="457200" y="777240"/>
          <a:ext cx="8229600" cy="1920240"/>
        </p:xfrm>
        <a:graphic>
          <a:graphicData uri="http://schemas.openxmlformats.org/drawingml/2006/table">
            <a:tbl>
              <a:tblPr/>
              <a:tblGrid>
                <a:gridCol w="2304288"/>
                <a:gridCol w="5925312"/>
              </a:tblGrid>
              <a:tr h="640080">
                <a:tc>
                  <a:txBody>
                    <a:bodyPr wrap="square"/>
                    <a:lstStyle/>
                    <a:p>
                      <a:pPr algn="ctr"/>
                      <a:r>
                        <a:rPr b="1" sz="1200">
                          <a:solidFill>
                            <a:srgbClr val="FFFFFF"/>
                          </a:solidFill>
                        </a:rPr>
                        <a:t>ユースケース</a:t>
                      </a:r>
                    </a:p>
                  </a:txBody>
                  <a:tcPr>
                    <a:solidFill>
                      <a:srgbClr val="1C1C1C"/>
                    </a:solidFill>
                  </a:tcPr>
                </a:tc>
                <a:tc>
                  <a:txBody>
                    <a:bodyPr wrap="square"/>
                    <a:lstStyle/>
                    <a:p>
                      <a:pPr algn="ctr"/>
                      <a:r>
                        <a:rPr b="1" sz="1200">
                          <a:solidFill>
                            <a:srgbClr val="FFFFFF"/>
                          </a:solidFill>
                        </a:rPr>
                        <a:t>指示例</a:t>
                      </a:r>
                    </a:p>
                  </a:txBody>
                  <a:tcPr>
                    <a:solidFill>
                      <a:srgbClr val="1C1C1C"/>
                    </a:solidFill>
                  </a:tcPr>
                </a:tc>
              </a:tr>
              <a:tr h="640080">
                <a:tc>
                  <a:txBody>
                    <a:bodyPr wrap="square"/>
                    <a:lstStyle/>
                    <a:p>
                      <a:pPr algn="l"/>
                      <a:r>
                        <a:rPr sz="1100">
                          <a:solidFill>
                            <a:srgbClr val="EEEEEE"/>
                          </a:solidFill>
                        </a:rPr>
                        <a:t>② CSV・データ整形</a:t>
                      </a:r>
                    </a:p>
                  </a:txBody>
                  <a:tcPr/>
                </a:tc>
                <a:tc>
                  <a:txBody>
                    <a:bodyPr wrap="square"/>
                    <a:lstStyle/>
                    <a:p>
                      <a:pPr algn="l"/>
                      <a:r>
                        <a:rPr sz="1100">
                          <a:solidFill>
                            <a:srgbClr val="EEEEEE"/>
                          </a:solidFill>
                        </a:rPr>
                        <a:t>「顧客リストから氏名・メールを抜き出して50音順に並べ直して」</a:t>
                      </a:r>
                    </a:p>
                  </a:txBody>
                  <a:tcPr/>
                </a:tc>
              </a:tr>
              <a:tr h="640080">
                <a:tc>
                  <a:txBody>
                    <a:bodyPr wrap="square"/>
                    <a:lstStyle/>
                    <a:p>
                      <a:pPr algn="l"/>
                      <a:r>
                        <a:rPr sz="1100">
                          <a:solidFill>
                            <a:srgbClr val="EEEEEE"/>
                          </a:solidFill>
                        </a:rPr>
                        <a:t>③ 定型文書の一括生成</a:t>
                      </a:r>
                    </a:p>
                  </a:txBody>
                  <a:tcPr>
                    <a:solidFill>
                      <a:srgbClr val="F8FAFC"/>
                    </a:solidFill>
                  </a:tcPr>
                </a:tc>
                <a:tc>
                  <a:txBody>
                    <a:bodyPr wrap="square"/>
                    <a:lstStyle/>
                    <a:p>
                      <a:pPr algn="l"/>
                      <a:r>
                        <a:rPr sz="1100">
                          <a:solidFill>
                            <a:srgbClr val="EEEEEE"/>
                          </a:solidFill>
                        </a:rPr>
                        <a:t>「このリストの各社名に向けた個別のお礼メールをテキストファイルで作って」</a:t>
                      </a:r>
                    </a:p>
                  </a:txBody>
                  <a:tcPr>
                    <a:solidFill>
                      <a:srgbClr val="F8FAFC"/>
                    </a:solidFill>
                  </a:tcPr>
                </a:tc>
              </a:tr>
            </a:tbl>
          </a:graphicData>
        </a:graphic>
      </p:graphicFrame>
      <p:sp>
        <p:nvSpPr>
          <p:cNvPr id="6" name="TextBox 5"/>
          <p:cNvSpPr txBox="1"/>
          <p:nvPr/>
        </p:nvSpPr>
        <p:spPr>
          <a:xfrm>
            <a:off x="457200" y="2880360"/>
            <a:ext cx="8229600" cy="411480"/>
          </a:xfrm>
          <a:prstGeom prst="rect">
            <a:avLst/>
          </a:prstGeom>
          <a:noFill/>
        </p:spPr>
        <p:txBody>
          <a:bodyPr wrap="square">
            <a:spAutoFit/>
          </a:bodyPr>
          <a:lstStyle/>
          <a:p>
            <a:pPr algn="l"/>
            <a:r>
              <a:rPr sz="1400" b="1" i="0">
                <a:solidFill>
                  <a:srgbClr val="1C1C1C"/>
                </a:solidFill>
              </a:rPr>
              <a:t>3つのユースケースで共通していること</a:t>
            </a:r>
          </a:p>
        </p:txBody>
      </p:sp>
      <p:sp>
        <p:nvSpPr>
          <p:cNvPr id="7" name="Rectangle 6"/>
          <p:cNvSpPr/>
          <p:nvPr/>
        </p:nvSpPr>
        <p:spPr>
          <a:xfrm>
            <a:off x="457200" y="3364992"/>
            <a:ext cx="8229600" cy="594360"/>
          </a:xfrm>
          <a:prstGeom prst="rect">
            <a:avLst/>
          </a:prstGeom>
          <a:solidFill>
            <a:srgbClr val="2F2F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94360" y="3429000"/>
            <a:ext cx="7955280" cy="502920"/>
          </a:xfrm>
          <a:prstGeom prst="rect">
            <a:avLst/>
          </a:prstGeom>
          <a:noFill/>
        </p:spPr>
        <p:txBody>
          <a:bodyPr wrap="square">
            <a:spAutoFit/>
          </a:bodyPr>
          <a:lstStyle/>
          <a:p>
            <a:pPr algn="l"/>
            <a:r>
              <a:rPr sz="1300" b="1" i="0">
                <a:solidFill>
                  <a:srgbClr val="EEEEEE"/>
                </a:solidFill>
              </a:rPr>
              <a:t>「繰り返し作業」を自動化している。一度指示を覚えれば次回は数秒で完了する</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1C1C1C"/>
        </a:solidFill>
        <a:effectLst/>
      </p:bgPr>
    </p:bg>
    <p:spTree>
      <p:nvGrpSpPr>
        <p:cNvPr id="1" name=""/>
        <p:cNvGrpSpPr/>
        <p:nvPr/>
      </p:nvGrpSpPr>
      <p:grpSpPr/>
      <p:sp>
        <p:nvSpPr>
          <p:cNvPr id="9900" name="_BG_DARK_"/>
          <p:cNvSpPr/>
          <p:nvPr/>
        </p:nvSpPr>
        <p:spPr>
          <a:xfrm>
            <a:off x="0" y="0"/>
            <a:ext cx="9144000" cy="5143500"/>
          </a:xfrm>
          <a:prstGeom prst="rect">
            <a:avLst/>
          </a:prstGeom>
          <a:solidFill>
            <a:srgbClr val="1C1C1C"/>
          </a:solidFill>
          <a:ln>
            <a:noFill/>
          </a:ln>
        </p:spPr>
        <p:style>
          <a:lnRef idx="1">
            <a:srgbClr val="1C1C1C"/>
          </a:lnRef>
          <a:fillRef idx="1">
            <a:srgbClr val="1C1C1C"/>
          </a:fillRef>
          <a:effectRef idx="0">
            <a:srgbClr val="1C1C1C"/>
          </a:effectRef>
          <a:fontRef idx="minor">
            <a:srgbClr val="EEEEEE"/>
          </a:fontRef>
        </p:style>
        <p:txBody>
          <a:bodyPr/>
          <a:lstStyle/>
          <a:p/>
        </p:txBody>
      </p:sp>
      <p:sp>
        <p:nvSpPr>
          <p:cNvPr id="2" name="Rectangle 1"/>
          <p:cNvSpPr/>
          <p:nvPr/>
        </p:nvSpPr>
        <p:spPr>
          <a:xfrm>
            <a:off x="548640" y="822960"/>
            <a:ext cx="1097280" cy="1097280"/>
          </a:xfrm>
          <a:prstGeom prst="rect">
            <a:avLst/>
          </a:prstGeom>
          <a:solidFill>
            <a:srgbClr val="DA77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868680"/>
            <a:ext cx="1097280" cy="1005840"/>
          </a:xfrm>
          <a:prstGeom prst="rect">
            <a:avLst/>
          </a:prstGeom>
          <a:noFill/>
        </p:spPr>
        <p:txBody>
          <a:bodyPr wrap="square">
            <a:spAutoFit/>
          </a:bodyPr>
          <a:lstStyle/>
          <a:p>
            <a:pPr algn="ctr"/>
            <a:r>
              <a:rPr sz="3800" b="1" i="0">
                <a:solidFill>
                  <a:srgbClr val="FFFFFF"/>
                </a:solidFill>
              </a:rPr>
              <a:t>3</a:t>
            </a:r>
          </a:p>
        </p:txBody>
      </p:sp>
      <p:sp>
        <p:nvSpPr>
          <p:cNvPr id="4" name="TextBox 3"/>
          <p:cNvSpPr txBox="1"/>
          <p:nvPr/>
        </p:nvSpPr>
        <p:spPr>
          <a:xfrm>
            <a:off x="2011680" y="960120"/>
            <a:ext cx="6858000" cy="914400"/>
          </a:xfrm>
          <a:prstGeom prst="rect">
            <a:avLst/>
          </a:prstGeom>
          <a:noFill/>
        </p:spPr>
        <p:txBody>
          <a:bodyPr wrap="square">
            <a:spAutoFit/>
          </a:bodyPr>
          <a:lstStyle/>
          <a:p>
            <a:pPr algn="l"/>
            <a:r>
              <a:rPr sz="3000" b="1" i="0">
                <a:solidFill>
                  <a:srgbClr val="FFFFFF"/>
                </a:solidFill>
              </a:rPr>
              <a:t>セットアップ確認</a:t>
            </a:r>
          </a:p>
        </p:txBody>
      </p:sp>
      <p:sp>
        <p:nvSpPr>
          <p:cNvPr id="5" name="TextBox 4"/>
          <p:cNvSpPr txBox="1"/>
          <p:nvPr/>
        </p:nvSpPr>
        <p:spPr>
          <a:xfrm>
            <a:off x="2011680" y="1920240"/>
            <a:ext cx="4572000" cy="457200"/>
          </a:xfrm>
          <a:prstGeom prst="rect">
            <a:avLst/>
          </a:prstGeom>
          <a:noFill/>
        </p:spPr>
        <p:txBody>
          <a:bodyPr wrap="square">
            <a:spAutoFit/>
          </a:bodyPr>
          <a:lstStyle/>
          <a:p>
            <a:pPr algn="l"/>
            <a:r>
              <a:rPr sz="1400" b="0" i="0">
                <a:solidFill>
                  <a:srgbClr val="DA7756"/>
                </a:solidFill>
              </a:rPr>
              <a:t>[20分]</a:t>
            </a:r>
          </a:p>
        </p:txBody>
      </p:sp>
      <p:sp>
        <p:nvSpPr>
          <p:cNvPr id="6" name="TextBox 5"/>
          <p:cNvSpPr txBox="1"/>
          <p:nvPr/>
        </p:nvSpPr>
        <p:spPr>
          <a:xfrm>
            <a:off x="2011680" y="2468880"/>
            <a:ext cx="6858000" cy="914400"/>
          </a:xfrm>
          <a:prstGeom prst="rect">
            <a:avLst/>
          </a:prstGeom>
          <a:noFill/>
        </p:spPr>
        <p:txBody>
          <a:bodyPr wrap="square">
            <a:spAutoFit/>
          </a:bodyPr>
          <a:lstStyle/>
          <a:p>
            <a:pPr algn="l"/>
            <a:r>
              <a:rPr sz="1500" b="0" i="0">
                <a:solidFill>
                  <a:srgbClr val="B8A99A"/>
                </a:solidFill>
              </a:rPr>
              <a:t>デスクトップ版起動・サインイン・動作確認</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1C1C1C"/>
        </a:solidFill>
        <a:effectLst/>
      </p:bgPr>
    </p:bg>
    <p:spTree>
      <p:nvGrpSpPr>
        <p:cNvPr id="1" name=""/>
        <p:cNvGrpSpPr/>
        <p:nvPr/>
      </p:nvGrpSpPr>
      <p:grpSpPr/>
      <p:sp>
        <p:nvSpPr>
          <p:cNvPr id="9900" name="_BG_DARK_"/>
          <p:cNvSpPr/>
          <p:nvPr/>
        </p:nvSpPr>
        <p:spPr>
          <a:xfrm>
            <a:off x="0" y="0"/>
            <a:ext cx="9144000" cy="5143500"/>
          </a:xfrm>
          <a:prstGeom prst="rect">
            <a:avLst/>
          </a:prstGeom>
          <a:solidFill>
            <a:srgbClr val="1C1C1C"/>
          </a:solidFill>
          <a:ln>
            <a:noFill/>
          </a:ln>
        </p:spPr>
        <p:style>
          <a:lnRef idx="1">
            <a:srgbClr val="1C1C1C"/>
          </a:lnRef>
          <a:fillRef idx="1">
            <a:srgbClr val="1C1C1C"/>
          </a:fillRef>
          <a:effectRef idx="0">
            <a:srgbClr val="1C1C1C"/>
          </a:effectRef>
          <a:fontRef idx="minor">
            <a:srgbClr val="EEEEEE"/>
          </a:fontRef>
        </p:style>
        <p:txBody>
          <a:bodyPr/>
          <a:lstStyle/>
          <a:p/>
        </p:txBody>
      </p:sp>
      <p:sp>
        <p:nvSpPr>
          <p:cNvPr id="2" name="Rectangle 1"/>
          <p:cNvSpPr/>
          <p:nvPr/>
        </p:nvSpPr>
        <p:spPr>
          <a:xfrm>
            <a:off x="0" y="0"/>
            <a:ext cx="9144000" cy="594360"/>
          </a:xfrm>
          <a:prstGeom prst="rect">
            <a:avLst/>
          </a:prstGeom>
          <a:solidFill>
            <a:srgbClr val="25252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64008"/>
            <a:ext cx="7772400" cy="502920"/>
          </a:xfrm>
          <a:prstGeom prst="rect">
            <a:avLst/>
          </a:prstGeom>
          <a:noFill/>
        </p:spPr>
        <p:txBody>
          <a:bodyPr wrap="square">
            <a:spAutoFit/>
          </a:bodyPr>
          <a:lstStyle/>
          <a:p>
            <a:pPr algn="l"/>
            <a:r>
              <a:rPr sz="1800" b="1" i="0">
                <a:solidFill>
                  <a:srgbClr val="FFFFFF"/>
                </a:solidFill>
              </a:rPr>
              <a:t>セットアップ確認 — 全員動作確認まで</a:t>
            </a:r>
          </a:p>
        </p:txBody>
      </p:sp>
      <p:sp>
        <p:nvSpPr>
          <p:cNvPr id="4" name="TextBox 3"/>
          <p:cNvSpPr txBox="1"/>
          <p:nvPr/>
        </p:nvSpPr>
        <p:spPr>
          <a:xfrm>
            <a:off x="7132320" y="91440"/>
            <a:ext cx="1828800" cy="457200"/>
          </a:xfrm>
          <a:prstGeom prst="rect">
            <a:avLst/>
          </a:prstGeom>
          <a:noFill/>
        </p:spPr>
        <p:txBody>
          <a:bodyPr wrap="square">
            <a:spAutoFit/>
          </a:bodyPr>
          <a:lstStyle/>
          <a:p>
            <a:pPr algn="r"/>
            <a:r>
              <a:rPr sz="1200" b="0" i="0">
                <a:solidFill>
                  <a:srgbClr val="DA7756"/>
                </a:solidFill>
              </a:rPr>
              <a:t>[20分]</a:t>
            </a:r>
          </a:p>
        </p:txBody>
      </p:sp>
      <p:graphicFrame>
        <p:nvGraphicFramePr>
          <p:cNvPr id="5" name="Table 4"/>
          <p:cNvGraphicFramePr>
            <a:graphicFrameLocks noGrp="1"/>
          </p:cNvGraphicFramePr>
          <p:nvPr/>
        </p:nvGraphicFramePr>
        <p:xfrm>
          <a:off x="457200" y="777240"/>
          <a:ext cx="8229600" cy="3749039"/>
        </p:xfrm>
        <a:graphic>
          <a:graphicData uri="http://schemas.openxmlformats.org/drawingml/2006/table">
            <a:tbl>
              <a:tblPr/>
              <a:tblGrid>
                <a:gridCol w="1645920"/>
                <a:gridCol w="4279392"/>
                <a:gridCol w="2304288"/>
              </a:tblGrid>
              <a:tr h="749807">
                <a:tc>
                  <a:txBody>
                    <a:bodyPr wrap="square"/>
                    <a:lstStyle/>
                    <a:p>
                      <a:pPr algn="ctr"/>
                      <a:r>
                        <a:rPr b="1" sz="1200">
                          <a:solidFill>
                            <a:srgbClr val="FFFFFF"/>
                          </a:solidFill>
                        </a:rPr>
                        <a:t>Step</a:t>
                      </a:r>
                    </a:p>
                  </a:txBody>
                  <a:tcPr>
                    <a:solidFill>
                      <a:srgbClr val="1C1C1C"/>
                    </a:solidFill>
                  </a:tcPr>
                </a:tc>
                <a:tc>
                  <a:txBody>
                    <a:bodyPr wrap="square"/>
                    <a:lstStyle/>
                    <a:p>
                      <a:pPr algn="ctr"/>
                      <a:r>
                        <a:rPr b="1" sz="1200">
                          <a:solidFill>
                            <a:srgbClr val="FFFFFF"/>
                          </a:solidFill>
                        </a:rPr>
                        <a:t>内容</a:t>
                      </a:r>
                    </a:p>
                  </a:txBody>
                  <a:tcPr>
                    <a:solidFill>
                      <a:srgbClr val="1C1C1C"/>
                    </a:solidFill>
                  </a:tcPr>
                </a:tc>
                <a:tc>
                  <a:txBody>
                    <a:bodyPr wrap="square"/>
                    <a:lstStyle/>
                    <a:p>
                      <a:pPr algn="ctr"/>
                      <a:r>
                        <a:rPr b="1" sz="1200">
                          <a:solidFill>
                            <a:srgbClr val="FFFFFF"/>
                          </a:solidFill>
                        </a:rPr>
                        <a:t>詰まったら</a:t>
                      </a:r>
                    </a:p>
                  </a:txBody>
                  <a:tcPr>
                    <a:solidFill>
                      <a:srgbClr val="1C1C1C"/>
                    </a:solidFill>
                  </a:tcPr>
                </a:tc>
              </a:tr>
              <a:tr h="749807">
                <a:tc>
                  <a:txBody>
                    <a:bodyPr wrap="square"/>
                    <a:lstStyle/>
                    <a:p>
                      <a:pPr algn="l"/>
                      <a:r>
                        <a:rPr sz="1100">
                          <a:solidFill>
                            <a:srgbClr val="EEEEEE"/>
                          </a:solidFill>
                        </a:rPr>
                        <a:t>1 起動</a:t>
                      </a:r>
                    </a:p>
                  </a:txBody>
                  <a:tcPr/>
                </a:tc>
                <a:tc>
                  <a:txBody>
                    <a:bodyPr wrap="square"/>
                    <a:lstStyle/>
                    <a:p>
                      <a:pPr algn="l"/>
                      <a:r>
                        <a:rPr sz="1100">
                          <a:solidFill>
                            <a:srgbClr val="EEEEEE"/>
                          </a:solidFill>
                        </a:rPr>
                        <a:t>Claude Codeデスクトップ版を起動（未インストールの場合はその場でインストール）</a:t>
                      </a:r>
                    </a:p>
                  </a:txBody>
                  <a:tcPr/>
                </a:tc>
                <a:tc>
                  <a:txBody>
                    <a:bodyPr wrap="square"/>
                    <a:lstStyle/>
                    <a:p>
                      <a:pPr algn="l"/>
                      <a:r>
                        <a:rPr sz="1100">
                          <a:solidFill>
                            <a:srgbClr val="EEEEEE"/>
                          </a:solidFill>
                        </a:rPr>
                        <a:t>講師が個別サポート</a:t>
                      </a:r>
                    </a:p>
                  </a:txBody>
                  <a:tcPr/>
                </a:tc>
              </a:tr>
              <a:tr h="749807">
                <a:tc>
                  <a:txBody>
                    <a:bodyPr wrap="square"/>
                    <a:lstStyle/>
                    <a:p>
                      <a:pPr algn="l"/>
                      <a:r>
                        <a:rPr sz="1100">
                          <a:solidFill>
                            <a:srgbClr val="EEEEEE"/>
                          </a:solidFill>
                        </a:rPr>
                        <a:t>2 サインイン</a:t>
                      </a:r>
                    </a:p>
                  </a:txBody>
                  <a:tcPr>
                    <a:solidFill>
                      <a:srgbClr val="F8FAFC"/>
                    </a:solidFill>
                  </a:tcPr>
                </a:tc>
                <a:tc>
                  <a:txBody>
                    <a:bodyPr wrap="square"/>
                    <a:lstStyle/>
                    <a:p>
                      <a:pPr algn="l"/>
                      <a:r>
                        <a:rPr sz="1100">
                          <a:solidFill>
                            <a:srgbClr val="EEEEEE"/>
                          </a:solidFill>
                        </a:rPr>
                        <a:t>AnthropicアカウントでGoogle または メールアドレスでログイン</a:t>
                      </a:r>
                    </a:p>
                  </a:txBody>
                  <a:tcPr>
                    <a:solidFill>
                      <a:srgbClr val="F8FAFC"/>
                    </a:solidFill>
                  </a:tcPr>
                </a:tc>
                <a:tc>
                  <a:txBody>
                    <a:bodyPr wrap="square"/>
                    <a:lstStyle/>
                    <a:p>
                      <a:pPr algn="l"/>
                      <a:r>
                        <a:rPr sz="1100">
                          <a:solidFill>
                            <a:srgbClr val="EEEEEE"/>
                          </a:solidFill>
                        </a:rPr>
                        <a:t>アカウント未作成の場合は作成</a:t>
                      </a:r>
                    </a:p>
                  </a:txBody>
                  <a:tcPr>
                    <a:solidFill>
                      <a:srgbClr val="F8FAFC"/>
                    </a:solidFill>
                  </a:tcPr>
                </a:tc>
              </a:tr>
              <a:tr h="749807">
                <a:tc>
                  <a:txBody>
                    <a:bodyPr wrap="square"/>
                    <a:lstStyle/>
                    <a:p>
                      <a:pPr algn="l"/>
                      <a:r>
                        <a:rPr sz="1100">
                          <a:solidFill>
                            <a:srgbClr val="EEEEEE"/>
                          </a:solidFill>
                        </a:rPr>
                        <a:t>3 Proプラン確認</a:t>
                      </a:r>
                    </a:p>
                  </a:txBody>
                  <a:tcPr/>
                </a:tc>
                <a:tc>
                  <a:txBody>
                    <a:bodyPr wrap="square"/>
                    <a:lstStyle/>
                    <a:p>
                      <a:pPr algn="l"/>
                      <a:r>
                        <a:rPr sz="1100">
                          <a:solidFill>
                            <a:srgbClr val="EEEEEE"/>
                          </a:solidFill>
                        </a:rPr>
                        <a:t>設定画面またはプラン情報でProプラン以上が有効か確認</a:t>
                      </a:r>
                    </a:p>
                  </a:txBody>
                  <a:tcPr/>
                </a:tc>
                <a:tc>
                  <a:txBody>
                    <a:bodyPr wrap="square"/>
                    <a:lstStyle/>
                    <a:p>
                      <a:pPr algn="l"/>
                      <a:r>
                        <a:rPr sz="1100">
                          <a:solidFill>
                            <a:srgbClr val="EEEEEE"/>
                          </a:solidFill>
                        </a:rPr>
                        <a:t>未加入の場合は当日申し込み</a:t>
                      </a:r>
                    </a:p>
                  </a:txBody>
                  <a:tcPr/>
                </a:tc>
              </a:tr>
              <a:tr h="749811">
                <a:tc>
                  <a:txBody>
                    <a:bodyPr wrap="square"/>
                    <a:lstStyle/>
                    <a:p>
                      <a:pPr algn="l"/>
                      <a:r>
                        <a:rPr sz="1100">
                          <a:solidFill>
                            <a:srgbClr val="EEEEEE"/>
                          </a:solidFill>
                        </a:rPr>
                        <a:t>4 動作テスト</a:t>
                      </a:r>
                    </a:p>
                  </a:txBody>
                  <a:tcPr>
                    <a:solidFill>
                      <a:srgbClr val="F8FAFC"/>
                    </a:solidFill>
                  </a:tcPr>
                </a:tc>
                <a:tc>
                  <a:txBody>
                    <a:bodyPr wrap="square"/>
                    <a:lstStyle/>
                    <a:p>
                      <a:pPr algn="l"/>
                      <a:r>
                        <a:rPr sz="1100">
                          <a:solidFill>
                            <a:srgbClr val="EEEEEE"/>
                          </a:solidFill>
                        </a:rPr>
                        <a:t>日本語で「こんにちは、今日はよろしくお願いします」と話しかけて返答が来るまで確認</a:t>
                      </a:r>
                    </a:p>
                  </a:txBody>
                  <a:tcPr>
                    <a:solidFill>
                      <a:srgbClr val="F8FAFC"/>
                    </a:solidFill>
                  </a:tcPr>
                </a:tc>
                <a:tc>
                  <a:txBody>
                    <a:bodyPr wrap="square"/>
                    <a:lstStyle/>
                    <a:p>
                      <a:pPr algn="l"/>
                      <a:r>
                        <a:rPr sz="1100">
                          <a:solidFill>
                            <a:srgbClr val="EEEEEE"/>
                          </a:solidFill>
                        </a:rPr>
                        <a:t>アプリ再起動 → 再サインイン</a:t>
                      </a:r>
                    </a:p>
                  </a:txBody>
                  <a:tcPr>
                    <a:solidFill>
                      <a:srgbClr val="F8FAFC"/>
                    </a:solidFill>
                  </a:tcPr>
                </a:tc>
              </a:tr>
            </a:tbl>
          </a:graphicData>
        </a:graphic>
      </p:graphicFrame>
      <p:sp>
        <p:nvSpPr>
          <p:cNvPr id="6" name="TextBox 5"/>
          <p:cNvSpPr txBox="1"/>
          <p:nvPr/>
        </p:nvSpPr>
        <p:spPr>
          <a:xfrm>
            <a:off x="457200" y="4681728"/>
            <a:ext cx="8229600" cy="320040"/>
          </a:xfrm>
          <a:prstGeom prst="rect">
            <a:avLst/>
          </a:prstGeom>
          <a:noFill/>
        </p:spPr>
        <p:txBody>
          <a:bodyPr wrap="square">
            <a:spAutoFit/>
          </a:bodyPr>
          <a:lstStyle/>
          <a:p>
            <a:pPr algn="l"/>
            <a:r>
              <a:rPr sz="1200" b="0" i="1">
                <a:solidFill>
                  <a:srgbClr val="64748B"/>
                </a:solidFill>
              </a:rPr>
              <a:t>3名以下なので詰まった方を個別サポートします。遠慮なく声をかけてください</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1C1C1C"/>
        </a:solidFill>
        <a:effectLst/>
      </p:bgPr>
    </p:bg>
    <p:spTree>
      <p:nvGrpSpPr>
        <p:cNvPr id="1" name=""/>
        <p:cNvGrpSpPr/>
        <p:nvPr/>
      </p:nvGrpSpPr>
      <p:grpSpPr/>
      <p:sp>
        <p:nvSpPr>
          <p:cNvPr id="9900" name="_BG_DARK_"/>
          <p:cNvSpPr/>
          <p:nvPr/>
        </p:nvSpPr>
        <p:spPr>
          <a:xfrm>
            <a:off x="0" y="0"/>
            <a:ext cx="9144000" cy="5143500"/>
          </a:xfrm>
          <a:prstGeom prst="rect">
            <a:avLst/>
          </a:prstGeom>
          <a:solidFill>
            <a:srgbClr val="1C1C1C"/>
          </a:solidFill>
          <a:ln>
            <a:noFill/>
          </a:ln>
        </p:spPr>
        <p:style>
          <a:lnRef idx="1">
            <a:srgbClr val="1C1C1C"/>
          </a:lnRef>
          <a:fillRef idx="1">
            <a:srgbClr val="1C1C1C"/>
          </a:fillRef>
          <a:effectRef idx="0">
            <a:srgbClr val="1C1C1C"/>
          </a:effectRef>
          <a:fontRef idx="minor">
            <a:srgbClr val="EEEEEE"/>
          </a:fontRef>
        </p:style>
        <p:txBody>
          <a:bodyPr/>
          <a:lstStyle/>
          <a:p/>
        </p:txBody>
      </p:sp>
      <p:sp>
        <p:nvSpPr>
          <p:cNvPr id="2" name="TextBox 1"/>
          <p:cNvSpPr txBox="1"/>
          <p:nvPr/>
        </p:nvSpPr>
        <p:spPr>
          <a:xfrm>
            <a:off x="0" y="1828800"/>
            <a:ext cx="9144000" cy="914400"/>
          </a:xfrm>
          <a:prstGeom prst="rect">
            <a:avLst/>
          </a:prstGeom>
          <a:noFill/>
        </p:spPr>
        <p:txBody>
          <a:bodyPr wrap="square">
            <a:spAutoFit/>
          </a:bodyPr>
          <a:lstStyle/>
          <a:p>
            <a:pPr algn="ctr"/>
            <a:r>
              <a:rPr sz="4000" b="1" i="0">
                <a:solidFill>
                  <a:srgbClr val="B8A99A"/>
                </a:solidFill>
              </a:rPr>
              <a:t>- 休憩 -</a:t>
            </a:r>
          </a:p>
        </p:txBody>
      </p:sp>
      <p:sp>
        <p:nvSpPr>
          <p:cNvPr id="3" name="TextBox 2"/>
          <p:cNvSpPr txBox="1"/>
          <p:nvPr/>
        </p:nvSpPr>
        <p:spPr>
          <a:xfrm>
            <a:off x="0" y="2834640"/>
            <a:ext cx="9144000" cy="548640"/>
          </a:xfrm>
          <a:prstGeom prst="rect">
            <a:avLst/>
          </a:prstGeom>
          <a:noFill/>
        </p:spPr>
        <p:txBody>
          <a:bodyPr wrap="square">
            <a:spAutoFit/>
          </a:bodyPr>
          <a:lstStyle/>
          <a:p>
            <a:pPr algn="ctr"/>
            <a:r>
              <a:rPr sz="1800" b="0" i="0">
                <a:solidFill>
                  <a:srgbClr val="DA7756"/>
                </a:solidFill>
              </a:rPr>
              <a:t>5〜10分</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1C1C1C"/>
        </a:solidFill>
        <a:effectLst/>
      </p:bgPr>
    </p:bg>
    <p:spTree>
      <p:nvGrpSpPr>
        <p:cNvPr id="1" name=""/>
        <p:cNvGrpSpPr/>
        <p:nvPr/>
      </p:nvGrpSpPr>
      <p:grpSpPr/>
      <p:sp>
        <p:nvSpPr>
          <p:cNvPr id="9900" name="_BG_DARK_"/>
          <p:cNvSpPr/>
          <p:nvPr/>
        </p:nvSpPr>
        <p:spPr>
          <a:xfrm>
            <a:off x="0" y="0"/>
            <a:ext cx="9144000" cy="5143500"/>
          </a:xfrm>
          <a:prstGeom prst="rect">
            <a:avLst/>
          </a:prstGeom>
          <a:solidFill>
            <a:srgbClr val="1C1C1C"/>
          </a:solidFill>
          <a:ln>
            <a:noFill/>
          </a:ln>
        </p:spPr>
        <p:style>
          <a:lnRef idx="1">
            <a:srgbClr val="1C1C1C"/>
          </a:lnRef>
          <a:fillRef idx="1">
            <a:srgbClr val="1C1C1C"/>
          </a:fillRef>
          <a:effectRef idx="0">
            <a:srgbClr val="1C1C1C"/>
          </a:effectRef>
          <a:fontRef idx="minor">
            <a:srgbClr val="EEEEEE"/>
          </a:fontRef>
        </p:style>
        <p:txBody>
          <a:bodyPr/>
          <a:lstStyle/>
          <a:p/>
        </p:txBody>
      </p:sp>
      <p:sp>
        <p:nvSpPr>
          <p:cNvPr id="2" name="Rectangle 1"/>
          <p:cNvSpPr/>
          <p:nvPr/>
        </p:nvSpPr>
        <p:spPr>
          <a:xfrm>
            <a:off x="548640" y="822960"/>
            <a:ext cx="1097280" cy="1097280"/>
          </a:xfrm>
          <a:prstGeom prst="rect">
            <a:avLst/>
          </a:prstGeom>
          <a:solidFill>
            <a:srgbClr val="DA77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868680"/>
            <a:ext cx="1097280" cy="1005840"/>
          </a:xfrm>
          <a:prstGeom prst="rect">
            <a:avLst/>
          </a:prstGeom>
          <a:noFill/>
        </p:spPr>
        <p:txBody>
          <a:bodyPr wrap="square">
            <a:spAutoFit/>
          </a:bodyPr>
          <a:lstStyle/>
          <a:p>
            <a:pPr algn="ctr"/>
            <a:r>
              <a:rPr sz="3800" b="1" i="0">
                <a:solidFill>
                  <a:srgbClr val="FFFFFF"/>
                </a:solidFill>
              </a:rPr>
              <a:t>4</a:t>
            </a:r>
          </a:p>
        </p:txBody>
      </p:sp>
      <p:sp>
        <p:nvSpPr>
          <p:cNvPr id="4" name="TextBox 3"/>
          <p:cNvSpPr txBox="1"/>
          <p:nvPr/>
        </p:nvSpPr>
        <p:spPr>
          <a:xfrm>
            <a:off x="2011680" y="960120"/>
            <a:ext cx="6858000" cy="914400"/>
          </a:xfrm>
          <a:prstGeom prst="rect">
            <a:avLst/>
          </a:prstGeom>
          <a:noFill/>
        </p:spPr>
        <p:txBody>
          <a:bodyPr wrap="square">
            <a:spAutoFit/>
          </a:bodyPr>
          <a:lstStyle/>
          <a:p>
            <a:pPr algn="l"/>
            <a:r>
              <a:rPr sz="3000" b="1" i="0">
                <a:solidFill>
                  <a:srgbClr val="FFFFFF"/>
                </a:solidFill>
              </a:rPr>
              <a:t>実践ワーク</a:t>
            </a:r>
          </a:p>
        </p:txBody>
      </p:sp>
      <p:sp>
        <p:nvSpPr>
          <p:cNvPr id="5" name="TextBox 4"/>
          <p:cNvSpPr txBox="1"/>
          <p:nvPr/>
        </p:nvSpPr>
        <p:spPr>
          <a:xfrm>
            <a:off x="2011680" y="1920240"/>
            <a:ext cx="4572000" cy="457200"/>
          </a:xfrm>
          <a:prstGeom prst="rect">
            <a:avLst/>
          </a:prstGeom>
          <a:noFill/>
        </p:spPr>
        <p:txBody>
          <a:bodyPr wrap="square">
            <a:spAutoFit/>
          </a:bodyPr>
          <a:lstStyle/>
          <a:p>
            <a:pPr algn="l"/>
            <a:r>
              <a:rPr sz="1400" b="0" i="0">
                <a:solidFill>
                  <a:srgbClr val="DA7756"/>
                </a:solidFill>
              </a:rPr>
              <a:t>[52分]</a:t>
            </a:r>
          </a:p>
        </p:txBody>
      </p:sp>
      <p:sp>
        <p:nvSpPr>
          <p:cNvPr id="6" name="TextBox 5"/>
          <p:cNvSpPr txBox="1"/>
          <p:nvPr/>
        </p:nvSpPr>
        <p:spPr>
          <a:xfrm>
            <a:off x="2011680" y="2468880"/>
            <a:ext cx="6858000" cy="914400"/>
          </a:xfrm>
          <a:prstGeom prst="rect">
            <a:avLst/>
          </a:prstGeom>
          <a:noFill/>
        </p:spPr>
        <p:txBody>
          <a:bodyPr wrap="square">
            <a:spAutoFit/>
          </a:bodyPr>
          <a:lstStyle/>
          <a:p>
            <a:pPr algn="l"/>
            <a:r>
              <a:rPr sz="1500" b="0" i="0">
                <a:solidFill>
                  <a:srgbClr val="B8A99A"/>
                </a:solidFill>
              </a:rPr>
              <a:t>CLAUDE.md作成（PDFコピペ）→ AIトラブル対処（2分）→ 自社業務試行（40分）</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1C1C1C"/>
        </a:solidFill>
        <a:effectLst/>
      </p:bgPr>
    </p:bg>
    <p:spTree>
      <p:nvGrpSpPr>
        <p:cNvPr id="1" name=""/>
        <p:cNvGrpSpPr/>
        <p:nvPr/>
      </p:nvGrpSpPr>
      <p:grpSpPr/>
      <p:sp>
        <p:nvSpPr>
          <p:cNvPr id="9900" name="_BG_DARK_"/>
          <p:cNvSpPr/>
          <p:nvPr/>
        </p:nvSpPr>
        <p:spPr>
          <a:xfrm>
            <a:off x="0" y="0"/>
            <a:ext cx="9144000" cy="5143500"/>
          </a:xfrm>
          <a:prstGeom prst="rect">
            <a:avLst/>
          </a:prstGeom>
          <a:solidFill>
            <a:srgbClr val="1C1C1C"/>
          </a:solidFill>
          <a:ln>
            <a:noFill/>
          </a:ln>
        </p:spPr>
        <p:style>
          <a:lnRef idx="1">
            <a:srgbClr val="1C1C1C"/>
          </a:lnRef>
          <a:fillRef idx="1">
            <a:srgbClr val="1C1C1C"/>
          </a:fillRef>
          <a:effectRef idx="0">
            <a:srgbClr val="1C1C1C"/>
          </a:effectRef>
          <a:fontRef idx="minor">
            <a:srgbClr val="EEEEEE"/>
          </a:fontRef>
        </p:style>
        <p:txBody>
          <a:bodyPr/>
          <a:lstStyle/>
          <a:p/>
        </p:txBody>
      </p:sp>
      <p:sp>
        <p:nvSpPr>
          <p:cNvPr id="2" name="Rectangle 1"/>
          <p:cNvSpPr/>
          <p:nvPr/>
        </p:nvSpPr>
        <p:spPr>
          <a:xfrm>
            <a:off x="0" y="0"/>
            <a:ext cx="9144000" cy="594360"/>
          </a:xfrm>
          <a:prstGeom prst="rect">
            <a:avLst/>
          </a:prstGeom>
          <a:solidFill>
            <a:srgbClr val="25252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64008"/>
            <a:ext cx="7772400" cy="502920"/>
          </a:xfrm>
          <a:prstGeom prst="rect">
            <a:avLst/>
          </a:prstGeom>
          <a:noFill/>
        </p:spPr>
        <p:txBody>
          <a:bodyPr wrap="square">
            <a:spAutoFit/>
          </a:bodyPr>
          <a:lstStyle/>
          <a:p>
            <a:pPr algn="l"/>
            <a:r>
              <a:rPr sz="1800" b="1" i="0">
                <a:solidFill>
                  <a:srgbClr val="FFFFFF"/>
                </a:solidFill>
              </a:rPr>
              <a:t>CLAUDE.md とは — PDFひな型からコピペで作成</a:t>
            </a:r>
          </a:p>
        </p:txBody>
      </p:sp>
      <p:sp>
        <p:nvSpPr>
          <p:cNvPr id="4" name="TextBox 3"/>
          <p:cNvSpPr txBox="1"/>
          <p:nvPr/>
        </p:nvSpPr>
        <p:spPr>
          <a:xfrm>
            <a:off x="7132320" y="91440"/>
            <a:ext cx="1828800" cy="457200"/>
          </a:xfrm>
          <a:prstGeom prst="rect">
            <a:avLst/>
          </a:prstGeom>
          <a:noFill/>
        </p:spPr>
        <p:txBody>
          <a:bodyPr wrap="square">
            <a:spAutoFit/>
          </a:bodyPr>
          <a:lstStyle/>
          <a:p>
            <a:pPr algn="r"/>
            <a:r>
              <a:rPr sz="1200" b="0" i="0">
                <a:solidFill>
                  <a:srgbClr val="DA7756"/>
                </a:solidFill>
              </a:rPr>
              <a:t>[10分]</a:t>
            </a:r>
          </a:p>
        </p:txBody>
      </p:sp>
      <p:graphicFrame>
        <p:nvGraphicFramePr>
          <p:cNvPr id="5" name="Table 4"/>
          <p:cNvGraphicFramePr>
            <a:graphicFrameLocks noGrp="1"/>
          </p:cNvGraphicFramePr>
          <p:nvPr/>
        </p:nvGraphicFramePr>
        <p:xfrm>
          <a:off x="457200" y="777240"/>
          <a:ext cx="8229600" cy="3931920"/>
        </p:xfrm>
        <a:graphic>
          <a:graphicData uri="http://schemas.openxmlformats.org/drawingml/2006/table">
            <a:tbl>
              <a:tblPr/>
              <a:tblGrid>
                <a:gridCol w="2304288"/>
                <a:gridCol w="5925312"/>
              </a:tblGrid>
              <a:tr h="491490">
                <a:tc>
                  <a:txBody>
                    <a:bodyPr wrap="square"/>
                    <a:lstStyle/>
                    <a:p>
                      <a:pPr algn="ctr"/>
                      <a:r>
                        <a:rPr b="1" sz="1200">
                          <a:solidFill>
                            <a:srgbClr val="FFFFFF"/>
                          </a:solidFill>
                        </a:rPr>
                        <a:t>カテゴリ</a:t>
                      </a:r>
                    </a:p>
                  </a:txBody>
                  <a:tcPr>
                    <a:solidFill>
                      <a:srgbClr val="1C1C1C"/>
                    </a:solidFill>
                  </a:tcPr>
                </a:tc>
                <a:tc>
                  <a:txBody>
                    <a:bodyPr wrap="square"/>
                    <a:lstStyle/>
                    <a:p>
                      <a:pPr algn="ctr"/>
                      <a:r>
                        <a:rPr b="1" sz="1200">
                          <a:solidFill>
                            <a:srgbClr val="FFFFFF"/>
                          </a:solidFill>
                        </a:rPr>
                        <a:t>記載例</a:t>
                      </a:r>
                    </a:p>
                  </a:txBody>
                  <a:tcPr>
                    <a:solidFill>
                      <a:srgbClr val="1C1C1C"/>
                    </a:solidFill>
                  </a:tcPr>
                </a:tc>
              </a:tr>
              <a:tr h="491490">
                <a:tc>
                  <a:txBody>
                    <a:bodyPr wrap="square"/>
                    <a:lstStyle/>
                    <a:p>
                      <a:pPr algn="l"/>
                      <a:r>
                        <a:rPr sz="1100">
                          <a:solidFill>
                            <a:srgbClr val="EEEEEE"/>
                          </a:solidFill>
                        </a:rPr>
                        <a:t>事業者情報</a:t>
                      </a:r>
                    </a:p>
                  </a:txBody>
                  <a:tcPr/>
                </a:tc>
                <a:tc>
                  <a:txBody>
                    <a:bodyPr wrap="square"/>
                    <a:lstStyle/>
                    <a:p>
                      <a:pPr algn="l"/>
                      <a:r>
                        <a:rPr sz="1100">
                          <a:solidFill>
                            <a:srgbClr val="EEEEEE"/>
                          </a:solidFill>
                        </a:rPr>
                        <a:t>会社名・業種・拠点</a:t>
                      </a:r>
                    </a:p>
                  </a:txBody>
                  <a:tcPr/>
                </a:tc>
              </a:tr>
              <a:tr h="491490">
                <a:tc>
                  <a:txBody>
                    <a:bodyPr wrap="square"/>
                    <a:lstStyle/>
                    <a:p>
                      <a:pPr algn="l"/>
                      <a:r>
                        <a:rPr sz="1100">
                          <a:solidFill>
                            <a:srgbClr val="EEEEEE"/>
                          </a:solidFill>
                        </a:rPr>
                        <a:t>出力ルール</a:t>
                      </a:r>
                    </a:p>
                  </a:txBody>
                  <a:tcPr>
                    <a:solidFill>
                      <a:srgbClr val="F8FAFC"/>
                    </a:solidFill>
                  </a:tcPr>
                </a:tc>
                <a:tc>
                  <a:txBody>
                    <a:bodyPr wrap="square"/>
                    <a:lstStyle/>
                    <a:p>
                      <a:pPr algn="l"/>
                      <a:r>
                        <a:rPr sz="1100">
                          <a:solidFill>
                            <a:srgbClr val="EEEEEE"/>
                          </a:solidFill>
                        </a:rPr>
                        <a:t>「出力は必ず日本語で」「箇条書き優先」</a:t>
                      </a:r>
                    </a:p>
                  </a:txBody>
                  <a:tcPr>
                    <a:solidFill>
                      <a:srgbClr val="F8FAFC"/>
                    </a:solidFill>
                  </a:tcPr>
                </a:tc>
              </a:tr>
              <a:tr h="491490">
                <a:tc>
                  <a:txBody>
                    <a:bodyPr wrap="square"/>
                    <a:lstStyle/>
                    <a:p>
                      <a:pPr algn="l"/>
                      <a:r>
                        <a:rPr sz="1100">
                          <a:solidFill>
                            <a:srgbClr val="EEEEEE"/>
                          </a:solidFill>
                        </a:rPr>
                        <a:t>保存先</a:t>
                      </a:r>
                    </a:p>
                  </a:txBody>
                  <a:tcPr/>
                </a:tc>
                <a:tc>
                  <a:txBody>
                    <a:bodyPr wrap="square"/>
                    <a:lstStyle/>
                    <a:p>
                      <a:pPr algn="l"/>
                      <a:r>
                        <a:rPr sz="1100">
                          <a:solidFill>
                            <a:srgbClr val="EEEEEE"/>
                          </a:solidFill>
                        </a:rPr>
                        <a:t>「ファイルはDesktopに保存すること」</a:t>
                      </a:r>
                    </a:p>
                  </a:txBody>
                  <a:tcPr/>
                </a:tc>
              </a:tr>
              <a:tr h="491490">
                <a:tc>
                  <a:txBody>
                    <a:bodyPr wrap="square"/>
                    <a:lstStyle/>
                    <a:p>
                      <a:pPr algn="l"/>
                      <a:r>
                        <a:rPr sz="1100">
                          <a:solidFill>
                            <a:srgbClr val="EEEEEE"/>
                          </a:solidFill>
                        </a:rPr>
                        <a:t>禁止事項</a:t>
                      </a:r>
                    </a:p>
                  </a:txBody>
                  <a:tcPr>
                    <a:solidFill>
                      <a:srgbClr val="F8FAFC"/>
                    </a:solidFill>
                  </a:tcPr>
                </a:tc>
                <a:tc>
                  <a:txBody>
                    <a:bodyPr wrap="square"/>
                    <a:lstStyle/>
                    <a:p>
                      <a:pPr algn="l"/>
                      <a:r>
                        <a:rPr sz="1100">
                          <a:solidFill>
                            <a:srgbClr val="EEEEEE"/>
                          </a:solidFill>
                        </a:rPr>
                        <a:t>「個人情報・機密情報は扱わない」</a:t>
                      </a:r>
                    </a:p>
                  </a:txBody>
                  <a:tcPr>
                    <a:solidFill>
                      <a:srgbClr val="F8FAFC"/>
                    </a:solidFill>
                  </a:tcPr>
                </a:tc>
              </a:tr>
              <a:tr h="491490">
                <a:tc>
                  <a:txBody>
                    <a:bodyPr wrap="square"/>
                    <a:lstStyle/>
                    <a:p>
                      <a:pPr algn="l"/>
                      <a:r>
                        <a:rPr sz="1100">
                          <a:solidFill>
                            <a:srgbClr val="EEEEEE"/>
                          </a:solidFill>
                        </a:rPr>
                        <a:t>よく使う形式</a:t>
                      </a:r>
                    </a:p>
                  </a:txBody>
                  <a:tcPr/>
                </a:tc>
                <a:tc>
                  <a:txBody>
                    <a:bodyPr wrap="square"/>
                    <a:lstStyle/>
                    <a:p>
                      <a:pPr algn="l"/>
                      <a:r>
                        <a:rPr sz="1100">
                          <a:solidFill>
                            <a:srgbClr val="EEEEEE"/>
                          </a:solidFill>
                        </a:rPr>
                        <a:t>「文書はWord(.docx)・データはCSVで出力」</a:t>
                      </a:r>
                    </a:p>
                  </a:txBody>
                  <a:tcPr/>
                </a:tc>
              </a:tr>
              <a:tr h="491490">
                <a:tc>
                  <a:txBody>
                    <a:bodyPr wrap="square"/>
                    <a:lstStyle/>
                    <a:p>
                      <a:pPr algn="l"/>
                      <a:r>
                        <a:rPr sz="1100">
                          <a:solidFill>
                            <a:srgbClr val="EEEEEE"/>
                          </a:solidFill>
                        </a:rPr>
                        <a:t>口調</a:t>
                      </a:r>
                    </a:p>
                  </a:txBody>
                  <a:tcPr>
                    <a:solidFill>
                      <a:srgbClr val="F8FAFC"/>
                    </a:solidFill>
                  </a:tcPr>
                </a:tc>
                <a:tc>
                  <a:txBody>
                    <a:bodyPr wrap="square"/>
                    <a:lstStyle/>
                    <a:p>
                      <a:pPr algn="l"/>
                      <a:r>
                        <a:rPr sz="1100">
                          <a:solidFill>
                            <a:srgbClr val="EEEEEE"/>
                          </a:solidFill>
                        </a:rPr>
                        <a:t>「敬語・ですます調で出力」</a:t>
                      </a:r>
                    </a:p>
                  </a:txBody>
                  <a:tcPr>
                    <a:solidFill>
                      <a:srgbClr val="F8FAFC"/>
                    </a:solidFill>
                  </a:tcPr>
                </a:tc>
              </a:tr>
              <a:tr h="491490">
                <a:tc>
                  <a:txBody>
                    <a:bodyPr wrap="square"/>
                    <a:lstStyle/>
                    <a:p>
                      <a:pPr algn="l"/>
                      <a:r>
                        <a:rPr sz="1100">
                          <a:solidFill>
                            <a:srgbClr val="EEEEEE"/>
                          </a:solidFill>
                        </a:rPr>
                        <a:t>ハルシネーション対策</a:t>
                      </a:r>
                    </a:p>
                  </a:txBody>
                  <a:tcPr/>
                </a:tc>
                <a:tc>
                  <a:txBody>
                    <a:bodyPr wrap="square"/>
                    <a:lstStyle/>
                    <a:p>
                      <a:pPr algn="l"/>
                      <a:r>
                        <a:rPr sz="1100">
                          <a:solidFill>
                            <a:srgbClr val="EEEEEE"/>
                          </a:solidFill>
                        </a:rPr>
                        <a:t>「わからない場合は作業を止めて確認すること」「実行前に何をするか説明してから動くこと」</a:t>
                      </a:r>
                    </a:p>
                  </a:txBody>
                  <a:tcPr/>
                </a:tc>
              </a:tr>
            </a:tbl>
          </a:graphicData>
        </a:graphic>
      </p:graphicFrame>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1C1C1C"/>
        </a:solidFill>
        <a:effectLst/>
      </p:bgPr>
    </p:bg>
    <p:spTree>
      <p:nvGrpSpPr>
        <p:cNvPr id="1" name=""/>
        <p:cNvGrpSpPr/>
        <p:nvPr/>
      </p:nvGrpSpPr>
      <p:grpSpPr/>
      <p:sp>
        <p:nvSpPr>
          <p:cNvPr id="9900" name="_BG_DARK_"/>
          <p:cNvSpPr/>
          <p:nvPr/>
        </p:nvSpPr>
        <p:spPr>
          <a:xfrm>
            <a:off x="0" y="0"/>
            <a:ext cx="9144000" cy="5143500"/>
          </a:xfrm>
          <a:prstGeom prst="rect">
            <a:avLst/>
          </a:prstGeom>
          <a:solidFill>
            <a:srgbClr val="1C1C1C"/>
          </a:solidFill>
          <a:ln>
            <a:noFill/>
          </a:ln>
        </p:spPr>
        <p:style>
          <a:lnRef idx="1">
            <a:srgbClr val="1C1C1C"/>
          </a:lnRef>
          <a:fillRef idx="1">
            <a:srgbClr val="1C1C1C"/>
          </a:fillRef>
          <a:effectRef idx="0">
            <a:srgbClr val="1C1C1C"/>
          </a:effectRef>
          <a:fontRef idx="minor">
            <a:srgbClr val="EEEEEE"/>
          </a:fontRef>
        </p:style>
        <p:txBody>
          <a:bodyPr/>
          <a:lstStyle/>
          <a:p/>
        </p:txBody>
      </p:sp>
      <p:sp>
        <p:nvSpPr>
          <p:cNvPr id="2" name="Rectangle 1"/>
          <p:cNvSpPr/>
          <p:nvPr/>
        </p:nvSpPr>
        <p:spPr>
          <a:xfrm>
            <a:off x="0" y="0"/>
            <a:ext cx="9144000" cy="594360"/>
          </a:xfrm>
          <a:prstGeom prst="rect">
            <a:avLst/>
          </a:prstGeom>
          <a:solidFill>
            <a:srgbClr val="25252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64008"/>
            <a:ext cx="7772400" cy="502920"/>
          </a:xfrm>
          <a:prstGeom prst="rect">
            <a:avLst/>
          </a:prstGeom>
          <a:noFill/>
        </p:spPr>
        <p:txBody>
          <a:bodyPr wrap="square">
            <a:spAutoFit/>
          </a:bodyPr>
          <a:lstStyle/>
          <a:p>
            <a:pPr algn="l"/>
            <a:r>
              <a:rPr sz="1800" b="1" i="0">
                <a:solidFill>
                  <a:srgbClr val="FFFFFF"/>
                </a:solidFill>
              </a:rPr>
              <a:t>AIが止まるケースと対処</a:t>
            </a:r>
          </a:p>
        </p:txBody>
      </p:sp>
      <p:sp>
        <p:nvSpPr>
          <p:cNvPr id="4" name="TextBox 3"/>
          <p:cNvSpPr txBox="1"/>
          <p:nvPr/>
        </p:nvSpPr>
        <p:spPr>
          <a:xfrm>
            <a:off x="7132320" y="91440"/>
            <a:ext cx="1828800" cy="457200"/>
          </a:xfrm>
          <a:prstGeom prst="rect">
            <a:avLst/>
          </a:prstGeom>
          <a:noFill/>
        </p:spPr>
        <p:txBody>
          <a:bodyPr wrap="square">
            <a:spAutoFit/>
          </a:bodyPr>
          <a:lstStyle/>
          <a:p>
            <a:pPr algn="r"/>
            <a:r>
              <a:rPr sz="1200" b="0" i="0">
                <a:solidFill>
                  <a:srgbClr val="DA7756"/>
                </a:solidFill>
              </a:rPr>
              <a:t>[2分]</a:t>
            </a:r>
          </a:p>
        </p:txBody>
      </p:sp>
      <p:sp>
        <p:nvSpPr>
          <p:cNvPr id="5" name="TextBox 4"/>
          <p:cNvSpPr txBox="1"/>
          <p:nvPr/>
        </p:nvSpPr>
        <p:spPr>
          <a:xfrm>
            <a:off x="457200" y="749808"/>
            <a:ext cx="4114800" cy="365760"/>
          </a:xfrm>
          <a:prstGeom prst="rect">
            <a:avLst/>
          </a:prstGeom>
          <a:noFill/>
        </p:spPr>
        <p:txBody>
          <a:bodyPr wrap="square">
            <a:spAutoFit/>
          </a:bodyPr>
          <a:lstStyle/>
          <a:p>
            <a:r>
              <a:rPr sz="1300" b="1" i="0">
                <a:solidFill>
                  <a:srgbClr val="1C1C1C"/>
                </a:solidFill>
              </a:rPr>
              <a:t>止まったらこの7パターンのどれかで回復できます（持ち帰り資料を参照）</a:t>
            </a:r>
          </a:p>
        </p:txBody>
      </p:sp>
      <p:sp>
        <p:nvSpPr>
          <p:cNvPr id="6" name="TextBox 5"/>
          <p:cNvSpPr txBox="1"/>
          <p:nvPr/>
        </p:nvSpPr>
        <p:spPr>
          <a:xfrm>
            <a:off x="457200" y="1143000"/>
            <a:ext cx="4114800" cy="1097280"/>
          </a:xfrm>
          <a:prstGeom prst="rect">
            <a:avLst/>
          </a:prstGeom>
          <a:noFill/>
        </p:spPr>
        <p:txBody>
          <a:bodyPr wrap="square">
            <a:spAutoFit/>
          </a:bodyPr>
          <a:lstStyle/>
          <a:p>
            <a:r>
              <a:rPr sz="1200">
                <a:solidFill>
                  <a:srgbClr val="EEEEEE"/>
                </a:solidFill>
              </a:rPr>
              <a:t>返答が途中で止まった → 「続けてください」と入力</a:t>
            </a:r>
          </a:p>
          <a:p>
            <a:r>
              <a:rPr sz="1200">
                <a:solidFill>
                  <a:srgbClr val="EEEEEE"/>
                </a:solidFill>
              </a:rPr>
              <a:t>「続けてよいですか？」と聞いてきた → 内容確認してOKなら「はい」</a:t>
            </a:r>
          </a:p>
          <a:p>
            <a:r>
              <a:rPr sz="1200">
                <a:solidFill>
                  <a:srgbClr val="EEEEEE"/>
                </a:solidFill>
              </a:rPr>
              <a:t>意図と違う処理をした → 「待って」→ 意図を正確に伝え直す</a:t>
            </a:r>
          </a:p>
          <a:p>
            <a:r>
              <a:rPr sz="1200">
                <a:solidFill>
                  <a:srgbClr val="EEEEEE"/>
                </a:solidFill>
              </a:rPr>
              <a:t>エラーが出た → メッセージをコピーして「これはどういう意味ですか？」</a:t>
            </a:r>
          </a:p>
          <a:p>
            <a:r>
              <a:rPr sz="1200">
                <a:solidFill>
                  <a:srgbClr val="EEEEEE"/>
                </a:solidFill>
              </a:rPr>
              <a:t>返答が遅い・繰り返す → 「まとめてください」→ 新規セッションで継続</a:t>
            </a:r>
          </a:p>
          <a:p>
            <a:r>
              <a:rPr sz="1200">
                <a:solidFill>
                  <a:srgbClr val="EEEEEE"/>
                </a:solidFill>
              </a:rPr>
              <a:t>応答しない・フリーズ → 数分待ってアプリ再起動</a:t>
            </a:r>
          </a:p>
          <a:p>
            <a:r>
              <a:rPr sz="1200">
                <a:solidFill>
                  <a:srgbClr val="EEEEEE"/>
                </a:solidFill>
              </a:rPr>
              <a:t>どうしてもわからない → ブラウザ版Claude（claude.ai）に状況を説明</a:t>
            </a:r>
          </a:p>
        </p:txBody>
      </p:sp>
      <p:graphicFrame>
        <p:nvGraphicFramePr>
          <p:cNvPr id="7" name="Table 6"/>
          <p:cNvGraphicFramePr>
            <a:graphicFrameLocks noGrp="1"/>
          </p:cNvGraphicFramePr>
          <p:nvPr/>
        </p:nvGraphicFramePr>
        <p:xfrm>
          <a:off x="4572000" y="749808"/>
          <a:ext cx="4389120" cy="4160520"/>
        </p:xfrm>
        <a:graphic>
          <a:graphicData uri="http://schemas.openxmlformats.org/drawingml/2006/table">
            <a:tbl>
              <a:tblPr/>
              <a:tblGrid>
                <a:gridCol w="1755648"/>
                <a:gridCol w="2633472"/>
              </a:tblGrid>
              <a:tr h="693420">
                <a:tc>
                  <a:txBody>
                    <a:bodyPr wrap="square"/>
                    <a:lstStyle/>
                    <a:p>
                      <a:pPr algn="ctr"/>
                      <a:r>
                        <a:rPr b="1" sz="1200">
                          <a:solidFill>
                            <a:srgbClr val="FFFFFF"/>
                          </a:solidFill>
                        </a:rPr>
                        <a:t>トラブル</a:t>
                      </a:r>
                    </a:p>
                  </a:txBody>
                  <a:tcPr>
                    <a:solidFill>
                      <a:srgbClr val="1C1C1C"/>
                    </a:solidFill>
                  </a:tcPr>
                </a:tc>
                <a:tc>
                  <a:txBody>
                    <a:bodyPr wrap="square"/>
                    <a:lstStyle/>
                    <a:p>
                      <a:pPr algn="ctr"/>
                      <a:r>
                        <a:rPr b="1" sz="1200">
                          <a:solidFill>
                            <a:srgbClr val="FFFFFF"/>
                          </a:solidFill>
                        </a:rPr>
                        <a:t>対処</a:t>
                      </a:r>
                    </a:p>
                  </a:txBody>
                  <a:tcPr>
                    <a:solidFill>
                      <a:srgbClr val="1C1C1C"/>
                    </a:solidFill>
                  </a:tcPr>
                </a:tc>
              </a:tr>
              <a:tr h="693420">
                <a:tc>
                  <a:txBody>
                    <a:bodyPr wrap="square"/>
                    <a:lstStyle/>
                    <a:p>
                      <a:pPr algn="l"/>
                      <a:r>
                        <a:rPr sz="1100">
                          <a:solidFill>
                            <a:srgbClr val="EEEEEE"/>
                          </a:solidFill>
                        </a:rPr>
                        <a:t>返答が途中で止まった</a:t>
                      </a:r>
                    </a:p>
                  </a:txBody>
                  <a:tcPr/>
                </a:tc>
                <a:tc>
                  <a:txBody>
                    <a:bodyPr wrap="square"/>
                    <a:lstStyle/>
                    <a:p>
                      <a:pPr algn="l"/>
                      <a:r>
                        <a:rPr sz="1100">
                          <a:solidFill>
                            <a:srgbClr val="EEEEEE"/>
                          </a:solidFill>
                        </a:rPr>
                        <a:t>「続けてください」と入力</a:t>
                      </a:r>
                    </a:p>
                  </a:txBody>
                  <a:tcPr/>
                </a:tc>
              </a:tr>
              <a:tr h="693420">
                <a:tc>
                  <a:txBody>
                    <a:bodyPr wrap="square"/>
                    <a:lstStyle/>
                    <a:p>
                      <a:pPr algn="l"/>
                      <a:r>
                        <a:rPr sz="1100">
                          <a:solidFill>
                            <a:srgbClr val="EEEEEE"/>
                          </a:solidFill>
                        </a:rPr>
                        <a:t>意図と違う処理をした</a:t>
                      </a:r>
                    </a:p>
                  </a:txBody>
                  <a:tcPr>
                    <a:solidFill>
                      <a:srgbClr val="F8FAFC"/>
                    </a:solidFill>
                  </a:tcPr>
                </a:tc>
                <a:tc>
                  <a:txBody>
                    <a:bodyPr wrap="square"/>
                    <a:lstStyle/>
                    <a:p>
                      <a:pPr algn="l"/>
                      <a:r>
                        <a:rPr sz="1100">
                          <a:solidFill>
                            <a:srgbClr val="EEEEEE"/>
                          </a:solidFill>
                        </a:rPr>
                        <a:t>「待って」と入力 → 意図を正確に伝え直す</a:t>
                      </a:r>
                    </a:p>
                  </a:txBody>
                  <a:tcPr>
                    <a:solidFill>
                      <a:srgbClr val="F8FAFC"/>
                    </a:solidFill>
                  </a:tcPr>
                </a:tc>
              </a:tr>
              <a:tr h="693420">
                <a:tc>
                  <a:txBody>
                    <a:bodyPr wrap="square"/>
                    <a:lstStyle/>
                    <a:p>
                      <a:pPr algn="l"/>
                      <a:r>
                        <a:rPr sz="1100">
                          <a:solidFill>
                            <a:srgbClr val="EEEEEE"/>
                          </a:solidFill>
                        </a:rPr>
                        <a:t>エラーメッセージが出た</a:t>
                      </a:r>
                    </a:p>
                  </a:txBody>
                  <a:tcPr/>
                </a:tc>
                <a:tc>
                  <a:txBody>
                    <a:bodyPr wrap="square"/>
                    <a:lstStyle/>
                    <a:p>
                      <a:pPr algn="l"/>
                      <a:r>
                        <a:rPr sz="1100">
                          <a:solidFill>
                            <a:srgbClr val="EEEEEE"/>
                          </a:solidFill>
                        </a:rPr>
                        <a:t>メッセージをそのまま貼り付けて「これはどういう意味ですか？」と聞く</a:t>
                      </a:r>
                    </a:p>
                  </a:txBody>
                  <a:tcPr/>
                </a:tc>
              </a:tr>
              <a:tr h="693420">
                <a:tc>
                  <a:txBody>
                    <a:bodyPr wrap="square"/>
                    <a:lstStyle/>
                    <a:p>
                      <a:pPr algn="l"/>
                      <a:r>
                        <a:rPr sz="1100">
                          <a:solidFill>
                            <a:srgbClr val="EEEEEE"/>
                          </a:solidFill>
                        </a:rPr>
                        <a:t>コンテキストが長くなった</a:t>
                      </a:r>
                    </a:p>
                  </a:txBody>
                  <a:tcPr>
                    <a:solidFill>
                      <a:srgbClr val="F8FAFC"/>
                    </a:solidFill>
                  </a:tcPr>
                </a:tc>
                <a:tc>
                  <a:txBody>
                    <a:bodyPr wrap="square"/>
                    <a:lstStyle/>
                    <a:p>
                      <a:pPr algn="l"/>
                      <a:r>
                        <a:rPr sz="1100">
                          <a:solidFill>
                            <a:srgbClr val="EEEEEE"/>
                          </a:solidFill>
                        </a:rPr>
                        <a:t>「ここまでの作業内容をまとめてください」→ 新規セッションに貼り付け</a:t>
                      </a:r>
                    </a:p>
                  </a:txBody>
                  <a:tcPr>
                    <a:solidFill>
                      <a:srgbClr val="F8FAFC"/>
                    </a:solidFill>
                  </a:tcPr>
                </a:tc>
              </a:tr>
              <a:tr h="693420">
                <a:tc>
                  <a:txBody>
                    <a:bodyPr wrap="square"/>
                    <a:lstStyle/>
                    <a:p>
                      <a:pPr algn="l"/>
                      <a:r>
                        <a:rPr sz="1100">
                          <a:solidFill>
                            <a:srgbClr val="EEEEEE"/>
                          </a:solidFill>
                        </a:rPr>
                        <a:t>応答しない・フリーズ</a:t>
                      </a:r>
                    </a:p>
                  </a:txBody>
                  <a:tcPr/>
                </a:tc>
                <a:tc>
                  <a:txBody>
                    <a:bodyPr wrap="square"/>
                    <a:lstStyle/>
                    <a:p>
                      <a:pPr algn="l"/>
                      <a:r>
                        <a:rPr sz="1100">
                          <a:solidFill>
                            <a:srgbClr val="EEEEEE"/>
                          </a:solidFill>
                        </a:rPr>
                        <a:t>数分待ってアプリを再起動して再試行</a:t>
                      </a:r>
                    </a:p>
                  </a:txBody>
                  <a:tcPr/>
                </a:tc>
              </a:tr>
            </a:tbl>
          </a:graphicData>
        </a:graphic>
      </p:graphicFrame>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1C1C1C"/>
        </a:solidFill>
        <a:effectLst/>
      </p:bgPr>
    </p:bg>
    <p:spTree>
      <p:nvGrpSpPr>
        <p:cNvPr id="1" name=""/>
        <p:cNvGrpSpPr/>
        <p:nvPr/>
      </p:nvGrpSpPr>
      <p:grpSpPr/>
      <p:sp>
        <p:nvSpPr>
          <p:cNvPr id="9900" name="_BG_DARK_"/>
          <p:cNvSpPr/>
          <p:nvPr/>
        </p:nvSpPr>
        <p:spPr>
          <a:xfrm>
            <a:off x="0" y="0"/>
            <a:ext cx="9144000" cy="5143500"/>
          </a:xfrm>
          <a:prstGeom prst="rect">
            <a:avLst/>
          </a:prstGeom>
          <a:solidFill>
            <a:srgbClr val="1C1C1C"/>
          </a:solidFill>
          <a:ln>
            <a:noFill/>
          </a:ln>
        </p:spPr>
        <p:style>
          <a:lnRef idx="1">
            <a:srgbClr val="1C1C1C"/>
          </a:lnRef>
          <a:fillRef idx="1">
            <a:srgbClr val="1C1C1C"/>
          </a:fillRef>
          <a:effectRef idx="0">
            <a:srgbClr val="1C1C1C"/>
          </a:effectRef>
          <a:fontRef idx="minor">
            <a:srgbClr val="EEEEEE"/>
          </a:fontRef>
        </p:style>
        <p:txBody>
          <a:bodyPr/>
          <a:lstStyle/>
          <a:p/>
        </p:txBody>
      </p:sp>
      <p:sp>
        <p:nvSpPr>
          <p:cNvPr id="2" name="Rectangle 1"/>
          <p:cNvSpPr/>
          <p:nvPr/>
        </p:nvSpPr>
        <p:spPr>
          <a:xfrm>
            <a:off x="0" y="0"/>
            <a:ext cx="9144000" cy="594360"/>
          </a:xfrm>
          <a:prstGeom prst="rect">
            <a:avLst/>
          </a:prstGeom>
          <a:solidFill>
            <a:srgbClr val="25252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64008"/>
            <a:ext cx="7772400" cy="502920"/>
          </a:xfrm>
          <a:prstGeom prst="rect">
            <a:avLst/>
          </a:prstGeom>
          <a:noFill/>
        </p:spPr>
        <p:txBody>
          <a:bodyPr wrap="square">
            <a:spAutoFit/>
          </a:bodyPr>
          <a:lstStyle/>
          <a:p>
            <a:pPr algn="l"/>
            <a:r>
              <a:rPr sz="1800" b="1" i="0">
                <a:solidFill>
                  <a:srgbClr val="FFFFFF"/>
                </a:solidFill>
              </a:rPr>
              <a:t>自社業務への試行</a:t>
            </a:r>
          </a:p>
        </p:txBody>
      </p:sp>
      <p:sp>
        <p:nvSpPr>
          <p:cNvPr id="4" name="TextBox 3"/>
          <p:cNvSpPr txBox="1"/>
          <p:nvPr/>
        </p:nvSpPr>
        <p:spPr>
          <a:xfrm>
            <a:off x="7132320" y="91440"/>
            <a:ext cx="1828800" cy="457200"/>
          </a:xfrm>
          <a:prstGeom prst="rect">
            <a:avLst/>
          </a:prstGeom>
          <a:noFill/>
        </p:spPr>
        <p:txBody>
          <a:bodyPr wrap="square">
            <a:spAutoFit/>
          </a:bodyPr>
          <a:lstStyle/>
          <a:p>
            <a:pPr algn="r"/>
            <a:r>
              <a:rPr sz="1200" b="0" i="0">
                <a:solidFill>
                  <a:srgbClr val="DA7756"/>
                </a:solidFill>
              </a:rPr>
              <a:t>[40分]</a:t>
            </a:r>
          </a:p>
        </p:txBody>
      </p:sp>
      <p:sp>
        <p:nvSpPr>
          <p:cNvPr id="5" name="TextBox 4"/>
          <p:cNvSpPr txBox="1"/>
          <p:nvPr/>
        </p:nvSpPr>
        <p:spPr>
          <a:xfrm>
            <a:off x="457200" y="804672"/>
            <a:ext cx="8229600" cy="502920"/>
          </a:xfrm>
          <a:prstGeom prst="rect">
            <a:avLst/>
          </a:prstGeom>
          <a:noFill/>
        </p:spPr>
        <p:txBody>
          <a:bodyPr wrap="square">
            <a:spAutoFit/>
          </a:bodyPr>
          <a:lstStyle/>
          <a:p>
            <a:pPr algn="l"/>
            <a:r>
              <a:rPr sz="1400" b="0" i="0">
                <a:solidFill>
                  <a:srgbClr val="EEEEEE"/>
                </a:solidFill>
              </a:rPr>
              <a:t>効率化したい作業を Claude Code に相談しながら自由に試してください</a:t>
            </a:r>
          </a:p>
        </p:txBody>
      </p:sp>
      <p:graphicFrame>
        <p:nvGraphicFramePr>
          <p:cNvPr id="6" name="Table 5"/>
          <p:cNvGraphicFramePr>
            <a:graphicFrameLocks noGrp="1"/>
          </p:cNvGraphicFramePr>
          <p:nvPr/>
        </p:nvGraphicFramePr>
        <p:xfrm>
          <a:off x="457200" y="1463040"/>
          <a:ext cx="8229600" cy="2560320"/>
        </p:xfrm>
        <a:graphic>
          <a:graphicData uri="http://schemas.openxmlformats.org/drawingml/2006/table">
            <a:tbl>
              <a:tblPr/>
              <a:tblGrid>
                <a:gridCol w="2468880"/>
                <a:gridCol w="5760720"/>
              </a:tblGrid>
              <a:tr h="512064">
                <a:tc>
                  <a:txBody>
                    <a:bodyPr wrap="square"/>
                    <a:lstStyle/>
                    <a:p>
                      <a:pPr algn="ctr"/>
                      <a:r>
                        <a:rPr b="1" sz="1200">
                          <a:solidFill>
                            <a:srgbClr val="FFFFFF"/>
                          </a:solidFill>
                        </a:rPr>
                        <a:t>困ったら</a:t>
                      </a:r>
                    </a:p>
                  </a:txBody>
                  <a:tcPr>
                    <a:solidFill>
                      <a:srgbClr val="1C1C1C"/>
                    </a:solidFill>
                  </a:tcPr>
                </a:tc>
                <a:tc>
                  <a:txBody>
                    <a:bodyPr wrap="square"/>
                    <a:lstStyle/>
                    <a:p>
                      <a:pPr algn="ctr"/>
                      <a:r>
                        <a:rPr b="1" sz="1200">
                          <a:solidFill>
                            <a:srgbClr val="FFFFFF"/>
                          </a:solidFill>
                        </a:rPr>
                        <a:t>対処法</a:t>
                      </a:r>
                    </a:p>
                  </a:txBody>
                  <a:tcPr>
                    <a:solidFill>
                      <a:srgbClr val="1C1C1C"/>
                    </a:solidFill>
                  </a:tcPr>
                </a:tc>
              </a:tr>
              <a:tr h="512064">
                <a:tc>
                  <a:txBody>
                    <a:bodyPr wrap="square"/>
                    <a:lstStyle/>
                    <a:p>
                      <a:pPr algn="l"/>
                      <a:r>
                        <a:rPr sz="1100">
                          <a:solidFill>
                            <a:srgbClr val="EEEEEE"/>
                          </a:solidFill>
                        </a:rPr>
                        <a:t>テーマが思いつかない</a:t>
                      </a:r>
                    </a:p>
                  </a:txBody>
                  <a:tcPr/>
                </a:tc>
                <a:tc>
                  <a:txBody>
                    <a:bodyPr wrap="square"/>
                    <a:lstStyle/>
                    <a:p>
                      <a:pPr algn="l"/>
                      <a:r>
                        <a:rPr sz="1100">
                          <a:solidFill>
                            <a:srgbClr val="EEEEEE"/>
                          </a:solidFill>
                        </a:rPr>
                        <a:t>セクション3のユースケースをさらに深める（自社のデータで試す）</a:t>
                      </a:r>
                    </a:p>
                  </a:txBody>
                  <a:tcPr/>
                </a:tc>
              </a:tr>
              <a:tr h="512064">
                <a:tc>
                  <a:txBody>
                    <a:bodyPr wrap="square"/>
                    <a:lstStyle/>
                    <a:p>
                      <a:pPr algn="l"/>
                      <a:r>
                        <a:rPr sz="1100">
                          <a:solidFill>
                            <a:srgbClr val="EEEEEE"/>
                          </a:solidFill>
                        </a:rPr>
                        <a:t>エラーが出た</a:t>
                      </a:r>
                    </a:p>
                  </a:txBody>
                  <a:tcPr>
                    <a:solidFill>
                      <a:srgbClr val="F8FAFC"/>
                    </a:solidFill>
                  </a:tcPr>
                </a:tc>
                <a:tc>
                  <a:txBody>
                    <a:bodyPr wrap="square"/>
                    <a:lstStyle/>
                    <a:p>
                      <a:pPr algn="l"/>
                      <a:r>
                        <a:rPr sz="1100">
                          <a:solidFill>
                            <a:srgbClr val="EEEEEE"/>
                          </a:solidFill>
                        </a:rPr>
                        <a:t>エラーメッセージを貼り付けて「これはどういう意味ですか？」</a:t>
                      </a:r>
                    </a:p>
                  </a:txBody>
                  <a:tcPr>
                    <a:solidFill>
                      <a:srgbClr val="F8FAFC"/>
                    </a:solidFill>
                  </a:tcPr>
                </a:tc>
              </a:tr>
              <a:tr h="512064">
                <a:tc>
                  <a:txBody>
                    <a:bodyPr wrap="square"/>
                    <a:lstStyle/>
                    <a:p>
                      <a:pPr algn="l"/>
                      <a:r>
                        <a:rPr sz="1100">
                          <a:solidFill>
                            <a:srgbClr val="EEEEEE"/>
                          </a:solidFill>
                        </a:rPr>
                        <a:t>完成しなくて大丈夫</a:t>
                      </a:r>
                    </a:p>
                  </a:txBody>
                  <a:tcPr/>
                </a:tc>
                <a:tc>
                  <a:txBody>
                    <a:bodyPr wrap="square"/>
                    <a:lstStyle/>
                    <a:p>
                      <a:pPr algn="l"/>
                      <a:r>
                        <a:rPr sz="1100">
                          <a:solidFill>
                            <a:srgbClr val="EEEEEE"/>
                          </a:solidFill>
                        </a:rPr>
                        <a:t>「設計まで到達できれば十分」— 完成が目標ではない</a:t>
                      </a:r>
                    </a:p>
                  </a:txBody>
                  <a:tcPr/>
                </a:tc>
              </a:tr>
              <a:tr h="512064">
                <a:tc>
                  <a:txBody>
                    <a:bodyPr wrap="square"/>
                    <a:lstStyle/>
                    <a:p>
                      <a:pPr algn="l"/>
                      <a:r>
                        <a:rPr sz="1100">
                          <a:solidFill>
                            <a:srgbClr val="EEEEEE"/>
                          </a:solidFill>
                        </a:rPr>
                        <a:t>どうしてもわからない</a:t>
                      </a:r>
                    </a:p>
                  </a:txBody>
                  <a:tcPr>
                    <a:solidFill>
                      <a:srgbClr val="F8FAFC"/>
                    </a:solidFill>
                  </a:tcPr>
                </a:tc>
                <a:tc>
                  <a:txBody>
                    <a:bodyPr wrap="square"/>
                    <a:lstStyle/>
                    <a:p>
                      <a:pPr algn="l"/>
                      <a:r>
                        <a:rPr sz="1100">
                          <a:solidFill>
                            <a:srgbClr val="EEEEEE"/>
                          </a:solidFill>
                        </a:rPr>
                        <a:t>ブラウザ版Claude（claude.ai）に状況を説明して解決策を聞く</a:t>
                      </a:r>
                    </a:p>
                  </a:txBody>
                  <a:tcPr>
                    <a:solidFill>
                      <a:srgbClr val="F8FAFC"/>
                    </a:solidFill>
                  </a:tcPr>
                </a:tc>
              </a:tr>
            </a:tbl>
          </a:graphicData>
        </a:graphic>
      </p:graphicFrame>
      <p:sp>
        <p:nvSpPr>
          <p:cNvPr id="7" name="Rectangle 6"/>
          <p:cNvSpPr/>
          <p:nvPr/>
        </p:nvSpPr>
        <p:spPr>
          <a:xfrm>
            <a:off x="457200" y="4206240"/>
            <a:ext cx="8229600" cy="594360"/>
          </a:xfrm>
          <a:prstGeom prst="rect">
            <a:avLst/>
          </a:prstGeom>
          <a:solidFill>
            <a:srgbClr val="ECFD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94360" y="4270248"/>
            <a:ext cx="7955280" cy="502920"/>
          </a:xfrm>
          <a:prstGeom prst="rect">
            <a:avLst/>
          </a:prstGeom>
          <a:noFill/>
        </p:spPr>
        <p:txBody>
          <a:bodyPr wrap="square">
            <a:spAutoFit/>
          </a:bodyPr>
          <a:lstStyle/>
          <a:p>
            <a:pPr algn="l"/>
            <a:r>
              <a:rPr sz="1300" b="0" i="0">
                <a:solidFill>
                  <a:srgbClr val="059669"/>
                </a:solidFill>
              </a:rPr>
              <a:t>時間いっぱいAIと対話してください。時間が来たら作業途中でOKです</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1C1C1C"/>
        </a:solidFill>
        <a:effectLst/>
      </p:bgPr>
    </p:bg>
    <p:spTree>
      <p:nvGrpSpPr>
        <p:cNvPr id="1" name=""/>
        <p:cNvGrpSpPr/>
        <p:nvPr/>
      </p:nvGrpSpPr>
      <p:grpSpPr/>
      <p:sp>
        <p:nvSpPr>
          <p:cNvPr id="9900" name="_BG_DARK_"/>
          <p:cNvSpPr/>
          <p:nvPr/>
        </p:nvSpPr>
        <p:spPr>
          <a:xfrm>
            <a:off x="0" y="0"/>
            <a:ext cx="9144000" cy="5143500"/>
          </a:xfrm>
          <a:prstGeom prst="rect">
            <a:avLst/>
          </a:prstGeom>
          <a:solidFill>
            <a:srgbClr val="1C1C1C"/>
          </a:solidFill>
          <a:ln>
            <a:noFill/>
          </a:ln>
        </p:spPr>
        <p:style>
          <a:lnRef idx="1">
            <a:srgbClr val="1C1C1C"/>
          </a:lnRef>
          <a:fillRef idx="1">
            <a:srgbClr val="1C1C1C"/>
          </a:fillRef>
          <a:effectRef idx="0">
            <a:srgbClr val="1C1C1C"/>
          </a:effectRef>
          <a:fontRef idx="minor">
            <a:srgbClr val="EEEEEE"/>
          </a:fontRef>
        </p:style>
        <p:txBody>
          <a:bodyPr/>
          <a:lstStyle/>
          <a:p/>
        </p:txBody>
      </p:sp>
      <p:sp>
        <p:nvSpPr>
          <p:cNvPr id="2" name="Rectangle 1"/>
          <p:cNvSpPr/>
          <p:nvPr/>
        </p:nvSpPr>
        <p:spPr>
          <a:xfrm>
            <a:off x="548640" y="822960"/>
            <a:ext cx="1097280" cy="1097280"/>
          </a:xfrm>
          <a:prstGeom prst="rect">
            <a:avLst/>
          </a:prstGeom>
          <a:solidFill>
            <a:srgbClr val="DA77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868680"/>
            <a:ext cx="1097280" cy="1005840"/>
          </a:xfrm>
          <a:prstGeom prst="rect">
            <a:avLst/>
          </a:prstGeom>
          <a:noFill/>
        </p:spPr>
        <p:txBody>
          <a:bodyPr wrap="square">
            <a:spAutoFit/>
          </a:bodyPr>
          <a:lstStyle/>
          <a:p>
            <a:pPr algn="ctr"/>
            <a:r>
              <a:rPr sz="3800" b="1" i="0">
                <a:solidFill>
                  <a:srgbClr val="FFFFFF"/>
                </a:solidFill>
              </a:rPr>
              <a:t>5</a:t>
            </a:r>
          </a:p>
        </p:txBody>
      </p:sp>
      <p:sp>
        <p:nvSpPr>
          <p:cNvPr id="4" name="TextBox 3"/>
          <p:cNvSpPr txBox="1"/>
          <p:nvPr/>
        </p:nvSpPr>
        <p:spPr>
          <a:xfrm>
            <a:off x="2011680" y="960120"/>
            <a:ext cx="6858000" cy="914400"/>
          </a:xfrm>
          <a:prstGeom prst="rect">
            <a:avLst/>
          </a:prstGeom>
          <a:noFill/>
        </p:spPr>
        <p:txBody>
          <a:bodyPr wrap="square">
            <a:spAutoFit/>
          </a:bodyPr>
          <a:lstStyle/>
          <a:p>
            <a:pPr algn="l"/>
            <a:r>
              <a:rPr sz="3000" b="1" i="0">
                <a:solidFill>
                  <a:srgbClr val="FFFFFF"/>
                </a:solidFill>
              </a:rPr>
              <a:t>まとめ・Q&amp;A</a:t>
            </a:r>
          </a:p>
        </p:txBody>
      </p:sp>
      <p:sp>
        <p:nvSpPr>
          <p:cNvPr id="5" name="TextBox 4"/>
          <p:cNvSpPr txBox="1"/>
          <p:nvPr/>
        </p:nvSpPr>
        <p:spPr>
          <a:xfrm>
            <a:off x="2011680" y="1920240"/>
            <a:ext cx="4572000" cy="457200"/>
          </a:xfrm>
          <a:prstGeom prst="rect">
            <a:avLst/>
          </a:prstGeom>
          <a:noFill/>
        </p:spPr>
        <p:txBody>
          <a:bodyPr wrap="square">
            <a:spAutoFit/>
          </a:bodyPr>
          <a:lstStyle/>
          <a:p>
            <a:pPr algn="l"/>
            <a:r>
              <a:rPr sz="1400" b="0" i="0">
                <a:solidFill>
                  <a:srgbClr val="DA7756"/>
                </a:solidFill>
              </a:rPr>
              <a:t>[6分]</a:t>
            </a:r>
          </a:p>
        </p:txBody>
      </p:sp>
      <p:sp>
        <p:nvSpPr>
          <p:cNvPr id="6" name="TextBox 5"/>
          <p:cNvSpPr txBox="1"/>
          <p:nvPr/>
        </p:nvSpPr>
        <p:spPr>
          <a:xfrm>
            <a:off x="2011680" y="2468880"/>
            <a:ext cx="6858000" cy="914400"/>
          </a:xfrm>
          <a:prstGeom prst="rect">
            <a:avLst/>
          </a:prstGeom>
          <a:noFill/>
        </p:spPr>
        <p:txBody>
          <a:bodyPr wrap="square">
            <a:spAutoFit/>
          </a:bodyPr>
          <a:lstStyle/>
          <a:p>
            <a:pPr algn="l"/>
            <a:r>
              <a:rPr sz="1500" b="0" i="0">
                <a:solidFill>
                  <a:srgbClr val="B8A99A"/>
                </a:solidFill>
              </a:rPr>
              <a:t>伴走サービス紹介 ＆ 質疑応答</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1C1C1C"/>
        </a:solidFill>
        <a:effectLst/>
      </p:bgPr>
    </p:bg>
    <p:spTree>
      <p:nvGrpSpPr>
        <p:cNvPr id="1" name=""/>
        <p:cNvGrpSpPr/>
        <p:nvPr/>
      </p:nvGrpSpPr>
      <p:grpSpPr/>
      <p:sp>
        <p:nvSpPr>
          <p:cNvPr id="9900" name="_BG_DARK_"/>
          <p:cNvSpPr/>
          <p:nvPr/>
        </p:nvSpPr>
        <p:spPr>
          <a:xfrm>
            <a:off x="0" y="0"/>
            <a:ext cx="9144000" cy="5143500"/>
          </a:xfrm>
          <a:prstGeom prst="rect">
            <a:avLst/>
          </a:prstGeom>
          <a:solidFill>
            <a:srgbClr val="1C1C1C"/>
          </a:solidFill>
          <a:ln>
            <a:noFill/>
          </a:ln>
        </p:spPr>
        <p:style>
          <a:lnRef idx="1">
            <a:srgbClr val="1C1C1C"/>
          </a:lnRef>
          <a:fillRef idx="1">
            <a:srgbClr val="1C1C1C"/>
          </a:fillRef>
          <a:effectRef idx="0">
            <a:srgbClr val="1C1C1C"/>
          </a:effectRef>
          <a:fontRef idx="minor">
            <a:srgbClr val="EEEEEE"/>
          </a:fontRef>
        </p:style>
        <p:txBody>
          <a:bodyPr/>
          <a:lstStyle/>
          <a:p/>
        </p:txBody>
      </p:sp>
      <p:sp>
        <p:nvSpPr>
          <p:cNvPr id="2" name="Rectangle 1"/>
          <p:cNvSpPr/>
          <p:nvPr/>
        </p:nvSpPr>
        <p:spPr>
          <a:xfrm>
            <a:off x="0" y="0"/>
            <a:ext cx="9144000" cy="594360"/>
          </a:xfrm>
          <a:prstGeom prst="rect">
            <a:avLst/>
          </a:prstGeom>
          <a:solidFill>
            <a:srgbClr val="25252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64008"/>
            <a:ext cx="7772400" cy="502920"/>
          </a:xfrm>
          <a:prstGeom prst="rect">
            <a:avLst/>
          </a:prstGeom>
          <a:noFill/>
        </p:spPr>
        <p:txBody>
          <a:bodyPr wrap="square">
            <a:spAutoFit/>
          </a:bodyPr>
          <a:lstStyle/>
          <a:p>
            <a:pPr algn="l"/>
            <a:r>
              <a:rPr sz="1800" b="1" i="0">
                <a:solidFill>
                  <a:srgbClr val="FFFFFF"/>
                </a:solidFill>
              </a:rPr>
              <a:t>まとめ — 本日の学び＆次のステップ</a:t>
            </a:r>
          </a:p>
        </p:txBody>
      </p:sp>
      <p:sp>
        <p:nvSpPr>
          <p:cNvPr id="4" name="TextBox 3"/>
          <p:cNvSpPr txBox="1"/>
          <p:nvPr/>
        </p:nvSpPr>
        <p:spPr>
          <a:xfrm>
            <a:off x="7132320" y="91440"/>
            <a:ext cx="1828800" cy="457200"/>
          </a:xfrm>
          <a:prstGeom prst="rect">
            <a:avLst/>
          </a:prstGeom>
          <a:noFill/>
        </p:spPr>
        <p:txBody>
          <a:bodyPr wrap="square">
            <a:spAutoFit/>
          </a:bodyPr>
          <a:lstStyle/>
          <a:p>
            <a:pPr algn="r"/>
            <a:r>
              <a:rPr sz="1200" b="0" i="0">
                <a:solidFill>
                  <a:srgbClr val="DA7756"/>
                </a:solidFill>
              </a:rPr>
              <a:t>[10分]</a:t>
            </a:r>
          </a:p>
        </p:txBody>
      </p:sp>
      <p:sp>
        <p:nvSpPr>
          <p:cNvPr id="5" name="TextBox 4"/>
          <p:cNvSpPr txBox="1"/>
          <p:nvPr/>
        </p:nvSpPr>
        <p:spPr>
          <a:xfrm>
            <a:off x="457200" y="777240"/>
            <a:ext cx="4572000" cy="2011680"/>
          </a:xfrm>
          <a:prstGeom prst="rect">
            <a:avLst/>
          </a:prstGeom>
          <a:noFill/>
        </p:spPr>
        <p:txBody>
          <a:bodyPr wrap="square">
            <a:spAutoFit/>
          </a:bodyPr>
          <a:lstStyle/>
          <a:p>
            <a:r>
              <a:rPr sz="1300">
                <a:solidFill>
                  <a:srgbClr val="EEEEEE"/>
                </a:solidFill>
              </a:rPr>
              <a:t>[OK] Claude Codeが「実際に手を動かす」AIだとわかった</a:t>
            </a:r>
          </a:p>
          <a:p>
            <a:r>
              <a:rPr sz="1300">
                <a:solidFill>
                  <a:srgbClr val="EEEEEE"/>
                </a:solidFill>
              </a:rPr>
              <a:t>[OK] フォルダ整理・CSV整形・文書生成を体験した</a:t>
            </a:r>
          </a:p>
          <a:p>
            <a:r>
              <a:rPr sz="1300">
                <a:solidFill>
                  <a:srgbClr val="EEEEEE"/>
                </a:solidFill>
              </a:rPr>
              <a:t>[OK] CLAUDE.mdで指示を記録・再利用できるとわかった</a:t>
            </a:r>
          </a:p>
          <a:p>
            <a:r>
              <a:rPr sz="1300">
                <a:solidFill>
                  <a:srgbClr val="EEEEEE"/>
                </a:solidFill>
              </a:rPr>
              <a:t>[OK] トラブル時の対処法を持ち帰れた</a:t>
            </a:r>
          </a:p>
        </p:txBody>
      </p:sp>
      <p:sp>
        <p:nvSpPr>
          <p:cNvPr id="6" name="Rectangle 5"/>
          <p:cNvSpPr/>
          <p:nvPr/>
        </p:nvSpPr>
        <p:spPr>
          <a:xfrm>
            <a:off x="4846320" y="777240"/>
            <a:ext cx="4114800" cy="2011680"/>
          </a:xfrm>
          <a:prstGeom prst="rect">
            <a:avLst/>
          </a:prstGeom>
          <a:solidFill>
            <a:srgbClr val="2F2F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0" y="868680"/>
            <a:ext cx="3749039" cy="411480"/>
          </a:xfrm>
          <a:prstGeom prst="rect">
            <a:avLst/>
          </a:prstGeom>
          <a:noFill/>
        </p:spPr>
        <p:txBody>
          <a:bodyPr wrap="square">
            <a:spAutoFit/>
          </a:bodyPr>
          <a:lstStyle/>
          <a:p>
            <a:pPr algn="l"/>
            <a:r>
              <a:rPr sz="1300" b="1" i="0">
                <a:solidFill>
                  <a:srgbClr val="1C1C1C"/>
                </a:solidFill>
              </a:rPr>
              <a:t>AI開発伴走サービス</a:t>
            </a:r>
          </a:p>
        </p:txBody>
      </p:sp>
      <p:sp>
        <p:nvSpPr>
          <p:cNvPr id="8" name="TextBox 7"/>
          <p:cNvSpPr txBox="1"/>
          <p:nvPr/>
        </p:nvSpPr>
        <p:spPr>
          <a:xfrm>
            <a:off x="5029200" y="1325880"/>
            <a:ext cx="3749039" cy="1371600"/>
          </a:xfrm>
          <a:prstGeom prst="rect">
            <a:avLst/>
          </a:prstGeom>
          <a:noFill/>
        </p:spPr>
        <p:txBody>
          <a:bodyPr wrap="square">
            <a:spAutoFit/>
          </a:bodyPr>
          <a:lstStyle/>
          <a:p>
            <a:r>
              <a:rPr sz="1200">
                <a:solidFill>
                  <a:srgbClr val="EEEEEE"/>
                </a:solidFill>
              </a:rPr>
              <a:t>「もっと深めたい」「自社業務に組み込みたい」</a:t>
            </a:r>
          </a:p>
          <a:p>
            <a:r>
              <a:rPr sz="1200">
                <a:solidFill>
                  <a:srgbClr val="EEEEEE"/>
                </a:solidFill>
              </a:rPr>
              <a:t>ざつね屋と共同開発 → MTGで知見を統合</a:t>
            </a:r>
          </a:p>
          <a:p>
            <a:r>
              <a:rPr sz="1200">
                <a:solidFill>
                  <a:srgbClr val="EEEEEE"/>
                </a:solidFill>
              </a:rPr>
              <a:t>月1回プラン：60,000円/月</a:t>
            </a:r>
          </a:p>
          <a:p>
            <a:r>
              <a:rPr sz="1200">
                <a:solidFill>
                  <a:srgbClr val="EEEEEE"/>
                </a:solidFill>
              </a:rPr>
              <a:t>月2回プラン：100,000円/月</a:t>
            </a:r>
          </a:p>
        </p:txBody>
      </p:sp>
      <p:sp>
        <p:nvSpPr>
          <p:cNvPr id="9" name="TextBox 8"/>
          <p:cNvSpPr txBox="1"/>
          <p:nvPr/>
        </p:nvSpPr>
        <p:spPr>
          <a:xfrm>
            <a:off x="457200" y="2926080"/>
            <a:ext cx="8229600" cy="457200"/>
          </a:xfrm>
          <a:prstGeom prst="rect">
            <a:avLst/>
          </a:prstGeom>
          <a:noFill/>
        </p:spPr>
        <p:txBody>
          <a:bodyPr wrap="square">
            <a:spAutoFit/>
          </a:bodyPr>
          <a:lstStyle/>
          <a:p>
            <a:pPr algn="l"/>
            <a:r>
              <a:rPr sz="1400" b="1" i="0">
                <a:solidFill>
                  <a:srgbClr val="EEEEEE"/>
                </a:solidFill>
              </a:rPr>
              <a:t>Q&amp;A — 質問・相談はなんでもどうぞ</a:t>
            </a:r>
          </a:p>
        </p:txBody>
      </p:sp>
      <p:sp>
        <p:nvSpPr>
          <p:cNvPr id="10" name="TextBox 9"/>
          <p:cNvSpPr txBox="1"/>
          <p:nvPr/>
        </p:nvSpPr>
        <p:spPr>
          <a:xfrm>
            <a:off x="457200" y="3520440"/>
            <a:ext cx="8229600" cy="548640"/>
          </a:xfrm>
          <a:prstGeom prst="rect">
            <a:avLst/>
          </a:prstGeom>
          <a:noFill/>
        </p:spPr>
        <p:txBody>
          <a:bodyPr wrap="square">
            <a:spAutoFit/>
          </a:bodyPr>
          <a:lstStyle/>
          <a:p>
            <a:pPr algn="ctr"/>
            <a:r>
              <a:rPr sz="1500" b="1" i="0">
                <a:solidFill>
                  <a:srgbClr val="059669"/>
                </a:solidFill>
              </a:rPr>
              <a:t>「わからないことはAIに聞いてみてください」</a:t>
            </a:r>
          </a:p>
        </p:txBody>
      </p:sp>
      <p:sp>
        <p:nvSpPr>
          <p:cNvPr id="11" name="TextBox 10"/>
          <p:cNvSpPr txBox="1"/>
          <p:nvPr/>
        </p:nvSpPr>
        <p:spPr>
          <a:xfrm>
            <a:off x="457200" y="4160520"/>
            <a:ext cx="8229600" cy="457200"/>
          </a:xfrm>
          <a:prstGeom prst="rect">
            <a:avLst/>
          </a:prstGeom>
          <a:noFill/>
        </p:spPr>
        <p:txBody>
          <a:bodyPr wrap="square">
            <a:spAutoFit/>
          </a:bodyPr>
          <a:lstStyle/>
          <a:p>
            <a:pPr algn="ctr"/>
            <a:r>
              <a:rPr sz="1400" b="0" i="0">
                <a:solidFill>
                  <a:srgbClr val="64748B"/>
                </a:solidFill>
              </a:rPr>
              <a:t>本日はありがとうございました</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252525"/>
      </a:dk2>
      <a:lt2>
        <a:srgbClr val="EEECE1"/>
      </a:lt2>
      <a:accent1>
        <a:srgbClr val="DA7756"/>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