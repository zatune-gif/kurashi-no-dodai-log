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bg>
    <p:bgPr>
      <a:solidFill>
        <a:srgbClr val="1C1C1C"/>
      </a:solidFill>
      <a:effectLst/>
    </p:bgPr>
  </p:bg>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bg>
    <p:bgPr>
      <a:solidFill>
        <a:srgbClr val="1C1C1C"/>
      </a:solidFill>
      <a:effectLst/>
    </p:bgPr>
  </p:bg>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bg>
    <p:bgPr>
      <a:solidFill>
        <a:srgbClr val="1C1C1C"/>
      </a:solidFill>
      <a:effectLst/>
    </p:bgPr>
  </p:bg>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bg>
    <p:bgPr>
      <a:solidFill>
        <a:srgbClr val="1C1C1C"/>
      </a:solidFill>
      <a:effectLst/>
    </p:bgPr>
  </p:bg>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bg>
    <p:bgPr>
      <a:solidFill>
        <a:srgbClr val="1C1C1C"/>
      </a:solidFill>
      <a:effectLst/>
    </p:bgPr>
  </p:bg>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bg>
    <p:bgPr>
      <a:solidFill>
        <a:srgbClr val="1C1C1C"/>
      </a:solidFill>
      <a:effectLst/>
    </p:bgPr>
  </p:bg>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bg>
    <p:bgPr>
      <a:solidFill>
        <a:srgbClr val="1C1C1C"/>
      </a:solidFill>
      <a:effectLst/>
    </p:bgPr>
  </p:bg>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bg>
    <p:bgPr>
      <a:solidFill>
        <a:srgbClr val="1C1C1C"/>
      </a:solidFill>
      <a:effectLst/>
    </p:bgPr>
  </p:bg>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bg>
    <p:bgPr>
      <a:solidFill>
        <a:srgbClr val="1C1C1C"/>
      </a:solidFill>
      <a:effectLst/>
    </p:bgPr>
  </p:bg>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bg>
    <p:bgPr>
      <a:solidFill>
        <a:srgbClr val="1C1C1C"/>
      </a:solidFill>
      <a:effectLst/>
    </p:bgPr>
  </p:bg>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bg>
    <p:bgPr>
      <a:solidFill>
        <a:srgbClr val="1C1C1C"/>
      </a:solidFill>
      <a:effectLst/>
    </p:bgPr>
  </p:bg>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セットアップ確認</a:t>
                      </a:r>
                    </a:p>
                  </a:txBody>
                  <a:tcPr>
                    <a:solidFill>
                      <a:srgbClr val="F8FAFC"/>
                    </a:solidFill>
                  </a:tcPr>
                </a:tc>
                <a:tc>
                  <a:txBody>
                    <a:bodyPr wrap="square"/>
                    <a:lstStyle/>
                    <a:p>
                      <a:pPr algn="l"/>
                      <a:r>
                        <a:rPr sz="1100">
                          <a:solidFill>
                            <a:srgbClr val="EEEEEE"/>
                          </a:solidFill>
                        </a:rPr>
                        <a:t>デスクトップ版起動・サインイン・動作確認</a:t>
                      </a:r>
                    </a:p>
                  </a:txBody>
                  <a:tcPr>
                    <a:solidFill>
                      <a:srgbClr val="F8FAFC"/>
                    </a:solidFill>
                  </a:tcPr>
                </a:tc>
                <a:tc>
                  <a:txBody>
                    <a:bodyPr wrap="square"/>
                    <a:lstStyle/>
                    <a:p>
                      <a:pPr algn="l"/>
                      <a:r>
                        <a:rPr sz="1100">
                          <a:solidFill>
                            <a:srgbClr val="EEEEEE"/>
                          </a:solidFill>
                        </a:rPr>
                        <a:t>30分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ユースケース</a:t>
                      </a:r>
                    </a:p>
                  </a:txBody>
                  <a:tcPr/>
                </a:tc>
                <a:tc>
                  <a:txBody>
                    <a:bodyPr wrap="square"/>
                    <a:lstStyle/>
                    <a:p>
                      <a:pPr algn="l"/>
                      <a:r>
                        <a:rPr sz="1100">
                          <a:solidFill>
                            <a:srgbClr val="EEEEEE"/>
                          </a:solidFill>
                        </a:rPr>
                        <a:t>フォルダ整理・CSV整形・定型文書生成（各3分）</a:t>
                      </a:r>
                    </a:p>
                  </a:txBody>
                  <a:tcPr/>
                </a:tc>
                <a:tc>
                  <a:txBody>
                    <a:bodyPr wrap="square"/>
                    <a:lstStyle/>
                    <a:p>
                      <a:pPr algn="l"/>
                      <a:r>
                        <a:rPr sz="1100">
                          <a:solidFill>
                            <a:srgbClr val="EEEEEE"/>
                          </a:solidFill>
                        </a:rPr>
                        <a:t>10分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応用ワーク</a:t>
                      </a:r>
                    </a:p>
                  </a:txBody>
                  <a:tcPr/>
                </a:tc>
                <a:tc>
                  <a:txBody>
                    <a:bodyPr wrap="square"/>
                    <a:lstStyle/>
                    <a:p>
                      <a:pPr algn="l"/>
                      <a:r>
                        <a:rPr sz="1100">
                          <a:solidFill>
                            <a:srgbClr val="EEEEEE"/>
                          </a:solidFill>
                        </a:rPr>
                        <a:t>CLAUDE.md作成・テンプレート化・自社業務試行</a:t>
                      </a:r>
                    </a:p>
                  </a:txBody>
                  <a:tcPr/>
                </a:tc>
                <a:tc>
                  <a:txBody>
                    <a:bodyPr wrap="square"/>
                    <a:lstStyle/>
                    <a:p>
                      <a:pPr algn="l"/>
                      <a:r>
                        <a:rPr sz="1100">
                          <a:solidFill>
                            <a:srgbClr val="EEEEEE"/>
                          </a:solidFill>
                        </a:rPr>
                        <a:t>40分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ファイル整理・CSV整形・文書生成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CSV・データ整形</a:t>
                      </a:r>
                    </a:p>
                  </a:txBody>
                  <a:tcPr/>
                </a:tc>
                <a:tc>
                  <a:txBody>
                    <a:bodyPr wrap="square"/>
                    <a:lstStyle/>
                    <a:p>
                      <a:pPr algn="l"/>
                      <a:r>
                        <a:rPr sz="1100">
                          <a:solidFill>
                            <a:srgbClr val="EEEEEE"/>
                          </a:solidFill>
                        </a:rPr>
                        <a:t>「顧客リストから氏名・メールを抜き出して50音順に並べ直して」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a:tblGrid>
                <a:gridCol w="1755648"/>
                <a:gridCol w="2633472"/>
              </a:tblGrid>
              <a:tr h="693420">
                <a:tc>
                  <a:txBody>
                    <a:bodyPr wrap="square"/>
                    <a:lstStyle/>
                    <a:p>
                      <a:pPr algn="ctr"/>
                      <a:r>
                        <a:rPr b="1" sz="1200">
                          <a:solidFill>
                            <a:srgbClr val="FFFFFF"/>
                          </a:solidFill>
                        </a:rPr>
                        <a:t>トラブル</a:t>
                      </a:r>
                    </a:p>
                  </a:txBody>
                  <a:tcPr>
                    <a:solidFill>
                      <a:srgbClr val="1C1C1C"/>
                    </a:solidFill>
                  </a:tcPr>
                </a:tc>
                <a:tc>
                  <a:txBody>
                    <a:bodyPr wrap="square"/>
                    <a:lstStyle/>
                    <a:p>
                      <a:pPr algn="ctr"/>
                      <a:r>
                        <a:rPr b="1" sz="1200">
                          <a:solidFill>
                            <a:srgbClr val="FFFFFF"/>
                          </a:solidFill>
                        </a:rPr>
                        <a:t>対処</a:t>
                      </a:r>
                    </a:p>
                  </a:txBody>
                  <a:tcPr>
                    <a:solidFill>
                      <a:srgbClr val="1C1C1C"/>
                    </a:solidFill>
                  </a:tcPr>
                </a:tc>
              </a:tr>
              <a:tr h="693420">
                <a:tc>
                  <a:txBody>
                    <a:bodyPr wrap="square"/>
                    <a:lstStyle/>
                    <a:p>
                      <a:pPr algn="l"/>
                      <a:r>
                        <a:rPr sz="1100">
                          <a:solidFill>
                            <a:srgbClr val="EEEEEE"/>
                          </a:solidFill>
                        </a:rPr>
                        <a:t>返答が途中で止まった</a:t>
                      </a:r>
                    </a:p>
                  </a:txBody>
                  <a:tcPr/>
                </a:tc>
                <a:tc>
                  <a:txBody>
                    <a:bodyPr wrap="square"/>
                    <a:lstStyle/>
                    <a:p>
                      <a:pPr algn="l"/>
                      <a:r>
                        <a:rPr sz="1100">
                          <a:solidFill>
                            <a:srgbClr val="EEEEEE"/>
                          </a:solidFill>
                        </a:rPr>
                        <a:t>「続けてください」と入力</a:t>
                      </a:r>
                    </a:p>
                  </a:txBody>
                  <a:tcPr/>
                </a:tc>
              </a:tr>
              <a:tr h="693420">
                <a:tc>
                  <a:txBody>
                    <a:bodyPr wrap="square"/>
                    <a:lstStyle/>
                    <a:p>
                      <a:pPr algn="l"/>
                      <a:r>
                        <a:rPr sz="1100">
                          <a:solidFill>
                            <a:srgbClr val="EEEEEE"/>
                          </a:solidFill>
                        </a:rPr>
                        <a:t>意図と違う処理をした</a:t>
                      </a:r>
                    </a:p>
                  </a:txBody>
                  <a:tcPr>
                    <a:solidFill>
                      <a:srgbClr val="F8FAFC"/>
                    </a:solidFill>
                  </a:tcPr>
                </a:tc>
                <a:tc>
                  <a:txBody>
                    <a:bodyPr wrap="square"/>
                    <a:lstStyle/>
                    <a:p>
                      <a:pPr algn="l"/>
                      <a:r>
                        <a:rPr sz="1100">
                          <a:solidFill>
                            <a:srgbClr val="EEEEEE"/>
                          </a:solidFill>
                        </a:rPr>
                        <a:t>「待って」と入力 → 意図を正確に伝え直す</a:t>
                      </a:r>
                    </a:p>
                  </a:txBody>
                  <a:tcPr>
                    <a:solidFill>
                      <a:srgbClr val="F8FAFC"/>
                    </a:solidFill>
                  </a:tcPr>
                </a:tc>
              </a:tr>
              <a:tr h="693420">
                <a:tc>
                  <a:txBody>
                    <a:bodyPr wrap="square"/>
                    <a:lstStyle/>
                    <a:p>
                      <a:pPr algn="l"/>
                      <a:r>
                        <a:rPr sz="1100">
                          <a:solidFill>
                            <a:srgbClr val="EEEEEE"/>
                          </a:solidFill>
                        </a:rPr>
                        <a:t>エラーメッセージが出た</a:t>
                      </a:r>
                    </a:p>
                  </a:txBody>
                  <a:tcPr/>
                </a:tc>
                <a:tc>
                  <a:txBody>
                    <a:bodyPr wrap="square"/>
                    <a:lstStyle/>
                    <a:p>
                      <a:pPr algn="l"/>
                      <a:r>
                        <a:rPr sz="1100">
                          <a:solidFill>
                            <a:srgbClr val="EEEEEE"/>
                          </a:solidFill>
                        </a:rPr>
                        <a:t>メッセージをそのまま貼り付けて「これはどういう意味ですか？」と聞く</a:t>
                      </a:r>
                    </a:p>
                  </a:txBody>
                  <a:tcPr/>
                </a:tc>
              </a:tr>
              <a:tr h="693420">
                <a:tc>
                  <a:txBody>
                    <a:bodyPr wrap="square"/>
                    <a:lstStyle/>
                    <a:p>
                      <a:pPr algn="l"/>
                      <a:r>
                        <a:rPr sz="1100">
                          <a:solidFill>
                            <a:srgbClr val="EEEEEE"/>
                          </a:solidFill>
                        </a:rPr>
                        <a:t>コンテキストが長くなった</a:t>
                      </a:r>
                    </a:p>
                  </a:txBody>
                  <a:tcPr>
                    <a:solidFill>
                      <a:srgbClr val="F8FAFC"/>
                    </a:solidFill>
                  </a:tcPr>
                </a:tc>
                <a:tc>
                  <a:txBody>
                    <a:bodyPr wrap="square"/>
                    <a:lstStyle/>
                    <a:p>
                      <a:pPr algn="l"/>
                      <a:r>
                        <a:rPr sz="1100">
                          <a:solidFill>
                            <a:srgbClr val="EEEEEE"/>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EEEEEE"/>
                          </a:solidFill>
                        </a:rPr>
                        <a:t>応答しない・フリーズ</a:t>
                      </a:r>
                    </a:p>
                  </a:txBody>
                  <a:tcPr/>
                </a:tc>
                <a:tc>
                  <a:txBody>
                    <a:bodyPr wrap="square"/>
                    <a:lstStyle/>
                    <a:p>
                      <a:pPr algn="l"/>
                      <a:r>
                        <a:rPr sz="1100">
                          <a:solidFill>
                            <a:srgbClr val="EEEEEE"/>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セクション3のユースケースをさらに深める（自社のデータで試す）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フォルダ整理・CSV整形・文書生成を体験した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2525"/>
      </a:dk2>
      <a:lt2>
        <a:srgbClr val="EEECE1"/>
      </a:lt2>
      <a:accent1>
        <a:srgbClr val="DA7756"/>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