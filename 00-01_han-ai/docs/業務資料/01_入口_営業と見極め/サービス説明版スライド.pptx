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3つは優劣ではなく変える範囲が違うだけ。今どの段階かで着手点が決まる、という話をする。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94560"/>
            <a:ext cx="2377440" cy="508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業務改善・BPR・DX</a:t>
            </a:r>
          </a:p>
          <a:p>
            <a:r>
              <a:rPr sz="20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── 御社は、どこから手をつけると成果が出やすいか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│　地域企業の業務変革のご相談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この資料の立場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45775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「業務改善・BPR・DX、どれをやるべきか」に、順位では答えません。3つは変える範囲が違うだけです。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F6F5E"/>
                </a:solidFill>
                <a:latin typeface="Yu Gothic"/>
                <a:ea typeface="Yu Gothic"/>
                <a:cs typeface="Yu Gothic"/>
              </a:rPr>
              <a:t>お答えするのは1点 ── 御社の今の状態なら、どこから手をつけると一番早く成果が出るか。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デジタルもAIも、そのための手段です。目的が先、手段は後。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64008" cy="8686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4937760"/>
            <a:ext cx="10481767" cy="868680"/>
          </a:xfrm>
          <a:prstGeom prst="rect">
            <a:avLst/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25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ざつね屋の立場：成果を売る。デジタルとAIは、そのための手段にすぎない。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3つのアプローチ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43032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3291840"/>
                <a:gridCol w="5056632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アプローチ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変える範囲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ひとことで言うと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業務改善設計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個人・部門内の作業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今のやり方を前提に、ムダな作業を減らす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BPR設計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部門をまたぐ業務プロセス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流れをゼロから作り直す（まず徹底的に見直す）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DX設計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事業・組織・企業文化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データとデジタルで、事業そのものを変える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48640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5486400"/>
            <a:ext cx="10481767" cy="822960"/>
          </a:xfrm>
          <a:prstGeom prst="rect">
            <a:avLst/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25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外側は内側を含む：DXを進めれば必ずプロセスの作り直し（BPR）が起き、その中で作業の効率化（業務改善）が起きる。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3つの関係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704" y="1417320"/>
            <a:ext cx="7315200" cy="4023360"/>
          </a:xfrm>
          <a:prstGeom prst="roundRect">
            <a:avLst/>
          </a:prstGeom>
          <a:noFill/>
          <a:ln w="317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>
                <a:solidFill>
                  <a:srgbClr val="2F6F5E"/>
                </a:solidFill>
                <a:latin typeface="Yu Gothic"/>
                <a:ea typeface="Yu Gothic"/>
                <a:cs typeface="Yu Gothic"/>
              </a:rPr>
              <a:t>DX設計</a:t>
            </a:r>
          </a:p>
          <a:p>
            <a:pPr algn="ctr"/>
            <a:r>
              <a:rPr sz="9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経営インパクト大・着手しやすさ小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3104" y="2103120"/>
            <a:ext cx="5486400" cy="2697480"/>
          </a:xfrm>
          <a:prstGeom prst="roundRect">
            <a:avLst/>
          </a:prstGeom>
          <a:solidFill>
            <a:srgbClr val="F4F7F6"/>
          </a:solidFill>
          <a:ln w="22225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>
                <a:solidFill>
                  <a:srgbClr val="2F6F5E"/>
                </a:solidFill>
                <a:latin typeface="Yu Gothic"/>
                <a:ea typeface="Yu Gothic"/>
                <a:cs typeface="Yu Gothic"/>
              </a:rPr>
              <a:t>BPR設計</a:t>
            </a:r>
          </a:p>
          <a:p>
            <a:pPr algn="ctr"/>
            <a:r>
              <a:rPr sz="9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インパクト中・着手しやすさ中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7504" y="2743200"/>
            <a:ext cx="3657600" cy="1463040"/>
          </a:xfrm>
          <a:prstGeom prst="roundRect">
            <a:avLst/>
          </a:prstGeom>
          <a:solidFill>
            <a:srgbClr val="E4EFEA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6F5E"/>
                </a:solidFill>
                <a:latin typeface="Yu Gothic"/>
                <a:ea typeface="Yu Gothic"/>
                <a:cs typeface="Yu Gothic"/>
              </a:rPr>
              <a:t>業務改善設計</a:t>
            </a:r>
          </a:p>
          <a:p>
            <a:pPr algn="ctr"/>
            <a:r>
              <a:rPr sz="9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インパクト小・着手しやすさ大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4577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内側から外側へ育てられる：業務改善で足場をつくり → BPRで作り直し → DXで事業に効かせる。中小企業ではこの順が現実的。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早見表：主な問い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43032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5669280"/>
                <a:gridCol w="2770632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アプローチ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主な問い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経営との距離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業務改善設計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この作業は、もっと楽にできないか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遠い（現場の判断で始められる）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BPR設計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この流れ自体、そもそも必要か。作り直すとどうなるか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中間（部門長・経営者の判断が要る）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DX設計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この事業は、これからも同じやり方で続けられるのか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近い（経営者の意思決定そのもの）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486400"/>
            <a:ext cx="64008" cy="7772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5486400"/>
            <a:ext cx="10481767" cy="777240"/>
          </a:xfrm>
          <a:prstGeom prst="rect">
            <a:avLst/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25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ご相談の内容が、どの「主な問い」に近いか ── そこで入口の見当がつきます。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① 業務改善設計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今の業務のやり方を前提に、その一部を効率化します。対象は「作業」。成果は「時間が減る／ミスが減る／担当者が楽になる」。着手しやすく、失敗時の損失も小さい。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進め方：対象業務を1つ選ぶ → 作業を洗い出す → 現状を数字で見る → ECRS（なくす・まとめる・入れ替える・簡単にする）で改善案 → 小さく試す → 手順書にして定着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6F5E"/>
                </a:solidFill>
                <a:latin typeface="Yu Gothic"/>
                <a:ea typeface="Yu Gothic"/>
                <a:cs typeface="Yu Gothic"/>
              </a:rPr>
              <a:t>向いているのは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・業務の全体像をまだ誰も書き出していない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・特定の担当者に負担が偏っている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・大きな投資判断の前に、小さな成功例が必要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② BPR設計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業務プロセスそのものを抜本的に見直し、ゼロベースで作り直します。対象は「作業」ではなく「流れ」。今のやり方を前提にしません。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進め方：業務分析（現状把握 → 問題の特定 → 課題設定）→ 施策検討（A/B/C案を比較 → 実施計画）→ 施策実施（KPIを決めて実行 → 効果検証）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6F5E"/>
                </a:solidFill>
                <a:latin typeface="Yu Gothic"/>
                <a:ea typeface="Yu Gothic"/>
                <a:cs typeface="Yu Gothic"/>
              </a:rPr>
              <a:t>向いているのは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・流れ自体に無理がある（同じ入力の繰り返し、承認が何段も）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・部門をまたぐと途端に止まる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・システムを入れたのに紙の作業も残っている（二重作業）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③ DX設計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データとデジタル技術で、事業・組織・企業文化そのものを変革し、経営としての成果を生みます。その中で必要なプロセスの作り直し（BPR）も行います。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進め方：経営ビジョンを決める → 現状とデータ資産の棚卸し → 変革テーマを絞る → 小さく試す（PoC）→ 仕組み化・スケール → 組織・文化の定着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6F5E"/>
                </a:solidFill>
                <a:latin typeface="Yu Gothic"/>
                <a:ea typeface="Yu Gothic"/>
                <a:cs typeface="Yu Gothic"/>
              </a:rPr>
              <a:t>向いているのは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・今のやり方のままでは続かない、という危機感が経営者にある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・データが蓄積されているが活かせていない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・事業モデル・組織・評価の仕方まで変える覚悟がある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どこから着手するか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554480"/>
            <a:ext cx="42976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経営層の関与・予算/体制はあるか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19088" y="1920240"/>
            <a:ext cx="969264" cy="0"/>
          </a:xfrm>
          <a:prstGeom prst="line">
            <a:avLst/>
          </a:prstGeom>
          <a:ln w="15240">
            <a:solidFill>
              <a:srgbClr val="2F6F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06640" y="1554480"/>
            <a:ext cx="3931920" cy="731520"/>
          </a:xfrm>
          <a:prstGeom prst="roundRect">
            <a:avLst/>
          </a:prstGeom>
          <a:solidFill>
            <a:srgbClr val="E4EFEA"/>
          </a:solidFill>
          <a:ln w="1524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① 業務改善設計（小さな成功体験を作る）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276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弱い・未整備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514600"/>
            <a:ext cx="42976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業務の全体像を書き出せているか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2286000"/>
            <a:ext cx="0" cy="228600"/>
          </a:xfrm>
          <a:prstGeom prst="line">
            <a:avLst/>
          </a:prstGeom>
          <a:ln w="15240">
            <a:solidFill>
              <a:srgbClr val="2F6F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19088" y="2880360"/>
            <a:ext cx="969264" cy="0"/>
          </a:xfrm>
          <a:prstGeom prst="line">
            <a:avLst/>
          </a:prstGeom>
          <a:ln w="15240">
            <a:solidFill>
              <a:srgbClr val="2F6F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06640" y="2514600"/>
            <a:ext cx="3931920" cy="731520"/>
          </a:xfrm>
          <a:prstGeom prst="roundRect">
            <a:avLst/>
          </a:prstGeom>
          <a:solidFill>
            <a:srgbClr val="E4EFEA"/>
          </a:solidFill>
          <a:ln w="1524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① 業務改善設計（洗い出しから）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877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できていない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474720"/>
            <a:ext cx="42976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流れ自体に無理／部門をまたぐと止まるか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51960" y="3246120"/>
            <a:ext cx="0" cy="228600"/>
          </a:xfrm>
          <a:prstGeom prst="line">
            <a:avLst/>
          </a:prstGeom>
          <a:ln w="15240">
            <a:solidFill>
              <a:srgbClr val="2F6F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19088" y="3840480"/>
            <a:ext cx="969264" cy="0"/>
          </a:xfrm>
          <a:prstGeom prst="line">
            <a:avLst/>
          </a:prstGeom>
          <a:ln w="15240">
            <a:solidFill>
              <a:srgbClr val="2F6F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3474720"/>
            <a:ext cx="3931920" cy="731520"/>
          </a:xfrm>
          <a:prstGeom prst="roundRect">
            <a:avLst/>
          </a:prstGeom>
          <a:solidFill>
            <a:srgbClr val="E4EFEA"/>
          </a:solidFill>
          <a:ln w="1524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② BPR設計（プロセスを作り直す）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47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4526280"/>
            <a:ext cx="42976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データ活用・事業モデルの変革まで踏み込むか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51960" y="4206240"/>
            <a:ext cx="0" cy="320040"/>
          </a:xfrm>
          <a:prstGeom prst="line">
            <a:avLst/>
          </a:prstGeom>
          <a:ln w="15240">
            <a:solidFill>
              <a:srgbClr val="2F6F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19088" y="4892040"/>
            <a:ext cx="969264" cy="0"/>
          </a:xfrm>
          <a:prstGeom prst="line">
            <a:avLst/>
          </a:prstGeom>
          <a:ln w="15240">
            <a:solidFill>
              <a:srgbClr val="2F6F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06640" y="4526280"/>
            <a:ext cx="3931920" cy="731520"/>
          </a:xfrm>
          <a:prstGeom prst="roundRect">
            <a:avLst/>
          </a:prstGeom>
          <a:solidFill>
            <a:srgbClr val="E4EFEA"/>
          </a:solidFill>
          <a:ln w="1524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③ DX設計（中でBPRを実施）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994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ご相談内容からの逆引き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43032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6560"/>
                <a:gridCol w="3776472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こういう状態なら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着手するアプローチ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業務の全体像を誰も書き出していない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① 業務改善設計（洗い出しから）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同じ入力の繰り返し／承認が何段も／部門をまたぐと止まる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② BPR設計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システムを入れたが紙の作業も残っている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② BPR設計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データを活かしたい／事業モデル・組織・文化まで変えたい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③ DX設計（中でBPR）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経営層の関与が弱い／予算・体制が未整備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① 業務改善設計（土台づくり）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ざつね屋の進め方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45775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1. 入口 ── 初回ヒアリングと簡易診断で、どのアプローチから入るかを見極める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2. アプローチ別に伴走 ── 業務改善／BPR／DX それぞれの手順と道具（記入シート）で進める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3. 成果を数字にする ── どのアプローチでも、着手前の数値を測り、KPIで効果を確認する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4. 自走へ ── 手順書・チェックリスト・進め方ガイドで、御社だけで回せる状態にする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64008" cy="7772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4754880"/>
            <a:ext cx="10481767" cy="777240"/>
          </a:xfrm>
          <a:prstGeom prst="rect">
            <a:avLst/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25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「まず1つの業務／1つの段階」から始められる、段階契約に対応しています。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体制と関わり方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4303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5040"/>
                <a:gridCol w="450799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</a:t>
                      </a:r>
                    </a:p>
                  </a:txBody>
                  <a:tcPr anchor="ctr" marL="82296" marR="82296" marT="36576" marB="36576">
                    <a:solidFill>
                      <a:srgbClr val="E4EFEA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進行・設計・分析・現場伴走・研修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ざつね屋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業務の説明・作業記録の協力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御社の現場担当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改善案・施策の意思決定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Yu Gothic"/>
                          <a:ea typeface="Yu Gothic"/>
                          <a:cs typeface="Yu Gothic"/>
                        </a:rPr>
                        <a:t>御社の責任者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  <a:lnL w="9525" cap="flat" cmpd="sng" algn="ctr">
                      <a:solidFill>
                        <a:srgbClr val="C9D2CE"/>
                      </a:solidFill>
                    </a:lnL>
                    <a:lnR w="9525" cap="flat" cmpd="sng" algn="ctr">
                      <a:solidFill>
                        <a:srgbClr val="C9D2CE"/>
                      </a:solidFill>
                    </a:lnR>
                    <a:lnT w="9525" cap="flat" cmpd="sng" algn="ctr">
                      <a:solidFill>
                        <a:srgbClr val="C9D2CE"/>
                      </a:solidFill>
                    </a:lnT>
                    <a:lnB w="9525" cap="flat" cmpd="sng" algn="ctr">
                      <a:solidFill>
                        <a:srgbClr val="C9D2C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206240"/>
            <a:ext cx="1054577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含まないもの：外部システムの構築・保守、データ入力の代行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段階の区切りごとに結果を見て、次に進むかを判断できます。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37744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6437376"/>
            <a:ext cx="25877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ざつね屋　｜　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45775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3つは排他的なものではありません。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F6F5E"/>
                </a:solidFill>
                <a:latin typeface="Yu Gothic"/>
                <a:ea typeface="Yu Gothic"/>
                <a:cs typeface="Yu Gothic"/>
              </a:rPr>
              <a:t>業務改善で足場を作り → BPRで作り直し → DXで事業に効かせる。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今どの段階にいるかを見誤らないことが、遠回りを避ける一番の近道です。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まずは初回ヒアリングから。御社の業務を一緒に見立てます。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2233"/>
                </a:solidFill>
                <a:latin typeface="Yu Gothic"/>
                <a:ea typeface="Yu Gothic"/>
                <a:cs typeface="Yu Gothic"/>
              </a:rPr>
              <a:t>お問い合わせ：ざつね屋　zatuneya@gmail.com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